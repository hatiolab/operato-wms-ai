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820" r:id="rId4"/>
    <p:sldId id="2813" r:id="rId5"/>
    <p:sldId id="2821" r:id="rId6"/>
    <p:sldId id="2818" r:id="rId7"/>
    <p:sldId id="2828" r:id="rId8"/>
    <p:sldId id="2809" r:id="rId9"/>
    <p:sldId id="2822" r:id="rId10"/>
    <p:sldId id="2810" r:id="rId11"/>
    <p:sldId id="2823" r:id="rId12"/>
    <p:sldId id="2811" r:id="rId13"/>
    <p:sldId id="2824" r:id="rId14"/>
    <p:sldId id="2827" r:id="rId15"/>
    <p:sldId id="2812" r:id="rId16"/>
    <p:sldId id="2825" r:id="rId17"/>
    <p:sldId id="2826" r:id="rId18"/>
    <p:sldId id="2816" r:id="rId19"/>
    <p:sldId id="2817" r:id="rId20"/>
    <p:sldId id="2829" r:id="rId21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>
          <p15:clr>
            <a:srgbClr val="A4A3A4"/>
          </p15:clr>
        </p15:guide>
        <p15:guide id="4" pos="81" userDrawn="1">
          <p15:clr>
            <a:srgbClr val="A4A3A4"/>
          </p15:clr>
        </p15:guide>
        <p15:guide id="5" orient="horz" pos="70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DF0"/>
    <a:srgbClr val="4670A0"/>
    <a:srgbClr val="CC3300"/>
    <a:srgbClr val="B43324"/>
    <a:srgbClr val="265AB1"/>
    <a:srgbClr val="559CCE"/>
    <a:srgbClr val="5087C7"/>
    <a:srgbClr val="4776AE"/>
    <a:srgbClr val="214C93"/>
    <a:srgbClr val="2A5D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89" autoAdjust="0"/>
    <p:restoredTop sz="96494"/>
  </p:normalViewPr>
  <p:slideViewPr>
    <p:cSldViewPr snapToGrid="0" snapToObjects="1">
      <p:cViewPr varScale="1">
        <p:scale>
          <a:sx n="128" d="100"/>
          <a:sy n="128" d="100"/>
        </p:scale>
        <p:origin x="1496" y="176"/>
      </p:cViewPr>
      <p:guideLst>
        <p:guide orient="horz" pos="2160"/>
        <p:guide pos="3120"/>
        <p:guide pos="81"/>
        <p:guide orient="horz" pos="70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7" d="100"/>
          <a:sy n="107" d="100"/>
        </p:scale>
        <p:origin x="3032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BD4DB0-5B43-3A40-99E2-1A0CEBF57510}" type="datetimeFigureOut">
              <a:rPr kumimoji="1" lang="ko-KR" altLang="en-US" smtClean="0"/>
              <a:t>2026. 5. 6.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BB722F-9F5A-AE4C-A6A1-4431B6A6383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07000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tif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6996FBD-0E61-619D-E3EC-01D821978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9765"/>
            <a:ext cx="9371111" cy="6747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73542" y="1357162"/>
            <a:ext cx="5585007" cy="1621257"/>
          </a:xfrm>
        </p:spPr>
        <p:txBody>
          <a:bodyPr lIns="0" tIns="0" rIns="0" bIns="0"/>
          <a:lstStyle>
            <a:lvl1pPr algn="r">
              <a:lnSpc>
                <a:spcPct val="150000"/>
              </a:lnSpc>
              <a:defRPr kumimoji="1" lang="en-US" sz="2400" b="1" kern="1200" spc="-150" dirty="0">
                <a:solidFill>
                  <a:srgbClr val="3D587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타이틀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030A1CF-B9A9-AD49-83C0-3D3F7D9932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1039" y="5409398"/>
            <a:ext cx="5585006" cy="547087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55441D8-5D7D-265B-CDCA-811AAE39C5BA}"/>
              </a:ext>
            </a:extLst>
          </p:cNvPr>
          <p:cNvSpPr/>
          <p:nvPr userDrawn="1"/>
        </p:nvSpPr>
        <p:spPr>
          <a:xfrm>
            <a:off x="0" y="119765"/>
            <a:ext cx="389965" cy="384500"/>
          </a:xfrm>
          <a:prstGeom prst="rect">
            <a:avLst/>
          </a:prstGeom>
          <a:solidFill>
            <a:srgbClr val="ECED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7920070-49E7-D593-28BC-9843905154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02747" y="201868"/>
            <a:ext cx="1155294" cy="1155294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B70BBE61-0D92-D248-B456-D3F8F12E3357}"/>
              </a:ext>
            </a:extLst>
          </p:cNvPr>
          <p:cNvSpPr/>
          <p:nvPr userDrawn="1"/>
        </p:nvSpPr>
        <p:spPr>
          <a:xfrm>
            <a:off x="1133965" y="160436"/>
            <a:ext cx="448152" cy="448152"/>
          </a:xfrm>
          <a:prstGeom prst="ellipse">
            <a:avLst/>
          </a:prstGeom>
          <a:noFill/>
          <a:ln w="57150">
            <a:solidFill>
              <a:srgbClr val="22A6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39421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42242-0624-224E-A5DF-ED9AE77A0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029AFF8-F46D-8D47-9F2A-5AB4E26C9F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F8B5A33-6888-7443-B19C-185EE6C2F5F9}" type="datetime1">
              <a:rPr kumimoji="1" lang="ko-KR" altLang="en-US" smtClean="0"/>
              <a:t>2026. 5. 6.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D39B44F-F4E2-0544-8063-3A7A5449D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AA3B5F-DFF6-7448-AD32-5D2821C0A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48F801E-D25F-24FC-F037-FC80F7D473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782675" cy="685800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8EA81BD-A409-3B88-6373-4F93FD38D1A0}"/>
              </a:ext>
            </a:extLst>
          </p:cNvPr>
          <p:cNvSpPr/>
          <p:nvPr userDrawn="1"/>
        </p:nvSpPr>
        <p:spPr>
          <a:xfrm>
            <a:off x="0" y="5857618"/>
            <a:ext cx="3129990" cy="629459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80000"/>
                </a:schemeClr>
              </a:gs>
              <a:gs pos="70000">
                <a:schemeClr val="tx2">
                  <a:alpha val="50000"/>
                </a:schemeClr>
              </a:gs>
              <a:gs pos="100000">
                <a:schemeClr val="tx2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E1A3908-D0A9-D44A-B371-3C72C944E9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0772" y="5969053"/>
            <a:ext cx="1476000" cy="1792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9C603F1-C0C9-3E46-8E79-0E06EAEAC0CE}"/>
              </a:ext>
            </a:extLst>
          </p:cNvPr>
          <p:cNvSpPr txBox="1"/>
          <p:nvPr userDrawn="1"/>
        </p:nvSpPr>
        <p:spPr>
          <a:xfrm>
            <a:off x="351898" y="6187779"/>
            <a:ext cx="234711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i="0" spc="3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REIMAGINING LOGISTICS</a:t>
            </a:r>
            <a:endParaRPr kumimoji="1" lang="ko-KR" altLang="en-US" sz="900" b="1" i="0" spc="3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9D84297-005F-3CBA-C796-3620E295A3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655734" y="5616983"/>
            <a:ext cx="1155294" cy="1155294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F7414C22-E418-AF65-035A-81434D020FE1}"/>
              </a:ext>
            </a:extLst>
          </p:cNvPr>
          <p:cNvSpPr/>
          <p:nvPr userDrawn="1"/>
        </p:nvSpPr>
        <p:spPr>
          <a:xfrm>
            <a:off x="2513968" y="5623000"/>
            <a:ext cx="448152" cy="448152"/>
          </a:xfrm>
          <a:prstGeom prst="ellipse">
            <a:avLst/>
          </a:prstGeom>
          <a:noFill/>
          <a:ln w="57150">
            <a:solidFill>
              <a:srgbClr val="22A6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02154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B49BB-29CF-5148-85CA-0129EA313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4659DAC-B5BA-AF41-88F8-BC286F8C4A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/>
              <a:pPr/>
              <a:t>‹#›</a:t>
            </a:fld>
            <a:endParaRPr kumimoji="1" lang="ko-KR" alt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E36E75A-DD5F-1F4F-8D70-1C990F739F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8950" y="627063"/>
            <a:ext cx="8909050" cy="363537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 spc="-15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7D05FD6-8636-2644-BC04-4A3E7CE0F39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88950" y="1119525"/>
            <a:ext cx="8909050" cy="5179676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 편집
둘째 수준
셋째 수준
넷째 수준
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373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4E90441-6F82-574A-8BAA-9BC0C174F5D0}" type="datetime1">
              <a:rPr kumimoji="1" lang="ko-KR" altLang="en-US" smtClean="0"/>
              <a:t>2026. 5. 6.</a:t>
            </a:fld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17279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06F0CE46-0DD1-6E46-9751-56B4C001B5A8}" type="datetime1">
              <a:rPr kumimoji="1" lang="ko-KR" altLang="en-US" smtClean="0"/>
              <a:t>2026. 5. 6.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00959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21A60D65-8423-774D-A363-6FDCC49E8C98}" type="datetime1">
              <a:rPr kumimoji="1" lang="ko-KR" altLang="en-US" smtClean="0"/>
              <a:t>2026. 5. 6.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74189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C0B5E42-6043-204F-9888-77A0CD6AB0CA}" type="datetime1">
              <a:rPr kumimoji="1" lang="ko-KR" altLang="en-US" smtClean="0"/>
              <a:t>2026. 5. 6.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40378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33076C32-1A13-B64F-83FD-6CDC1B68C796}" type="datetime1">
              <a:rPr kumimoji="1" lang="ko-KR" altLang="en-US" smtClean="0"/>
              <a:t>2026. 5. 6.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83110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07B4786-27C7-2D45-81C1-8AA2DC063F76}" type="datetime1">
              <a:rPr kumimoji="1" lang="ko-KR" altLang="en-US" smtClean="0"/>
              <a:t>2026. 5. 6.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56388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7CB9EFA2-C850-0D40-BB73-E5B223BE6F53}" type="datetime1">
              <a:rPr kumimoji="1" lang="ko-KR" altLang="en-US" smtClean="0"/>
              <a:t>2026. 5. 6.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37129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dirty="0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73CDC17-518C-6644-816B-4462D95E5D9D}" type="datetime1">
              <a:rPr kumimoji="1" lang="ko-KR" altLang="en-US" smtClean="0"/>
              <a:t>2026. 5. 6.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01762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0F18C724-E180-5D43-A0E1-6ABE1CD71B89}" type="datetime1">
              <a:rPr kumimoji="1" lang="ko-KR" altLang="en-US" smtClean="0"/>
              <a:t>2026. 5. 6.</a:t>
            </a:fld>
            <a:endParaRPr kumimoji="1"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02668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8950" y="170246"/>
            <a:ext cx="8909050" cy="32789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8950" y="746125"/>
            <a:ext cx="8909050" cy="555307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ko-KR" altLang="en-US" dirty="0"/>
              <a:t>마스터 텍스트 스타일 편집
둘째 수준
셋째 수준
넷째 수준
다섯째 수준</a:t>
            </a:r>
            <a:endParaRPr 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9451340-7473-E849-B762-AB34F50D7E81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569" y="6545178"/>
            <a:ext cx="1192997" cy="14486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23322" y="6461086"/>
            <a:ext cx="356136" cy="22895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rgbClr val="3D5874"/>
                </a:solidFill>
              </a:defRPr>
            </a:lvl1pPr>
          </a:lstStyle>
          <a:p>
            <a:fld id="{D495D37B-B09C-0043-B39B-22EE4FC680F8}" type="slidenum">
              <a:rPr kumimoji="1" lang="ko-KR" altLang="en-US" smtClean="0"/>
              <a:pPr/>
              <a:t>‹#›</a:t>
            </a:fld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00F0C46-B44E-C91C-DE24-E8CE36A024FA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358"/>
          <a:stretch>
            <a:fillRect/>
          </a:stretch>
        </p:blipFill>
        <p:spPr>
          <a:xfrm>
            <a:off x="0" y="151076"/>
            <a:ext cx="388536" cy="318080"/>
          </a:xfrm>
          <a:prstGeom prst="rect">
            <a:avLst/>
          </a:prstGeom>
        </p:spPr>
      </p:pic>
      <p:pic>
        <p:nvPicPr>
          <p:cNvPr id="7" name="그림 6" descr="폰트, 그래픽, 로고, 스크린샷이(가) 표시된 사진&#10;&#10;자동 생성된 설명">
            <a:extLst>
              <a:ext uri="{FF2B5EF4-FFF2-40B4-BE49-F238E27FC236}">
                <a16:creationId xmlns:a16="http://schemas.microsoft.com/office/drawing/2014/main" id="{F56ABD5C-08C6-A2ED-E9D3-D1017B7EA514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7712" y="6463398"/>
            <a:ext cx="1044000" cy="226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133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2" r:id="rId2"/>
    <p:sldLayoutId id="2147483673" r:id="rId3"/>
    <p:sldLayoutId id="2147483662" r:id="rId4"/>
    <p:sldLayoutId id="2147483663" r:id="rId5"/>
    <p:sldLayoutId id="2147483664" r:id="rId6"/>
    <p:sldLayoutId id="2147483665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400" b="1" kern="1200" spc="-150">
          <a:solidFill>
            <a:srgbClr val="3D5874"/>
          </a:solidFill>
          <a:latin typeface="+mj-lt"/>
          <a:ea typeface="+mj-ea"/>
          <a:cs typeface="+mj-cs"/>
        </a:defRPr>
      </a:lvl1pPr>
    </p:titleStyle>
    <p:bodyStyle>
      <a:lvl1pPr marL="0" indent="-192600" algn="l" defTabSz="914400" rtl="0" eaLnBrk="1" latinLnBrk="1" hangingPunct="1">
        <a:lnSpc>
          <a:spcPct val="90000"/>
        </a:lnSpc>
        <a:spcBef>
          <a:spcPts val="1000"/>
        </a:spcBef>
        <a:buClr>
          <a:srgbClr val="22A6A7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59" userDrawn="1">
          <p15:clr>
            <a:srgbClr val="F26B43"/>
          </p15:clr>
        </p15:guide>
        <p15:guide id="2" pos="3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tiff"/><Relationship Id="rId3" Type="http://schemas.openxmlformats.org/officeDocument/2006/relationships/image" Target="../media/image27.svg"/><Relationship Id="rId7" Type="http://schemas.openxmlformats.org/officeDocument/2006/relationships/image" Target="../media/image31.tif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tiff"/><Relationship Id="rId5" Type="http://schemas.openxmlformats.org/officeDocument/2006/relationships/image" Target="../media/image29.tiff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0.png"/><Relationship Id="rId7" Type="http://schemas.openxmlformats.org/officeDocument/2006/relationships/image" Target="../media/image42.png"/><Relationship Id="rId2" Type="http://schemas.openxmlformats.org/officeDocument/2006/relationships/image" Target="../media/image30.tif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9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1.png"/><Relationship Id="rId7" Type="http://schemas.openxmlformats.org/officeDocument/2006/relationships/image" Target="../media/image6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.png"/><Relationship Id="rId5" Type="http://schemas.openxmlformats.org/officeDocument/2006/relationships/image" Target="../media/image62.svg"/><Relationship Id="rId4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jpe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07F2F18F-05A0-A942-AF94-5DF6435B9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7769" y="981777"/>
            <a:ext cx="6095146" cy="238706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sz="5200" spc="0" dirty="0">
                <a:solidFill>
                  <a:srgbClr val="3BA0B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OPERATO WMS</a:t>
            </a:r>
            <a:br>
              <a:rPr lang="en-US" altLang="ko-KR" sz="4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4400" b="0" spc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제품소개</a:t>
            </a:r>
            <a:endParaRPr kumimoji="1" lang="ko-KR" altLang="en-US" sz="4400" b="0" spc="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부제목 6">
            <a:extLst>
              <a:ext uri="{FF2B5EF4-FFF2-40B4-BE49-F238E27FC236}">
                <a16:creationId xmlns:a16="http://schemas.microsoft.com/office/drawing/2014/main" id="{6306D19B-3398-D048-A666-01A446BAD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43923" y="4459217"/>
            <a:ext cx="2398992" cy="364207"/>
          </a:xfrm>
        </p:spPr>
        <p:txBody>
          <a:bodyPr>
            <a:normAutofit/>
          </a:bodyPr>
          <a:lstStyle/>
          <a:p>
            <a:pPr algn="r"/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2026. 04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668431D-A707-C5A3-177E-317B78FD70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569" y="6535239"/>
            <a:ext cx="1192997" cy="14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186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B6C4D24B-0198-B345-B40D-751498499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spc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9FF209-9A5C-0E41-A959-6CACCEB00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fld>
            <a:endParaRPr kumimoji="1"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46D51172-0237-7742-AC56-80249160970B}"/>
              </a:ext>
            </a:extLst>
          </p:cNvPr>
          <p:cNvCxnSpPr>
            <a:cxnSpLocks/>
          </p:cNvCxnSpPr>
          <p:nvPr/>
        </p:nvCxnSpPr>
        <p:spPr>
          <a:xfrm>
            <a:off x="6871091" y="2510430"/>
            <a:ext cx="0" cy="1748304"/>
          </a:xfrm>
          <a:prstGeom prst="line">
            <a:avLst/>
          </a:prstGeom>
          <a:ln w="25400">
            <a:solidFill>
              <a:schemeClr val="bg1">
                <a:lumMod val="50000"/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상자 5">
            <a:extLst>
              <a:ext uri="{FF2B5EF4-FFF2-40B4-BE49-F238E27FC236}">
                <a16:creationId xmlns:a16="http://schemas.microsoft.com/office/drawing/2014/main" id="{866619C5-2900-694D-A13C-AAD84261617D}"/>
              </a:ext>
            </a:extLst>
          </p:cNvPr>
          <p:cNvSpPr txBox="1"/>
          <p:nvPr/>
        </p:nvSpPr>
        <p:spPr>
          <a:xfrm>
            <a:off x="6723606" y="2244959"/>
            <a:ext cx="1954381" cy="21819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Clr>
                <a:srgbClr val="22A6A7"/>
              </a:buClr>
              <a:buFont typeface="Wingdings" charset="2"/>
              <a:buChar char="l"/>
            </a:pPr>
            <a:r>
              <a:rPr kumimoji="1" lang="en-US" altLang="ko-KR" sz="14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Operato WMS </a:t>
            </a:r>
            <a:r>
              <a:rPr kumimoji="1" lang="ko-KR" altLang="en-US" sz="14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특징</a:t>
            </a:r>
            <a:endParaRPr kumimoji="1" lang="en-US" altLang="ko-KR" sz="1400" spc="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200000"/>
              </a:lnSpc>
              <a:buClr>
                <a:srgbClr val="22A6A7"/>
              </a:buClr>
              <a:buFont typeface="Wingdings" charset="2"/>
              <a:buChar char="l"/>
            </a:pPr>
            <a:r>
              <a:rPr kumimoji="1" lang="ko-KR" altLang="en-US" sz="1400" dirty="0" err="1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아키텍쳐</a:t>
            </a:r>
            <a:endParaRPr kumimoji="1" lang="en-US" altLang="ko-KR" sz="140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200000"/>
              </a:lnSpc>
              <a:buClr>
                <a:srgbClr val="22A6A7"/>
              </a:buClr>
              <a:buFont typeface="Wingdings" charset="2"/>
              <a:buChar char="l"/>
            </a:pPr>
            <a:r>
              <a:rPr kumimoji="1" lang="ko-KR" altLang="en-US" sz="14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프로세스</a:t>
            </a:r>
            <a:endParaRPr kumimoji="1" lang="en-US" altLang="ko-KR" sz="140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ct val="200000"/>
              </a:lnSpc>
              <a:buClr>
                <a:srgbClr val="22A6A7"/>
              </a:buClr>
              <a:buFont typeface="Wingdings" charset="2"/>
              <a:buChar char="l"/>
            </a:pPr>
            <a:r>
              <a:rPr kumimoji="1" lang="ko-KR" altLang="en-US" sz="14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기능 리스트</a:t>
            </a:r>
          </a:p>
          <a:p>
            <a:pPr marL="285750" indent="-285750">
              <a:lnSpc>
                <a:spcPct val="200000"/>
              </a:lnSpc>
              <a:buClr>
                <a:srgbClr val="22A6A7"/>
              </a:buClr>
              <a:buFont typeface="Wingdings" charset="2"/>
              <a:buChar char="l"/>
            </a:pPr>
            <a:r>
              <a:rPr kumimoji="1" lang="ko-KR" altLang="en-US" sz="14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주요 기능</a:t>
            </a:r>
            <a:endParaRPr kumimoji="1" lang="en-US" altLang="ko-KR" sz="140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4736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C9DFA-F08C-972E-B66C-C44E04FCC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B0499C77-846B-05FD-AD93-CD8ADEE1A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178713"/>
            <a:ext cx="8909050" cy="327892"/>
          </a:xfrm>
        </p:spPr>
        <p:txBody>
          <a:bodyPr>
            <a:normAutofit fontScale="90000"/>
          </a:bodyPr>
          <a:lstStyle/>
          <a:p>
            <a:r>
              <a:rPr kumimoji="1" lang="en-US" altLang="ko-KR" spc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Operato WMS </a:t>
            </a:r>
            <a:r>
              <a:rPr kumimoji="1" lang="ko-KR" altLang="en-US" spc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특징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653162-09C2-8E7B-052B-DC00DBF648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fld>
            <a:endParaRPr kumimoji="1"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직사각형 4">
            <a:extLst>
              <a:ext uri="{FF2B5EF4-FFF2-40B4-BE49-F238E27FC236}">
                <a16:creationId xmlns:a16="http://schemas.microsoft.com/office/drawing/2014/main" id="{F3E2774C-452F-3097-66AF-BB8972BCD813}"/>
              </a:ext>
            </a:extLst>
          </p:cNvPr>
          <p:cNvSpPr/>
          <p:nvPr/>
        </p:nvSpPr>
        <p:spPr>
          <a:xfrm>
            <a:off x="320414" y="864784"/>
            <a:ext cx="9265172" cy="5327010"/>
          </a:xfrm>
          <a:prstGeom prst="roundRect">
            <a:avLst>
              <a:gd name="adj" fmla="val 1378"/>
            </a:avLst>
          </a:prstGeom>
          <a:solidFill>
            <a:schemeClr val="bg1"/>
          </a:solidFill>
          <a:ln w="15875" cap="flat" cmpd="sng" algn="ctr">
            <a:solidFill>
              <a:srgbClr val="4E7FB3"/>
            </a:solidFill>
            <a:prstDash val="solid"/>
          </a:ln>
          <a:effectLst>
            <a:outerShdw blurRad="30480" dist="23000" dir="5400000" rotWithShape="0">
              <a:srgbClr val="000000">
                <a:alpha val="15000"/>
              </a:srgbClr>
            </a:outerShdw>
          </a:effectLst>
        </p:spPr>
        <p:txBody>
          <a:bodyPr tIns="180000" rtlCol="0" anchor="ctr"/>
          <a:lstStyle/>
          <a:p>
            <a:pPr algn="ctr" defTabSz="457200"/>
            <a:endParaRPr lang="ko-KR" altLang="en-US" sz="2000" kern="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Rounded Rectangle 114">
            <a:extLst>
              <a:ext uri="{FF2B5EF4-FFF2-40B4-BE49-F238E27FC236}">
                <a16:creationId xmlns:a16="http://schemas.microsoft.com/office/drawing/2014/main" id="{939BFED3-26D3-737C-ACAB-6091F6667035}"/>
              </a:ext>
            </a:extLst>
          </p:cNvPr>
          <p:cNvSpPr/>
          <p:nvPr/>
        </p:nvSpPr>
        <p:spPr>
          <a:xfrm>
            <a:off x="580804" y="1713534"/>
            <a:ext cx="2693247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 defTabSz="457200" latinLnBrk="0"/>
            <a:r>
              <a:rPr lang="ko-KR" altLang="en-US" sz="12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작업 효율 향상</a:t>
            </a:r>
          </a:p>
        </p:txBody>
      </p:sp>
      <p:sp>
        <p:nvSpPr>
          <p:cNvPr id="6" name="TextBox 57">
            <a:extLst>
              <a:ext uri="{FF2B5EF4-FFF2-40B4-BE49-F238E27FC236}">
                <a16:creationId xmlns:a16="http://schemas.microsoft.com/office/drawing/2014/main" id="{C37FB67D-C8D4-6A07-2F3B-CFFB4B038F96}"/>
              </a:ext>
            </a:extLst>
          </p:cNvPr>
          <p:cNvSpPr txBox="1"/>
          <p:nvPr/>
        </p:nvSpPr>
        <p:spPr>
          <a:xfrm>
            <a:off x="580804" y="2101961"/>
            <a:ext cx="2691040" cy="872548"/>
          </a:xfrm>
          <a:prstGeom prst="rect">
            <a:avLst/>
          </a:prstGeom>
          <a:noFill/>
          <a:ln>
            <a:noFill/>
          </a:ln>
        </p:spPr>
        <p:txBody>
          <a:bodyPr wrap="square" lIns="10800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PDA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바코드 스캔 기반 오류 최소화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 물류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(3PL)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표준 업무 프로세스 지원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자동 재고 할당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FEFO/FIFO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7" name="Rounded Rectangle 114">
            <a:extLst>
              <a:ext uri="{FF2B5EF4-FFF2-40B4-BE49-F238E27FC236}">
                <a16:creationId xmlns:a16="http://schemas.microsoft.com/office/drawing/2014/main" id="{CED931EE-4D66-37A3-3C92-0CD69B3D601B}"/>
              </a:ext>
            </a:extLst>
          </p:cNvPr>
          <p:cNvSpPr/>
          <p:nvPr/>
        </p:nvSpPr>
        <p:spPr>
          <a:xfrm>
            <a:off x="3607031" y="1713534"/>
            <a:ext cx="2693247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 defTabSz="457200" latinLnBrk="0"/>
            <a:r>
              <a:rPr lang="ko-KR" altLang="en-US" sz="12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실시간 가시성</a:t>
            </a:r>
          </a:p>
        </p:txBody>
      </p:sp>
      <p:sp>
        <p:nvSpPr>
          <p:cNvPr id="8" name="Rounded Rectangle 114">
            <a:extLst>
              <a:ext uri="{FF2B5EF4-FFF2-40B4-BE49-F238E27FC236}">
                <a16:creationId xmlns:a16="http://schemas.microsoft.com/office/drawing/2014/main" id="{D5116961-A04A-C0A2-61D3-7C2A08901EA6}"/>
              </a:ext>
            </a:extLst>
          </p:cNvPr>
          <p:cNvSpPr/>
          <p:nvPr/>
        </p:nvSpPr>
        <p:spPr>
          <a:xfrm>
            <a:off x="6633259" y="1713534"/>
            <a:ext cx="2693247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 defTabSz="457200" latinLnBrk="0"/>
            <a:r>
              <a:rPr lang="en-US" altLang="ko-KR" sz="12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3PL </a:t>
            </a:r>
            <a:r>
              <a:rPr lang="ko-KR" altLang="en-US" sz="12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비즈니스</a:t>
            </a:r>
          </a:p>
        </p:txBody>
      </p:sp>
      <p:sp>
        <p:nvSpPr>
          <p:cNvPr id="9" name="TextBox 57">
            <a:extLst>
              <a:ext uri="{FF2B5EF4-FFF2-40B4-BE49-F238E27FC236}">
                <a16:creationId xmlns:a16="http://schemas.microsoft.com/office/drawing/2014/main" id="{E32903BD-F7E5-91DC-1101-FADD13EF3BE9}"/>
              </a:ext>
            </a:extLst>
          </p:cNvPr>
          <p:cNvSpPr txBox="1"/>
          <p:nvPr/>
        </p:nvSpPr>
        <p:spPr>
          <a:xfrm>
            <a:off x="3607031" y="2101961"/>
            <a:ext cx="2692357" cy="872548"/>
          </a:xfrm>
          <a:prstGeom prst="rect">
            <a:avLst/>
          </a:prstGeom>
          <a:noFill/>
          <a:ln>
            <a:noFill/>
          </a:ln>
        </p:spPr>
        <p:txBody>
          <a:bodyPr wrap="square" lIns="10800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입출고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재고 실시간 대시보드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커스텀 업무 룰 적용으로 변화에 빠른 대응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3D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재고 모니터링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별도 비용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Box 57">
            <a:extLst>
              <a:ext uri="{FF2B5EF4-FFF2-40B4-BE49-F238E27FC236}">
                <a16:creationId xmlns:a16="http://schemas.microsoft.com/office/drawing/2014/main" id="{F50E0B68-266A-26C1-09BC-C6EF0E9B9E46}"/>
              </a:ext>
            </a:extLst>
          </p:cNvPr>
          <p:cNvSpPr txBox="1"/>
          <p:nvPr/>
        </p:nvSpPr>
        <p:spPr>
          <a:xfrm>
            <a:off x="6633259" y="2101961"/>
            <a:ext cx="2692357" cy="872548"/>
          </a:xfrm>
          <a:prstGeom prst="rect">
            <a:avLst/>
          </a:prstGeom>
          <a:noFill/>
          <a:ln>
            <a:noFill/>
          </a:ln>
        </p:spPr>
        <p:txBody>
          <a:bodyPr wrap="square" lIns="10800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멀티 </a:t>
            </a:r>
            <a:r>
              <a:rPr lang="ko-KR" altLang="en-US" sz="1100" dirty="0" err="1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테넌시</a:t>
            </a:r>
            <a:r>
              <a:rPr lang="en-US" altLang="ko-KR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멀티 센터</a:t>
            </a:r>
            <a:endParaRPr lang="en-US" altLang="ko-KR" sz="1100" dirty="0">
              <a:solidFill>
                <a:srgbClr val="59595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 err="1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화주사</a:t>
            </a: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00" dirty="0" err="1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풀필먼트</a:t>
            </a: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센터 독립 운영 환경</a:t>
            </a:r>
            <a:endParaRPr lang="en-US" altLang="ko-KR" sz="1100" dirty="0">
              <a:solidFill>
                <a:srgbClr val="59595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커스텀 업무 룰 적용으로 </a:t>
            </a:r>
            <a:r>
              <a:rPr lang="ko-KR" altLang="en-US" sz="1100" dirty="0" err="1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화주사</a:t>
            </a: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별 대응</a:t>
            </a:r>
            <a:endParaRPr lang="en-US" sz="1100" dirty="0">
              <a:solidFill>
                <a:srgbClr val="3D5874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1" name="Rounded Rectangle 114">
            <a:extLst>
              <a:ext uri="{FF2B5EF4-FFF2-40B4-BE49-F238E27FC236}">
                <a16:creationId xmlns:a16="http://schemas.microsoft.com/office/drawing/2014/main" id="{3DC91C00-7D99-5E2D-509D-62D863D1067D}"/>
              </a:ext>
            </a:extLst>
          </p:cNvPr>
          <p:cNvSpPr/>
          <p:nvPr/>
        </p:nvSpPr>
        <p:spPr>
          <a:xfrm>
            <a:off x="580804" y="4170873"/>
            <a:ext cx="2693247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 defTabSz="457200" latinLnBrk="0"/>
            <a:r>
              <a:rPr lang="en-US" altLang="ko-KR" sz="12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IT</a:t>
            </a:r>
            <a:r>
              <a:rPr lang="ko-KR" altLang="en-US" sz="12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비용 절감</a:t>
            </a:r>
          </a:p>
        </p:txBody>
      </p:sp>
      <p:sp>
        <p:nvSpPr>
          <p:cNvPr id="12" name="Rounded Rectangle 114">
            <a:extLst>
              <a:ext uri="{FF2B5EF4-FFF2-40B4-BE49-F238E27FC236}">
                <a16:creationId xmlns:a16="http://schemas.microsoft.com/office/drawing/2014/main" id="{9E0B7B0C-7509-D792-FD62-22E762E13BCE}"/>
              </a:ext>
            </a:extLst>
          </p:cNvPr>
          <p:cNvSpPr/>
          <p:nvPr/>
        </p:nvSpPr>
        <p:spPr>
          <a:xfrm>
            <a:off x="3607031" y="4170873"/>
            <a:ext cx="2693247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 defTabSz="457200" latinLnBrk="0"/>
            <a:r>
              <a:rPr lang="ko-KR" altLang="en-US" sz="12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자동화 시스템 연계 </a:t>
            </a:r>
            <a:r>
              <a:rPr lang="en-US" altLang="ko-KR" sz="12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별도</a:t>
            </a:r>
            <a:r>
              <a:rPr lang="en-US" altLang="ko-KR" sz="12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WCS</a:t>
            </a:r>
            <a:r>
              <a:rPr lang="ko-KR" altLang="en-US" sz="12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서비스</a:t>
            </a:r>
            <a:r>
              <a:rPr lang="en-US" altLang="ko-KR" sz="12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20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Rounded Rectangle 114">
            <a:extLst>
              <a:ext uri="{FF2B5EF4-FFF2-40B4-BE49-F238E27FC236}">
                <a16:creationId xmlns:a16="http://schemas.microsoft.com/office/drawing/2014/main" id="{9B38275A-B36C-D737-37B2-D86AB46EEE71}"/>
              </a:ext>
            </a:extLst>
          </p:cNvPr>
          <p:cNvSpPr/>
          <p:nvPr/>
        </p:nvSpPr>
        <p:spPr>
          <a:xfrm>
            <a:off x="6633259" y="4170873"/>
            <a:ext cx="2693247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 defTabSz="457200" latinLnBrk="0"/>
            <a:r>
              <a:rPr lang="ko-KR" altLang="en-US" sz="12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프레임워크</a:t>
            </a:r>
          </a:p>
        </p:txBody>
      </p:sp>
      <p:sp>
        <p:nvSpPr>
          <p:cNvPr id="14" name="TextBox 57">
            <a:extLst>
              <a:ext uri="{FF2B5EF4-FFF2-40B4-BE49-F238E27FC236}">
                <a16:creationId xmlns:a16="http://schemas.microsoft.com/office/drawing/2014/main" id="{518962CC-AAEC-BFDB-2D63-041DFD5ED451}"/>
              </a:ext>
            </a:extLst>
          </p:cNvPr>
          <p:cNvSpPr txBox="1"/>
          <p:nvPr/>
        </p:nvSpPr>
        <p:spPr>
          <a:xfrm>
            <a:off x="580804" y="4585426"/>
            <a:ext cx="2691040" cy="872548"/>
          </a:xfrm>
          <a:prstGeom prst="rect">
            <a:avLst/>
          </a:prstGeom>
          <a:noFill/>
          <a:ln>
            <a:noFill/>
          </a:ln>
        </p:spPr>
        <p:txBody>
          <a:bodyPr wrap="square" lIns="10800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클라우드 기반 인프라 최소화</a:t>
            </a:r>
            <a:endParaRPr lang="en-US" altLang="ko-KR" sz="1100" dirty="0">
              <a:solidFill>
                <a:srgbClr val="59595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Arial" panose="020B0604020202020204" pitchFamily="34" charset="0"/>
              </a:rPr>
              <a:t>단말 제약 없는 브라우저 접근환경 구축</a:t>
            </a:r>
            <a:endParaRPr lang="en-US" altLang="ko-KR" sz="1100" spc="-150" dirty="0">
              <a:solidFill>
                <a:schemeClr val="tx1">
                  <a:lumMod val="75000"/>
                  <a:lumOff val="2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Arial" panose="020B0604020202020204" pitchFamily="34" charset="0"/>
              </a:rPr>
              <a:t>부담 없는 월 구독료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Arial" panose="020B0604020202020204" pitchFamily="34" charset="0"/>
              </a:rPr>
              <a:t>인프라 관리부터 업데이트까지 유지보수 단일 채널 지원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5" name="TextBox 57">
            <a:extLst>
              <a:ext uri="{FF2B5EF4-FFF2-40B4-BE49-F238E27FC236}">
                <a16:creationId xmlns:a16="http://schemas.microsoft.com/office/drawing/2014/main" id="{5E3BF537-589C-05E6-10AD-25D8C98A9BC1}"/>
              </a:ext>
            </a:extLst>
          </p:cNvPr>
          <p:cNvSpPr txBox="1"/>
          <p:nvPr/>
        </p:nvSpPr>
        <p:spPr>
          <a:xfrm>
            <a:off x="3607031" y="4585426"/>
            <a:ext cx="2692357" cy="872548"/>
          </a:xfrm>
          <a:prstGeom prst="rect">
            <a:avLst/>
          </a:prstGeom>
          <a:noFill/>
          <a:ln>
            <a:noFill/>
          </a:ln>
        </p:spPr>
        <p:txBody>
          <a:bodyPr wrap="square" lIns="10800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Operato WCS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연계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DAS / DPS / DPC / Sorter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등의 분류 설비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효율적인 설비 연동 가능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박스 추천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주문 최적화 등 추가 기능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6" name="TextBox 57">
            <a:extLst>
              <a:ext uri="{FF2B5EF4-FFF2-40B4-BE49-F238E27FC236}">
                <a16:creationId xmlns:a16="http://schemas.microsoft.com/office/drawing/2014/main" id="{38A9FA0A-82C4-32B1-DD30-3CA1C554C847}"/>
              </a:ext>
            </a:extLst>
          </p:cNvPr>
          <p:cNvSpPr txBox="1"/>
          <p:nvPr/>
        </p:nvSpPr>
        <p:spPr>
          <a:xfrm>
            <a:off x="6633259" y="4585426"/>
            <a:ext cx="2692357" cy="872548"/>
          </a:xfrm>
          <a:prstGeom prst="rect">
            <a:avLst/>
          </a:prstGeom>
          <a:noFill/>
          <a:ln>
            <a:noFill/>
          </a:ln>
        </p:spPr>
        <p:txBody>
          <a:bodyPr wrap="square" lIns="10800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생산성 높은 개발 프레임워크 기반</a:t>
            </a:r>
            <a:endParaRPr lang="en-US" altLang="ko-KR" sz="1100" dirty="0">
              <a:solidFill>
                <a:srgbClr val="59595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역할 기반 메뉴</a:t>
            </a:r>
            <a:r>
              <a:rPr lang="en-US" altLang="ko-KR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기능별 권한 관리</a:t>
            </a:r>
            <a:endParaRPr lang="en-US" altLang="ko-KR" sz="1100" dirty="0">
              <a:solidFill>
                <a:srgbClr val="59595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다국어</a:t>
            </a:r>
            <a:r>
              <a:rPr lang="en-US" altLang="ko-KR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스케줄러</a:t>
            </a:r>
            <a:r>
              <a:rPr lang="en-US" altLang="ko-KR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커스텀 업무 룰 기능 제공</a:t>
            </a:r>
            <a:endParaRPr lang="en-US" altLang="ko-KR" sz="1100" dirty="0">
              <a:solidFill>
                <a:srgbClr val="59595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 관리 기능을 통한 지시서</a:t>
            </a:r>
            <a:r>
              <a:rPr lang="en-US" altLang="ko-KR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명세서</a:t>
            </a:r>
            <a:r>
              <a:rPr lang="en-US" altLang="ko-KR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라벨 등 출력물 제공</a:t>
            </a:r>
            <a:endParaRPr lang="en-US" altLang="ko-KR" sz="1100" dirty="0">
              <a:solidFill>
                <a:srgbClr val="59595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endParaRPr lang="en-US" sz="1100" dirty="0">
              <a:solidFill>
                <a:srgbClr val="3D5874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6033DE33-74F1-D2BB-1768-6FC40E2C4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64171" y="1293298"/>
            <a:ext cx="326512" cy="360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6EB9C28F-3760-2926-D660-8E3BB05D2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3093" y="1329298"/>
            <a:ext cx="673579" cy="32400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6DF8AE5A-A7EF-943D-A033-18CEF6C725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75427" y="3683746"/>
            <a:ext cx="504000" cy="50400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656D67F2-7F14-0FA7-6AB6-8D339F6B48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3654" y="1293298"/>
            <a:ext cx="360000" cy="36000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203C712-823A-9740-9A64-AF673F21BD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99842" y="3727949"/>
            <a:ext cx="360080" cy="397011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12646BD9-7D4C-B90A-A988-57B33F14A2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7654" y="3693036"/>
            <a:ext cx="432000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491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">
            <a:extLst>
              <a:ext uri="{FF2B5EF4-FFF2-40B4-BE49-F238E27FC236}">
                <a16:creationId xmlns:a16="http://schemas.microsoft.com/office/drawing/2014/main" id="{345807CA-36B0-0659-446F-C3217955A980}"/>
              </a:ext>
            </a:extLst>
          </p:cNvPr>
          <p:cNvSpPr/>
          <p:nvPr/>
        </p:nvSpPr>
        <p:spPr>
          <a:xfrm>
            <a:off x="488950" y="1636546"/>
            <a:ext cx="8928100" cy="4713658"/>
          </a:xfrm>
          <a:prstGeom prst="roundRect">
            <a:avLst>
              <a:gd name="adj" fmla="val 1378"/>
            </a:avLst>
          </a:prstGeom>
          <a:solidFill>
            <a:schemeClr val="bg1"/>
          </a:solidFill>
          <a:ln w="15875" cap="flat" cmpd="sng" algn="ctr">
            <a:solidFill>
              <a:srgbClr val="4E7FB3"/>
            </a:solidFill>
            <a:prstDash val="solid"/>
          </a:ln>
          <a:effectLst>
            <a:outerShdw blurRad="30480" dist="23000" dir="5400000" rotWithShape="0">
              <a:srgbClr val="000000">
                <a:alpha val="15000"/>
              </a:srgbClr>
            </a:outerShdw>
          </a:effectLst>
        </p:spPr>
        <p:txBody>
          <a:bodyPr tIns="180000" rtlCol="0" anchor="ctr"/>
          <a:lstStyle/>
          <a:p>
            <a:pPr algn="ctr" defTabSz="457200"/>
            <a:endParaRPr lang="ko-KR" altLang="en-US" sz="2000" kern="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BC0E12F3-BCA7-0D41-A130-B2492A838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178713"/>
            <a:ext cx="8909050" cy="327892"/>
          </a:xfrm>
        </p:spPr>
        <p:txBody>
          <a:bodyPr>
            <a:normAutofit fontScale="90000"/>
          </a:bodyPr>
          <a:lstStyle/>
          <a:p>
            <a:r>
              <a:rPr kumimoji="1" lang="ko-KR" altLang="en-US" spc="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아키텍쳐</a:t>
            </a:r>
            <a:endParaRPr kumimoji="1" lang="ko-KR" altLang="en-US" spc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516324-89FF-3840-ABF7-75AA0AD2A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/>
              <a:t>4</a:t>
            </a:fld>
            <a:endParaRPr kumimoji="1" lang="ko-KR" altLang="en-US"/>
          </a:p>
        </p:txBody>
      </p:sp>
      <p:sp>
        <p:nvSpPr>
          <p:cNvPr id="197" name="부제목 5">
            <a:extLst>
              <a:ext uri="{FF2B5EF4-FFF2-40B4-BE49-F238E27FC236}">
                <a16:creationId xmlns:a16="http://schemas.microsoft.com/office/drawing/2014/main" id="{C501DB1D-E54F-FAB1-B1CF-9E900F71149E}"/>
              </a:ext>
            </a:extLst>
          </p:cNvPr>
          <p:cNvSpPr txBox="1">
            <a:spLocks/>
          </p:cNvSpPr>
          <p:nvPr/>
        </p:nvSpPr>
        <p:spPr>
          <a:xfrm>
            <a:off x="488950" y="627063"/>
            <a:ext cx="8028799" cy="103663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Clr>
                <a:srgbClr val="22A6A7"/>
              </a:buClr>
              <a:buFont typeface="Arial" panose="020B0604020202020204" pitchFamily="34" charset="0"/>
              <a:buNone/>
              <a:defRPr sz="1400" b="0" i="0" kern="1200" spc="-150">
                <a:solidFill>
                  <a:schemeClr val="tx1">
                    <a:lumMod val="85000"/>
                    <a:lumOff val="1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buFont typeface="Wingdings" pitchFamily="2" charset="2"/>
              <a:buChar char="ü"/>
            </a:pPr>
            <a:r>
              <a:rPr kumimoji="1" lang="en-US" altLang="ko-KR" spc="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pc="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견고한 서버 애플리케이션</a:t>
            </a:r>
            <a:endParaRPr kumimoji="1" lang="en-US" altLang="ko-KR" spc="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4000" indent="-144000">
              <a:buFont typeface="Wingdings" pitchFamily="2" charset="2"/>
              <a:buChar char="ü"/>
            </a:pPr>
            <a:r>
              <a:rPr kumimoji="1" lang="en-US" altLang="ko-KR" spc="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pc="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클라우드 기반 서비스</a:t>
            </a:r>
            <a:r>
              <a:rPr kumimoji="1" lang="en-US" altLang="ko-KR" spc="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pc="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멀티 </a:t>
            </a:r>
            <a:r>
              <a:rPr kumimoji="1" lang="ko-KR" altLang="en-US" spc="0" dirty="0" err="1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테넌시</a:t>
            </a:r>
            <a:endParaRPr kumimoji="1" lang="en-US" altLang="ko-KR" spc="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44000" indent="-144000">
              <a:buFont typeface="Wingdings" pitchFamily="2" charset="2"/>
              <a:buChar char="ü"/>
            </a:pPr>
            <a:r>
              <a:rPr kumimoji="1" lang="en-US" altLang="ko-KR" spc="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Web-Based UI, </a:t>
            </a:r>
            <a:r>
              <a:rPr kumimoji="1" lang="ko-KR" altLang="en-US" spc="0" dirty="0" err="1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현황판</a:t>
            </a:r>
            <a:r>
              <a:rPr kumimoji="1" lang="ko-KR" altLang="en-US" spc="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pc="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(2D/3D),</a:t>
            </a:r>
            <a:r>
              <a:rPr kumimoji="1" lang="ko-KR" altLang="en-US" spc="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pc="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Mobile Device (Tablet, PDA)</a:t>
            </a:r>
            <a:r>
              <a:rPr kumimoji="1" lang="ko-KR" altLang="en-US" spc="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제공</a:t>
            </a:r>
            <a:r>
              <a:rPr kumimoji="1" lang="en-US" altLang="ko-KR" spc="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kumimoji="1" lang="ko-KR" altLang="en-US" spc="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4876A94-86BC-1F17-5B88-5DC5DA7C9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6794" y="1719588"/>
            <a:ext cx="8472412" cy="4578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3032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DB72A-2DB3-AFD8-EFDF-D493AC255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F4332289-C50A-6193-7E3E-6E46CCD51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spc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프로세스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84F427-E3E1-5D39-1DDF-0B2EFEC38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fld>
            <a:endParaRPr kumimoji="1"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Rounded Rectangle 57">
            <a:extLst>
              <a:ext uri="{FF2B5EF4-FFF2-40B4-BE49-F238E27FC236}">
                <a16:creationId xmlns:a16="http://schemas.microsoft.com/office/drawing/2014/main" id="{5EABE8B0-DCF3-F5BC-208B-7DBD1419A58B}"/>
              </a:ext>
            </a:extLst>
          </p:cNvPr>
          <p:cNvSpPr/>
          <p:nvPr/>
        </p:nvSpPr>
        <p:spPr>
          <a:xfrm>
            <a:off x="392657" y="5412564"/>
            <a:ext cx="684000" cy="396000"/>
          </a:xfrm>
          <a:prstGeom prst="roundRect">
            <a:avLst>
              <a:gd name="adj" fmla="val 13518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입고 계획 확정</a:t>
            </a:r>
          </a:p>
        </p:txBody>
      </p:sp>
      <p:sp>
        <p:nvSpPr>
          <p:cNvPr id="45" name="Rounded Rectangle 57">
            <a:extLst>
              <a:ext uri="{FF2B5EF4-FFF2-40B4-BE49-F238E27FC236}">
                <a16:creationId xmlns:a16="http://schemas.microsoft.com/office/drawing/2014/main" id="{CCDE5762-6F87-E61C-2271-93E34925C9CD}"/>
              </a:ext>
            </a:extLst>
          </p:cNvPr>
          <p:cNvSpPr/>
          <p:nvPr/>
        </p:nvSpPr>
        <p:spPr>
          <a:xfrm>
            <a:off x="1275273" y="5412564"/>
            <a:ext cx="684000" cy="392400"/>
          </a:xfrm>
          <a:prstGeom prst="roundRect">
            <a:avLst>
              <a:gd name="adj" fmla="val 13377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입고 </a:t>
            </a:r>
            <a:r>
              <a:rPr lang="en-US" altLang="ko-KR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검수</a:t>
            </a:r>
          </a:p>
        </p:txBody>
      </p:sp>
      <p:sp>
        <p:nvSpPr>
          <p:cNvPr id="46" name="Rounded Rectangle 57">
            <a:extLst>
              <a:ext uri="{FF2B5EF4-FFF2-40B4-BE49-F238E27FC236}">
                <a16:creationId xmlns:a16="http://schemas.microsoft.com/office/drawing/2014/main" id="{74C201FE-2297-1821-EAF7-DF33B4BECE15}"/>
              </a:ext>
            </a:extLst>
          </p:cNvPr>
          <p:cNvSpPr/>
          <p:nvPr/>
        </p:nvSpPr>
        <p:spPr>
          <a:xfrm>
            <a:off x="2157888" y="5412564"/>
            <a:ext cx="684000" cy="392400"/>
          </a:xfrm>
          <a:prstGeom prst="roundRect">
            <a:avLst>
              <a:gd name="adj" fmla="val 11157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재고 적치</a:t>
            </a:r>
          </a:p>
        </p:txBody>
      </p:sp>
      <p:sp>
        <p:nvSpPr>
          <p:cNvPr id="47" name="Rounded Rectangle 57">
            <a:extLst>
              <a:ext uri="{FF2B5EF4-FFF2-40B4-BE49-F238E27FC236}">
                <a16:creationId xmlns:a16="http://schemas.microsoft.com/office/drawing/2014/main" id="{8636B629-9B7B-6FE3-6A87-57BEEC576F17}"/>
              </a:ext>
            </a:extLst>
          </p:cNvPr>
          <p:cNvSpPr/>
          <p:nvPr/>
        </p:nvSpPr>
        <p:spPr>
          <a:xfrm>
            <a:off x="3500225" y="5412564"/>
            <a:ext cx="684000" cy="392400"/>
          </a:xfrm>
          <a:prstGeom prst="roundRect">
            <a:avLst>
              <a:gd name="adj" fmla="val 11157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출고 계획 확정 </a:t>
            </a:r>
          </a:p>
        </p:txBody>
      </p:sp>
      <p:sp>
        <p:nvSpPr>
          <p:cNvPr id="48" name="Rounded Rectangle 57">
            <a:extLst>
              <a:ext uri="{FF2B5EF4-FFF2-40B4-BE49-F238E27FC236}">
                <a16:creationId xmlns:a16="http://schemas.microsoft.com/office/drawing/2014/main" id="{479136CC-941A-7289-4A3F-88D43DEE705A}"/>
              </a:ext>
            </a:extLst>
          </p:cNvPr>
          <p:cNvSpPr/>
          <p:nvPr/>
        </p:nvSpPr>
        <p:spPr>
          <a:xfrm>
            <a:off x="4393899" y="5412564"/>
            <a:ext cx="684000" cy="392400"/>
          </a:xfrm>
          <a:prstGeom prst="roundRect">
            <a:avLst>
              <a:gd name="adj" fmla="val 13377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재고 할당</a:t>
            </a:r>
          </a:p>
        </p:txBody>
      </p:sp>
      <p:sp>
        <p:nvSpPr>
          <p:cNvPr id="49" name="Rounded Rectangle 57">
            <a:extLst>
              <a:ext uri="{FF2B5EF4-FFF2-40B4-BE49-F238E27FC236}">
                <a16:creationId xmlns:a16="http://schemas.microsoft.com/office/drawing/2014/main" id="{BD8B8BBC-F643-918D-CF48-43757527485B}"/>
              </a:ext>
            </a:extLst>
          </p:cNvPr>
          <p:cNvSpPr/>
          <p:nvPr/>
        </p:nvSpPr>
        <p:spPr>
          <a:xfrm>
            <a:off x="5287573" y="5412564"/>
            <a:ext cx="684000" cy="392400"/>
          </a:xfrm>
          <a:prstGeom prst="roundRect">
            <a:avLst>
              <a:gd name="adj" fmla="val 11157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웨이브</a:t>
            </a:r>
            <a:endParaRPr lang="en-US" altLang="ko-KR" sz="100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 defTabSz="457200" latinLnBrk="0"/>
            <a:r>
              <a:rPr lang="ko-KR" altLang="en-US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확정</a:t>
            </a:r>
            <a:endParaRPr lang="en-US" altLang="ko-KR" sz="100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030" name="그림 1029">
            <a:extLst>
              <a:ext uri="{FF2B5EF4-FFF2-40B4-BE49-F238E27FC236}">
                <a16:creationId xmlns:a16="http://schemas.microsoft.com/office/drawing/2014/main" id="{946E03A7-73EB-7640-70F0-39A83648B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86" y="1090442"/>
            <a:ext cx="9284882" cy="4148535"/>
          </a:xfrm>
          <a:prstGeom prst="roundRect">
            <a:avLst>
              <a:gd name="adj" fmla="val 1763"/>
            </a:avLst>
          </a:prstGeom>
          <a:ln w="12700">
            <a:solidFill>
              <a:srgbClr val="4E7FB3"/>
            </a:solidFill>
          </a:ln>
        </p:spPr>
      </p:pic>
      <p:sp>
        <p:nvSpPr>
          <p:cNvPr id="1031" name="모서리가 둥근 직사각형 1030">
            <a:extLst>
              <a:ext uri="{FF2B5EF4-FFF2-40B4-BE49-F238E27FC236}">
                <a16:creationId xmlns:a16="http://schemas.microsoft.com/office/drawing/2014/main" id="{B7939891-2BFE-7EDB-E255-5C0FBBD3AB32}"/>
              </a:ext>
            </a:extLst>
          </p:cNvPr>
          <p:cNvSpPr/>
          <p:nvPr/>
        </p:nvSpPr>
        <p:spPr>
          <a:xfrm>
            <a:off x="3802746" y="838473"/>
            <a:ext cx="2196000" cy="324000"/>
          </a:xfrm>
          <a:prstGeom prst="roundRect">
            <a:avLst/>
          </a:prstGeom>
          <a:gradFill flip="none" rotWithShape="1">
            <a:gsLst>
              <a:gs pos="0">
                <a:srgbClr val="4484BB">
                  <a:alpha val="90000"/>
                </a:srgbClr>
              </a:gs>
              <a:gs pos="100000">
                <a:srgbClr val="3EB2C9">
                  <a:alpha val="70000"/>
                </a:srgbClr>
              </a:gs>
            </a:gsLst>
            <a:lin ang="16200000" scaled="0"/>
            <a:tileRect/>
          </a:gradFill>
          <a:ln w="9525" cap="flat" cmpd="sng" algn="ctr">
            <a:solidFill>
              <a:srgbClr val="2D90C4">
                <a:alpha val="8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 latinLnBrk="0"/>
            <a:r>
              <a:rPr lang="en-US" altLang="ko-KR" sz="14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Cloud </a:t>
            </a:r>
            <a:r>
              <a:rPr lang="ko-KR" altLang="en-US" sz="14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</a:t>
            </a:r>
            <a:r>
              <a:rPr lang="en-US" altLang="ko-KR" sz="14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WMS </a:t>
            </a:r>
            <a:r>
              <a:rPr lang="ko-KR" altLang="en-US" sz="14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서비스</a:t>
            </a:r>
            <a:endParaRPr lang="en-US" altLang="ko-KR" sz="1400" b="1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32" name="직사각형 1031">
            <a:extLst>
              <a:ext uri="{FF2B5EF4-FFF2-40B4-BE49-F238E27FC236}">
                <a16:creationId xmlns:a16="http://schemas.microsoft.com/office/drawing/2014/main" id="{052F7A06-0FA5-6027-EA66-D6930D134CAD}"/>
              </a:ext>
            </a:extLst>
          </p:cNvPr>
          <p:cNvSpPr/>
          <p:nvPr/>
        </p:nvSpPr>
        <p:spPr>
          <a:xfrm>
            <a:off x="1793963" y="2058857"/>
            <a:ext cx="687120" cy="288983"/>
          </a:xfrm>
          <a:prstGeom prst="rect">
            <a:avLst/>
          </a:prstGeom>
          <a:solidFill>
            <a:srgbClr val="F3F8F8"/>
          </a:solidFill>
          <a:ln w="9525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멀티</a:t>
            </a:r>
            <a:r>
              <a:rPr lang="en-US" altLang="ko-KR" sz="9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태넌시</a:t>
            </a:r>
            <a:br>
              <a:rPr lang="en-US" altLang="ko-KR" sz="9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9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환경</a:t>
            </a:r>
            <a:endParaRPr lang="en-US" altLang="ko-KR" sz="9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33" name="직사각형 1032">
            <a:extLst>
              <a:ext uri="{FF2B5EF4-FFF2-40B4-BE49-F238E27FC236}">
                <a16:creationId xmlns:a16="http://schemas.microsoft.com/office/drawing/2014/main" id="{5956D71E-C478-3EC4-49B4-0D353AE57604}"/>
              </a:ext>
            </a:extLst>
          </p:cNvPr>
          <p:cNvSpPr/>
          <p:nvPr/>
        </p:nvSpPr>
        <p:spPr>
          <a:xfrm>
            <a:off x="1607543" y="3567680"/>
            <a:ext cx="1069476" cy="288983"/>
          </a:xfrm>
          <a:prstGeom prst="rect">
            <a:avLst/>
          </a:prstGeom>
          <a:solidFill>
            <a:srgbClr val="F1F6F9"/>
          </a:solidFill>
          <a:ln w="9525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물류 센터별</a:t>
            </a:r>
            <a:br>
              <a:rPr lang="en-US" altLang="ko-KR" sz="9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9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독립 환경 지원</a:t>
            </a:r>
            <a:endParaRPr lang="en-US" altLang="ko-KR" sz="9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34" name="Rounded Rectangle 114">
            <a:extLst>
              <a:ext uri="{FF2B5EF4-FFF2-40B4-BE49-F238E27FC236}">
                <a16:creationId xmlns:a16="http://schemas.microsoft.com/office/drawing/2014/main" id="{4C5EB87A-2B80-BEA7-1D3E-F5571FD42393}"/>
              </a:ext>
            </a:extLst>
          </p:cNvPr>
          <p:cNvSpPr/>
          <p:nvPr/>
        </p:nvSpPr>
        <p:spPr>
          <a:xfrm>
            <a:off x="377272" y="1495074"/>
            <a:ext cx="2232287" cy="216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 defTabSz="457200" latinLnBrk="0"/>
            <a:r>
              <a:rPr lang="ko-KR" altLang="en-US" sz="1100" b="1" dirty="0" err="1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화주사</a:t>
            </a:r>
            <a:r>
              <a:rPr lang="ko-KR" altLang="en-US" sz="1100" b="1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연결 기반 입고 관리 </a:t>
            </a:r>
            <a:endParaRPr lang="ko-KR" altLang="en-US" sz="1100" b="1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35" name="Rounded Rectangle 114">
            <a:extLst>
              <a:ext uri="{FF2B5EF4-FFF2-40B4-BE49-F238E27FC236}">
                <a16:creationId xmlns:a16="http://schemas.microsoft.com/office/drawing/2014/main" id="{FD9E681E-5705-031F-B514-50F17B9F3635}"/>
              </a:ext>
            </a:extLst>
          </p:cNvPr>
          <p:cNvSpPr/>
          <p:nvPr/>
        </p:nvSpPr>
        <p:spPr>
          <a:xfrm>
            <a:off x="7181331" y="1491474"/>
            <a:ext cx="2261215" cy="2196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 defTabSz="457200" latinLnBrk="0"/>
            <a:r>
              <a:rPr lang="en-US" altLang="ko-KR" sz="1100" b="1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B2B / B2C </a:t>
            </a:r>
            <a:r>
              <a:rPr lang="ko-KR" altLang="en-US" sz="1100" b="1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  맞춤형 출고 관리</a:t>
            </a:r>
          </a:p>
        </p:txBody>
      </p:sp>
      <p:sp>
        <p:nvSpPr>
          <p:cNvPr id="1036" name="직사각형 1035">
            <a:extLst>
              <a:ext uri="{FF2B5EF4-FFF2-40B4-BE49-F238E27FC236}">
                <a16:creationId xmlns:a16="http://schemas.microsoft.com/office/drawing/2014/main" id="{2310C2F8-7FFA-A1F2-A3E5-D00AD2B9E268}"/>
              </a:ext>
            </a:extLst>
          </p:cNvPr>
          <p:cNvSpPr/>
          <p:nvPr/>
        </p:nvSpPr>
        <p:spPr>
          <a:xfrm>
            <a:off x="5783307" y="1369831"/>
            <a:ext cx="1188838" cy="447137"/>
          </a:xfrm>
          <a:prstGeom prst="rect">
            <a:avLst/>
          </a:prstGeom>
          <a:solidFill>
            <a:srgbClr val="F0F4F7"/>
          </a:solidFill>
          <a:ln w="9525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실시간 모니터링</a:t>
            </a:r>
            <a:endParaRPr lang="en-US" altLang="ko-KR" sz="9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재고할당 </a:t>
            </a:r>
            <a:r>
              <a:rPr lang="en-US" altLang="ko-KR" sz="9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(FIFO,FEFO)</a:t>
            </a: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재고 실사</a:t>
            </a:r>
            <a:endParaRPr lang="en-US" altLang="ko-KR" sz="9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37" name="Rounded Rectangle 114">
            <a:extLst>
              <a:ext uri="{FF2B5EF4-FFF2-40B4-BE49-F238E27FC236}">
                <a16:creationId xmlns:a16="http://schemas.microsoft.com/office/drawing/2014/main" id="{CF44E8D0-E8A0-DF6E-BFFD-34A1EB3526EA}"/>
              </a:ext>
            </a:extLst>
          </p:cNvPr>
          <p:cNvSpPr/>
          <p:nvPr/>
        </p:nvSpPr>
        <p:spPr>
          <a:xfrm>
            <a:off x="1027033" y="4326278"/>
            <a:ext cx="1438080" cy="2160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rgbClr val="4E7FB3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457200" latinLnBrk="0"/>
            <a:r>
              <a:rPr lang="ko-KR" altLang="en-US" sz="1000" b="1" kern="0" dirty="0">
                <a:solidFill>
                  <a:srgbClr val="4E7FB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입하장  </a:t>
            </a:r>
            <a:r>
              <a:rPr lang="ko-KR" altLang="en-US" sz="1000" b="1" dirty="0">
                <a:solidFill>
                  <a:srgbClr val="4E7FB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입고  대기장</a:t>
            </a:r>
            <a:endParaRPr lang="ko-KR" altLang="en-US" sz="1000" b="1" kern="0" dirty="0">
              <a:solidFill>
                <a:srgbClr val="4E7FB3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38" name="직사각형 1037">
            <a:extLst>
              <a:ext uri="{FF2B5EF4-FFF2-40B4-BE49-F238E27FC236}">
                <a16:creationId xmlns:a16="http://schemas.microsoft.com/office/drawing/2014/main" id="{CED153A5-DCC6-312F-918C-70070ACB17B1}"/>
              </a:ext>
            </a:extLst>
          </p:cNvPr>
          <p:cNvSpPr/>
          <p:nvPr/>
        </p:nvSpPr>
        <p:spPr>
          <a:xfrm>
            <a:off x="339078" y="1188732"/>
            <a:ext cx="2232287" cy="181099"/>
          </a:xfrm>
          <a:prstGeom prst="rect">
            <a:avLst/>
          </a:prstGeom>
          <a:solidFill>
            <a:srgbClr val="F5FCFC"/>
          </a:solidFill>
          <a:ln w="9525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r>
              <a:rPr lang="ko-KR" altLang="en-US" sz="1200" b="1" dirty="0">
                <a:solidFill>
                  <a:srgbClr val="4E7FB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물류 생태계 및 대외 연결</a:t>
            </a:r>
            <a:endParaRPr lang="en-US" altLang="ko-KR" sz="1200" b="1" dirty="0">
              <a:solidFill>
                <a:srgbClr val="4E7FB3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39" name="직사각형 1038">
            <a:extLst>
              <a:ext uri="{FF2B5EF4-FFF2-40B4-BE49-F238E27FC236}">
                <a16:creationId xmlns:a16="http://schemas.microsoft.com/office/drawing/2014/main" id="{217521EB-47B1-F6F6-8DD4-871EF1D87AFB}"/>
              </a:ext>
            </a:extLst>
          </p:cNvPr>
          <p:cNvSpPr/>
          <p:nvPr/>
        </p:nvSpPr>
        <p:spPr>
          <a:xfrm>
            <a:off x="377272" y="4008323"/>
            <a:ext cx="2460543" cy="260830"/>
          </a:xfrm>
          <a:prstGeom prst="rect">
            <a:avLst/>
          </a:prstGeom>
          <a:solidFill>
            <a:srgbClr val="ECF1F4"/>
          </a:solidFill>
          <a:ln w="9525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r>
              <a:rPr lang="ko-KR" altLang="en-US" sz="1200" b="1" dirty="0">
                <a:solidFill>
                  <a:srgbClr val="4E7FB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물류 </a:t>
            </a:r>
            <a:r>
              <a:rPr lang="ko-KR" altLang="en-US" sz="1200" b="1">
                <a:solidFill>
                  <a:srgbClr val="4E7FB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현장 입</a:t>
            </a:r>
            <a:r>
              <a:rPr lang="en-US" altLang="ko-KR" sz="1200" b="1" dirty="0">
                <a:solidFill>
                  <a:srgbClr val="4E7FB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200" b="1">
                <a:solidFill>
                  <a:srgbClr val="4E7FB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출고 프로세스</a:t>
            </a:r>
            <a:endParaRPr lang="en-US" altLang="ko-KR" sz="1200" b="1" dirty="0">
              <a:solidFill>
                <a:srgbClr val="4E7FB3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40" name="Rounded Rectangle 114">
            <a:extLst>
              <a:ext uri="{FF2B5EF4-FFF2-40B4-BE49-F238E27FC236}">
                <a16:creationId xmlns:a16="http://schemas.microsoft.com/office/drawing/2014/main" id="{D205249B-C059-FE59-EB1B-88E2D98D953E}"/>
              </a:ext>
            </a:extLst>
          </p:cNvPr>
          <p:cNvSpPr/>
          <p:nvPr/>
        </p:nvSpPr>
        <p:spPr>
          <a:xfrm>
            <a:off x="4023601" y="4322678"/>
            <a:ext cx="1554121" cy="219600"/>
          </a:xfrm>
          <a:prstGeom prst="roundRect">
            <a:avLst>
              <a:gd name="adj" fmla="val 13587"/>
            </a:avLst>
          </a:prstGeom>
          <a:solidFill>
            <a:schemeClr val="bg1"/>
          </a:solidFill>
          <a:ln w="9525" cap="flat" cmpd="sng" algn="ctr">
            <a:solidFill>
              <a:srgbClr val="4E7FB3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457200" latinLnBrk="0"/>
            <a:r>
              <a:rPr lang="ko-KR" altLang="en-US" sz="1000" b="1" kern="0" dirty="0">
                <a:solidFill>
                  <a:srgbClr val="4E7FB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보관 랙  및  피킹 스테이션</a:t>
            </a:r>
          </a:p>
        </p:txBody>
      </p:sp>
      <p:sp>
        <p:nvSpPr>
          <p:cNvPr id="1041" name="Rounded Rectangle 114">
            <a:extLst>
              <a:ext uri="{FF2B5EF4-FFF2-40B4-BE49-F238E27FC236}">
                <a16:creationId xmlns:a16="http://schemas.microsoft.com/office/drawing/2014/main" id="{C4451529-C107-AB1C-693F-3F630A2F193F}"/>
              </a:ext>
            </a:extLst>
          </p:cNvPr>
          <p:cNvSpPr/>
          <p:nvPr/>
        </p:nvSpPr>
        <p:spPr>
          <a:xfrm>
            <a:off x="6963436" y="4322678"/>
            <a:ext cx="1853706" cy="219600"/>
          </a:xfrm>
          <a:prstGeom prst="roundRect">
            <a:avLst>
              <a:gd name="adj" fmla="val 13587"/>
            </a:avLst>
          </a:prstGeom>
          <a:solidFill>
            <a:schemeClr val="bg1"/>
          </a:solidFill>
          <a:ln w="9525" cap="flat" cmpd="sng" algn="ctr">
            <a:solidFill>
              <a:srgbClr val="4E7FB3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457200" latinLnBrk="0"/>
            <a:r>
              <a:rPr lang="ko-KR" altLang="en-US" sz="1000" b="1" kern="0" dirty="0">
                <a:solidFill>
                  <a:srgbClr val="4E7FB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포장 스테이션 및  출하장</a:t>
            </a:r>
          </a:p>
        </p:txBody>
      </p:sp>
      <p:sp>
        <p:nvSpPr>
          <p:cNvPr id="1042" name="직사각형 1041">
            <a:extLst>
              <a:ext uri="{FF2B5EF4-FFF2-40B4-BE49-F238E27FC236}">
                <a16:creationId xmlns:a16="http://schemas.microsoft.com/office/drawing/2014/main" id="{7AFB15AC-4E61-3F49-CE0A-02B9996D88B4}"/>
              </a:ext>
            </a:extLst>
          </p:cNvPr>
          <p:cNvSpPr/>
          <p:nvPr/>
        </p:nvSpPr>
        <p:spPr>
          <a:xfrm>
            <a:off x="7115915" y="3600575"/>
            <a:ext cx="1325540" cy="288983"/>
          </a:xfrm>
          <a:prstGeom prst="rect">
            <a:avLst/>
          </a:prstGeom>
          <a:solidFill>
            <a:srgbClr val="FFFFFF"/>
          </a:solidFill>
          <a:ln w="9525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쇼핑몰</a:t>
            </a:r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 </a:t>
            </a:r>
            <a:r>
              <a:rPr lang="ko-KR" altLang="en-US" sz="1200" b="1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택배사</a:t>
            </a:r>
            <a:r>
              <a:rPr lang="ko-KR" altLang="en-US" sz="12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API</a:t>
            </a:r>
          </a:p>
        </p:txBody>
      </p:sp>
      <p:sp>
        <p:nvSpPr>
          <p:cNvPr id="1028" name="Rounded Rectangle 57">
            <a:extLst>
              <a:ext uri="{FF2B5EF4-FFF2-40B4-BE49-F238E27FC236}">
                <a16:creationId xmlns:a16="http://schemas.microsoft.com/office/drawing/2014/main" id="{9E26C240-46AF-17CC-CAC7-30FE549BD03F}"/>
              </a:ext>
            </a:extLst>
          </p:cNvPr>
          <p:cNvSpPr/>
          <p:nvPr/>
        </p:nvSpPr>
        <p:spPr>
          <a:xfrm>
            <a:off x="392657" y="3596718"/>
            <a:ext cx="1260000" cy="252000"/>
          </a:xfrm>
          <a:prstGeom prst="roundRect">
            <a:avLst>
              <a:gd name="adj" fmla="val 28912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입고 계획 </a:t>
            </a:r>
            <a:r>
              <a:rPr lang="ko-KR" altLang="en-US" sz="1000" kern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등록 </a:t>
            </a:r>
            <a:r>
              <a:rPr lang="en-US" altLang="ko-KR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수신</a:t>
            </a:r>
          </a:p>
        </p:txBody>
      </p:sp>
      <p:sp>
        <p:nvSpPr>
          <p:cNvPr id="51" name="Rounded Rectangle 57">
            <a:extLst>
              <a:ext uri="{FF2B5EF4-FFF2-40B4-BE49-F238E27FC236}">
                <a16:creationId xmlns:a16="http://schemas.microsoft.com/office/drawing/2014/main" id="{7F870F73-A9CA-F5B8-41E8-1CB40CCD274D}"/>
              </a:ext>
            </a:extLst>
          </p:cNvPr>
          <p:cNvSpPr/>
          <p:nvPr/>
        </p:nvSpPr>
        <p:spPr>
          <a:xfrm>
            <a:off x="6181247" y="5420219"/>
            <a:ext cx="684000" cy="392400"/>
          </a:xfrm>
          <a:prstGeom prst="roundRect">
            <a:avLst>
              <a:gd name="adj" fmla="val 15596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피킹</a:t>
            </a:r>
          </a:p>
        </p:txBody>
      </p:sp>
      <p:sp>
        <p:nvSpPr>
          <p:cNvPr id="52" name="Rounded Rectangle 57">
            <a:extLst>
              <a:ext uri="{FF2B5EF4-FFF2-40B4-BE49-F238E27FC236}">
                <a16:creationId xmlns:a16="http://schemas.microsoft.com/office/drawing/2014/main" id="{61EC17A0-7938-E18A-F63F-E733BC57FF9D}"/>
              </a:ext>
            </a:extLst>
          </p:cNvPr>
          <p:cNvSpPr/>
          <p:nvPr/>
        </p:nvSpPr>
        <p:spPr>
          <a:xfrm>
            <a:off x="7074921" y="5412564"/>
            <a:ext cx="684000" cy="392400"/>
          </a:xfrm>
          <a:prstGeom prst="roundRect">
            <a:avLst>
              <a:gd name="adj" fmla="val 15596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검수 </a:t>
            </a:r>
            <a:r>
              <a:rPr lang="en-US" altLang="ko-KR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포장</a:t>
            </a:r>
            <a:endParaRPr lang="en-US" altLang="ko-KR" sz="100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Rounded Rectangle 57">
            <a:extLst>
              <a:ext uri="{FF2B5EF4-FFF2-40B4-BE49-F238E27FC236}">
                <a16:creationId xmlns:a16="http://schemas.microsoft.com/office/drawing/2014/main" id="{B6B3E232-8B6A-FAA7-F8A0-1CCC9268205F}"/>
              </a:ext>
            </a:extLst>
          </p:cNvPr>
          <p:cNvSpPr/>
          <p:nvPr/>
        </p:nvSpPr>
        <p:spPr>
          <a:xfrm>
            <a:off x="7968595" y="5412564"/>
            <a:ext cx="684000" cy="392400"/>
          </a:xfrm>
          <a:prstGeom prst="roundRect">
            <a:avLst>
              <a:gd name="adj" fmla="val 15596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출고 확정</a:t>
            </a:r>
            <a:endParaRPr lang="en-US" altLang="ko-KR" sz="100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Rounded Rectangle 57">
            <a:extLst>
              <a:ext uri="{FF2B5EF4-FFF2-40B4-BE49-F238E27FC236}">
                <a16:creationId xmlns:a16="http://schemas.microsoft.com/office/drawing/2014/main" id="{85E5AEF4-59D9-41F2-47D9-6426677F6CA6}"/>
              </a:ext>
            </a:extLst>
          </p:cNvPr>
          <p:cNvSpPr/>
          <p:nvPr/>
        </p:nvSpPr>
        <p:spPr>
          <a:xfrm>
            <a:off x="8862268" y="5412564"/>
            <a:ext cx="684000" cy="392400"/>
          </a:xfrm>
          <a:prstGeom prst="roundRect">
            <a:avLst>
              <a:gd name="adj" fmla="val 17815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상차</a:t>
            </a:r>
            <a:endParaRPr lang="en-US" altLang="ko-KR" sz="100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6CD8FAE1-8C6F-6B97-D85B-726BEE26821C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 flipV="1">
            <a:off x="1076657" y="5608764"/>
            <a:ext cx="198616" cy="180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oval"/>
            <a:tailEnd type="stealth" w="lg" len="lg"/>
          </a:ln>
          <a:effectLst>
            <a:outerShdw blurRad="36830" dist="12700" dir="5400000" rotWithShape="0">
              <a:srgbClr val="000000">
                <a:alpha val="20000"/>
              </a:srgbClr>
            </a:outerShdw>
          </a:effectLst>
        </p:spPr>
      </p:cxnSp>
      <p:cxnSp>
        <p:nvCxnSpPr>
          <p:cNvPr id="56" name="꺾인 연결선[E] 55">
            <a:extLst>
              <a:ext uri="{FF2B5EF4-FFF2-40B4-BE49-F238E27FC236}">
                <a16:creationId xmlns:a16="http://schemas.microsoft.com/office/drawing/2014/main" id="{62A3D0B8-7336-3DA1-027E-999DDE8DB410}"/>
              </a:ext>
            </a:extLst>
          </p:cNvPr>
          <p:cNvCxnSpPr>
            <a:cxnSpLocks/>
            <a:stCxn id="1028" idx="1"/>
            <a:endCxn id="44" idx="1"/>
          </p:cNvCxnSpPr>
          <p:nvPr/>
        </p:nvCxnSpPr>
        <p:spPr>
          <a:xfrm rot="10800000" flipV="1">
            <a:off x="392657" y="3722718"/>
            <a:ext cx="12700" cy="1887846"/>
          </a:xfrm>
          <a:prstGeom prst="bentConnector3">
            <a:avLst>
              <a:gd name="adj1" fmla="val 1800000"/>
            </a:avLst>
          </a:prstGeom>
          <a:noFill/>
          <a:ln w="1270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oval"/>
            <a:tailEnd type="stealth" w="lg" len="lg"/>
          </a:ln>
          <a:effectLst>
            <a:outerShdw blurRad="36830" dist="12700" dir="5400000" rotWithShape="0">
              <a:srgbClr val="000000">
                <a:alpha val="20000"/>
              </a:srgbClr>
            </a:outerShdw>
          </a:effectLst>
        </p:spPr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BC0ED841-5E62-3279-F235-2D01BA081A25}"/>
              </a:ext>
            </a:extLst>
          </p:cNvPr>
          <p:cNvCxnSpPr>
            <a:cxnSpLocks/>
            <a:stCxn id="45" idx="3"/>
            <a:endCxn id="46" idx="1"/>
          </p:cNvCxnSpPr>
          <p:nvPr/>
        </p:nvCxnSpPr>
        <p:spPr>
          <a:xfrm>
            <a:off x="1959273" y="5608764"/>
            <a:ext cx="198615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oval"/>
            <a:tailEnd type="stealth" w="lg" len="lg"/>
          </a:ln>
          <a:effectLst>
            <a:outerShdw blurRad="36830" dist="12700" dir="5400000" rotWithShape="0">
              <a:srgbClr val="000000">
                <a:alpha val="20000"/>
              </a:srgbClr>
            </a:outerShdw>
          </a:effectLst>
        </p:spPr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4E8D2A63-4B5C-C7E8-06FD-17EACCC85EAC}"/>
              </a:ext>
            </a:extLst>
          </p:cNvPr>
          <p:cNvCxnSpPr>
            <a:cxnSpLocks/>
            <a:stCxn id="47" idx="3"/>
            <a:endCxn id="48" idx="1"/>
          </p:cNvCxnSpPr>
          <p:nvPr/>
        </p:nvCxnSpPr>
        <p:spPr>
          <a:xfrm>
            <a:off x="4184225" y="5608764"/>
            <a:ext cx="209674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oval"/>
            <a:tailEnd type="stealth" w="lg" len="lg"/>
          </a:ln>
          <a:effectLst>
            <a:outerShdw blurRad="36830" dist="12700" dir="5400000" rotWithShape="0">
              <a:srgbClr val="000000">
                <a:alpha val="20000"/>
              </a:srgbClr>
            </a:outerShdw>
          </a:effectLst>
        </p:spPr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527D872B-DF44-DC4C-DBA4-EB094830B14C}"/>
              </a:ext>
            </a:extLst>
          </p:cNvPr>
          <p:cNvCxnSpPr>
            <a:cxnSpLocks/>
            <a:stCxn id="48" idx="3"/>
            <a:endCxn id="49" idx="1"/>
          </p:cNvCxnSpPr>
          <p:nvPr/>
        </p:nvCxnSpPr>
        <p:spPr>
          <a:xfrm>
            <a:off x="5077899" y="5608764"/>
            <a:ext cx="209674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oval"/>
            <a:tailEnd type="stealth" w="lg" len="lg"/>
          </a:ln>
          <a:effectLst>
            <a:outerShdw blurRad="36830" dist="12700" dir="5400000" rotWithShape="0">
              <a:srgbClr val="000000">
                <a:alpha val="20000"/>
              </a:srgbClr>
            </a:outerShdw>
          </a:effectLst>
        </p:spPr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D02FC02B-D609-4544-B9F3-9D65E6855CD3}"/>
              </a:ext>
            </a:extLst>
          </p:cNvPr>
          <p:cNvCxnSpPr>
            <a:cxnSpLocks/>
            <a:stCxn id="49" idx="3"/>
            <a:endCxn id="51" idx="1"/>
          </p:cNvCxnSpPr>
          <p:nvPr/>
        </p:nvCxnSpPr>
        <p:spPr>
          <a:xfrm>
            <a:off x="5971573" y="5608764"/>
            <a:ext cx="209674" cy="765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oval"/>
            <a:tailEnd type="stealth" w="lg" len="lg"/>
          </a:ln>
          <a:effectLst>
            <a:outerShdw blurRad="36830" dist="12700" dir="5400000" rotWithShape="0">
              <a:srgbClr val="000000">
                <a:alpha val="20000"/>
              </a:srgbClr>
            </a:outerShdw>
          </a:effectLst>
        </p:spPr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F7AF9E5B-E286-7FF0-C709-0B85DFE3E99E}"/>
              </a:ext>
            </a:extLst>
          </p:cNvPr>
          <p:cNvCxnSpPr>
            <a:cxnSpLocks/>
            <a:stCxn id="51" idx="3"/>
            <a:endCxn id="52" idx="1"/>
          </p:cNvCxnSpPr>
          <p:nvPr/>
        </p:nvCxnSpPr>
        <p:spPr>
          <a:xfrm flipV="1">
            <a:off x="6865247" y="5608764"/>
            <a:ext cx="209674" cy="765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oval"/>
            <a:tailEnd type="stealth" w="lg" len="lg"/>
          </a:ln>
          <a:effectLst>
            <a:outerShdw blurRad="36830" dist="12700" dir="5400000" rotWithShape="0">
              <a:srgbClr val="000000">
                <a:alpha val="20000"/>
              </a:srgbClr>
            </a:outerShdw>
          </a:effectLst>
        </p:spPr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7EDD62C3-8263-906B-E7A4-EC3EC5C457DB}"/>
              </a:ext>
            </a:extLst>
          </p:cNvPr>
          <p:cNvCxnSpPr>
            <a:cxnSpLocks/>
            <a:stCxn id="52" idx="3"/>
            <a:endCxn id="53" idx="1"/>
          </p:cNvCxnSpPr>
          <p:nvPr/>
        </p:nvCxnSpPr>
        <p:spPr>
          <a:xfrm>
            <a:off x="7758921" y="5608764"/>
            <a:ext cx="209674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oval"/>
            <a:tailEnd type="stealth" w="lg" len="lg"/>
          </a:ln>
          <a:effectLst>
            <a:outerShdw blurRad="36830" dist="12700" dir="5400000" rotWithShape="0">
              <a:srgbClr val="000000">
                <a:alpha val="20000"/>
              </a:srgbClr>
            </a:outerShdw>
          </a:effectLst>
        </p:spPr>
      </p:cxnSp>
      <p:cxnSp>
        <p:nvCxnSpPr>
          <p:cNvPr id="1024" name="직선 화살표 연결선 1023">
            <a:extLst>
              <a:ext uri="{FF2B5EF4-FFF2-40B4-BE49-F238E27FC236}">
                <a16:creationId xmlns:a16="http://schemas.microsoft.com/office/drawing/2014/main" id="{C91EA40B-BB7E-DB2C-24B4-7ABD4D052C7A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8652595" y="5608764"/>
            <a:ext cx="209673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oval"/>
            <a:tailEnd type="stealth" w="lg" len="lg"/>
          </a:ln>
          <a:effectLst>
            <a:outerShdw blurRad="36830" dist="12700" dir="5400000" rotWithShape="0">
              <a:srgbClr val="000000">
                <a:alpha val="20000"/>
              </a:srgbClr>
            </a:outerShdw>
          </a:effectLst>
        </p:spPr>
      </p:cxnSp>
      <p:cxnSp>
        <p:nvCxnSpPr>
          <p:cNvPr id="1025" name="꺾인 연결선[E] 1024">
            <a:extLst>
              <a:ext uri="{FF2B5EF4-FFF2-40B4-BE49-F238E27FC236}">
                <a16:creationId xmlns:a16="http://schemas.microsoft.com/office/drawing/2014/main" id="{53A1F8C4-2824-E5FE-CB25-41C5FEEBA190}"/>
              </a:ext>
            </a:extLst>
          </p:cNvPr>
          <p:cNvCxnSpPr>
            <a:cxnSpLocks/>
            <a:stCxn id="54" idx="3"/>
            <a:endCxn id="1030" idx="3"/>
          </p:cNvCxnSpPr>
          <p:nvPr/>
        </p:nvCxnSpPr>
        <p:spPr>
          <a:xfrm flipV="1">
            <a:off x="9546268" y="3164710"/>
            <a:ext cx="12700" cy="2444054"/>
          </a:xfrm>
          <a:prstGeom prst="bentConnector3">
            <a:avLst>
              <a:gd name="adj1" fmla="val 1457142"/>
            </a:avLst>
          </a:prstGeom>
          <a:noFill/>
          <a:ln w="1270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oval"/>
            <a:tailEnd type="stealth" w="lg" len="lg"/>
          </a:ln>
          <a:effectLst>
            <a:outerShdw blurRad="36830" dist="12700" dir="5400000" rotWithShape="0">
              <a:srgbClr val="000000">
                <a:alpha val="20000"/>
              </a:srgbClr>
            </a:outerShdw>
          </a:effectLst>
        </p:spPr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B85CD3F-4E91-8C6C-EF6E-1B9001F43F7D}"/>
              </a:ext>
            </a:extLst>
          </p:cNvPr>
          <p:cNvSpPr/>
          <p:nvPr/>
        </p:nvSpPr>
        <p:spPr>
          <a:xfrm>
            <a:off x="7101042" y="3570518"/>
            <a:ext cx="1404000" cy="324000"/>
          </a:xfrm>
          <a:prstGeom prst="rect">
            <a:avLst/>
          </a:prstGeom>
          <a:solidFill>
            <a:srgbClr val="E6F0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58" name="꺾인 연결선[E] 57">
            <a:extLst>
              <a:ext uri="{FF2B5EF4-FFF2-40B4-BE49-F238E27FC236}">
                <a16:creationId xmlns:a16="http://schemas.microsoft.com/office/drawing/2014/main" id="{842CBF60-7A5C-0AFB-E0A0-78A0F967EA63}"/>
              </a:ext>
            </a:extLst>
          </p:cNvPr>
          <p:cNvCxnSpPr>
            <a:cxnSpLocks/>
            <a:stCxn id="1029" idx="2"/>
            <a:endCxn id="47" idx="1"/>
          </p:cNvCxnSpPr>
          <p:nvPr/>
        </p:nvCxnSpPr>
        <p:spPr>
          <a:xfrm rot="5400000">
            <a:off x="4800355" y="2531918"/>
            <a:ext cx="1776716" cy="4376976"/>
          </a:xfrm>
          <a:prstGeom prst="bentConnector4">
            <a:avLst>
              <a:gd name="adj1" fmla="val 20952"/>
              <a:gd name="adj2" fmla="val 105223"/>
            </a:avLst>
          </a:prstGeom>
          <a:noFill/>
          <a:ln w="1270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oval"/>
            <a:tailEnd type="stealth" w="lg" len="lg"/>
          </a:ln>
          <a:effectLst>
            <a:outerShdw blurRad="36830" dist="12700" dir="5400000" rotWithShape="0">
              <a:srgbClr val="000000">
                <a:alpha val="20000"/>
              </a:srgbClr>
            </a:outerShdw>
          </a:effectLst>
        </p:spPr>
      </p:cxnSp>
      <p:sp>
        <p:nvSpPr>
          <p:cNvPr id="1029" name="Rounded Rectangle 57">
            <a:extLst>
              <a:ext uri="{FF2B5EF4-FFF2-40B4-BE49-F238E27FC236}">
                <a16:creationId xmlns:a16="http://schemas.microsoft.com/office/drawing/2014/main" id="{5221580C-7F33-DA7D-0567-2F28991E2A69}"/>
              </a:ext>
            </a:extLst>
          </p:cNvPr>
          <p:cNvSpPr/>
          <p:nvPr/>
        </p:nvSpPr>
        <p:spPr>
          <a:xfrm>
            <a:off x="7181331" y="3576448"/>
            <a:ext cx="1391739" cy="255600"/>
          </a:xfrm>
          <a:prstGeom prst="roundRect">
            <a:avLst>
              <a:gd name="adj" fmla="val 28912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출고 계획 </a:t>
            </a:r>
            <a:r>
              <a:rPr lang="ko-KR" altLang="en-US" sz="1000" kern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등록 </a:t>
            </a:r>
            <a:r>
              <a:rPr lang="en-US" altLang="ko-KR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수신</a:t>
            </a:r>
          </a:p>
        </p:txBody>
      </p:sp>
    </p:spTree>
    <p:extLst>
      <p:ext uri="{BB962C8B-B14F-4D97-AF65-F5344CB8AC3E}">
        <p14:creationId xmlns:p14="http://schemas.microsoft.com/office/powerpoint/2010/main" val="1715782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9E9E2-B207-FDFD-C1D0-55C0EE0E3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C16ECAE-EFE8-557A-9CED-AC3E6ABC2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spc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기능 리스트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9DF20D-85ED-1A29-9368-B8FF6671E9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</a:t>
            </a:fld>
            <a:endParaRPr kumimoji="1"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08" name="Group 68">
            <a:extLst>
              <a:ext uri="{FF2B5EF4-FFF2-40B4-BE49-F238E27FC236}">
                <a16:creationId xmlns:a16="http://schemas.microsoft.com/office/drawing/2014/main" id="{98B802C7-A382-2C56-9438-21E8BEDAF476}"/>
              </a:ext>
            </a:extLst>
          </p:cNvPr>
          <p:cNvGrpSpPr/>
          <p:nvPr/>
        </p:nvGrpSpPr>
        <p:grpSpPr>
          <a:xfrm>
            <a:off x="259167" y="1530376"/>
            <a:ext cx="9396635" cy="4206187"/>
            <a:chOff x="749853" y="1387171"/>
            <a:chExt cx="9396635" cy="4206187"/>
          </a:xfrm>
        </p:grpSpPr>
        <p:sp>
          <p:nvSpPr>
            <p:cNvPr id="109" name="직사각형 4">
              <a:extLst>
                <a:ext uri="{FF2B5EF4-FFF2-40B4-BE49-F238E27FC236}">
                  <a16:creationId xmlns:a16="http://schemas.microsoft.com/office/drawing/2014/main" id="{C2D702D3-CDFF-84C3-641F-F630DB14407B}"/>
                </a:ext>
              </a:extLst>
            </p:cNvPr>
            <p:cNvSpPr/>
            <p:nvPr/>
          </p:nvSpPr>
          <p:spPr>
            <a:xfrm>
              <a:off x="749853" y="1662468"/>
              <a:ext cx="9396635" cy="3930890"/>
            </a:xfrm>
            <a:prstGeom prst="roundRect">
              <a:avLst>
                <a:gd name="adj" fmla="val 3416"/>
              </a:avLst>
            </a:prstGeom>
            <a:solidFill>
              <a:schemeClr val="bg1"/>
            </a:solidFill>
            <a:ln w="15875" cap="flat" cmpd="sng" algn="ctr">
              <a:solidFill>
                <a:srgbClr val="1B5587"/>
              </a:solidFill>
              <a:prstDash val="solid"/>
            </a:ln>
            <a:effectLst>
              <a:outerShdw blurRad="30480" dist="23000" dir="5400000" rotWithShape="0">
                <a:srgbClr val="000000">
                  <a:alpha val="15000"/>
                </a:srgbClr>
              </a:outerShdw>
            </a:effectLst>
          </p:spPr>
          <p:txBody>
            <a:bodyPr tIns="180000" rtlCol="0" anchor="ctr"/>
            <a:lstStyle/>
            <a:p>
              <a:pPr algn="ctr" defTabSz="457200"/>
              <a:endParaRPr lang="ko-KR" altLang="en-US" sz="2000" kern="0" dirty="0">
                <a:solidFill>
                  <a:srgbClr val="C4324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10" name="Rounded Rectangle 114">
              <a:extLst>
                <a:ext uri="{FF2B5EF4-FFF2-40B4-BE49-F238E27FC236}">
                  <a16:creationId xmlns:a16="http://schemas.microsoft.com/office/drawing/2014/main" id="{A5B56D00-6755-3604-7D95-CFC45F2C0844}"/>
                </a:ext>
              </a:extLst>
            </p:cNvPr>
            <p:cNvSpPr/>
            <p:nvPr/>
          </p:nvSpPr>
          <p:spPr>
            <a:xfrm>
              <a:off x="3431754" y="1792979"/>
              <a:ext cx="1620000" cy="288000"/>
            </a:xfrm>
            <a:prstGeom prst="roundRect">
              <a:avLst>
                <a:gd name="adj" fmla="val 13587"/>
              </a:avLst>
            </a:prstGeom>
            <a:solidFill>
              <a:srgbClr val="46719F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0" tIns="0" rIns="0" bIns="0" rtlCol="0" anchor="ctr"/>
            <a:lstStyle/>
            <a:p>
              <a:pPr algn="ctr" defTabSz="457200" latinLnBrk="0"/>
              <a:r>
                <a:rPr lang="ko-KR" altLang="en-US" sz="1200" b="1" kern="0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입고 관리</a:t>
              </a:r>
            </a:p>
          </p:txBody>
        </p:sp>
        <p:sp>
          <p:nvSpPr>
            <p:cNvPr id="111" name="Rounded Rectangle 114">
              <a:extLst>
                <a:ext uri="{FF2B5EF4-FFF2-40B4-BE49-F238E27FC236}">
                  <a16:creationId xmlns:a16="http://schemas.microsoft.com/office/drawing/2014/main" id="{9E10D883-C4B3-AA43-2D20-F4ED645EC59E}"/>
                </a:ext>
              </a:extLst>
            </p:cNvPr>
            <p:cNvSpPr/>
            <p:nvPr/>
          </p:nvSpPr>
          <p:spPr>
            <a:xfrm>
              <a:off x="5800948" y="1792979"/>
              <a:ext cx="1620000" cy="288000"/>
            </a:xfrm>
            <a:prstGeom prst="roundRect">
              <a:avLst>
                <a:gd name="adj" fmla="val 13587"/>
              </a:avLst>
            </a:prstGeom>
            <a:solidFill>
              <a:srgbClr val="46719F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0" tIns="0" rIns="0" bIns="0" rtlCol="0" anchor="ctr"/>
            <a:lstStyle/>
            <a:p>
              <a:pPr algn="ctr" defTabSz="457200" latinLnBrk="0"/>
              <a:r>
                <a:rPr lang="ko-KR" altLang="en-US" sz="1200" b="1" kern="0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재고 관리</a:t>
              </a:r>
            </a:p>
          </p:txBody>
        </p:sp>
        <p:sp>
          <p:nvSpPr>
            <p:cNvPr id="112" name="Rounded Rectangle 114">
              <a:extLst>
                <a:ext uri="{FF2B5EF4-FFF2-40B4-BE49-F238E27FC236}">
                  <a16:creationId xmlns:a16="http://schemas.microsoft.com/office/drawing/2014/main" id="{E48F3861-F8B6-D9F6-AB26-D5352B6B1414}"/>
                </a:ext>
              </a:extLst>
            </p:cNvPr>
            <p:cNvSpPr/>
            <p:nvPr/>
          </p:nvSpPr>
          <p:spPr>
            <a:xfrm>
              <a:off x="8170142" y="1792979"/>
              <a:ext cx="1620000" cy="288000"/>
            </a:xfrm>
            <a:prstGeom prst="roundRect">
              <a:avLst>
                <a:gd name="adj" fmla="val 13587"/>
              </a:avLst>
            </a:prstGeom>
            <a:solidFill>
              <a:srgbClr val="46719F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0" tIns="0" rIns="0" bIns="0" rtlCol="0" anchor="ctr"/>
            <a:lstStyle/>
            <a:p>
              <a:pPr algn="ctr" defTabSz="457200" latinLnBrk="0"/>
              <a:r>
                <a:rPr lang="ko-KR" altLang="en-US" sz="1200" b="1" kern="0" dirty="0" err="1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출고</a:t>
              </a:r>
              <a:r>
                <a:rPr lang="ko-KR" altLang="en-US" sz="1200" b="1" kern="0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관리</a:t>
              </a:r>
            </a:p>
          </p:txBody>
        </p:sp>
        <p:sp>
          <p:nvSpPr>
            <p:cNvPr id="113" name="Rounded Rectangle 114">
              <a:extLst>
                <a:ext uri="{FF2B5EF4-FFF2-40B4-BE49-F238E27FC236}">
                  <a16:creationId xmlns:a16="http://schemas.microsoft.com/office/drawing/2014/main" id="{B98805B3-A86A-4CB1-A9E8-AADD406FA7C0}"/>
                </a:ext>
              </a:extLst>
            </p:cNvPr>
            <p:cNvSpPr/>
            <p:nvPr/>
          </p:nvSpPr>
          <p:spPr>
            <a:xfrm>
              <a:off x="1062560" y="1792979"/>
              <a:ext cx="1620000" cy="288000"/>
            </a:xfrm>
            <a:prstGeom prst="roundRect">
              <a:avLst>
                <a:gd name="adj" fmla="val 13587"/>
              </a:avLst>
            </a:prstGeom>
            <a:solidFill>
              <a:srgbClr val="46719F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0" tIns="0" rIns="0" bIns="0" rtlCol="0" anchor="ctr"/>
            <a:lstStyle/>
            <a:p>
              <a:pPr algn="ctr" defTabSz="457200" latinLnBrk="0"/>
              <a:r>
                <a:rPr lang="ko-KR" altLang="en-US" sz="1200" b="1" kern="0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마스터  관리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89A5CD61-761A-0C10-BE5A-612BCA40B70A}"/>
                </a:ext>
              </a:extLst>
            </p:cNvPr>
            <p:cNvSpPr txBox="1"/>
            <p:nvPr/>
          </p:nvSpPr>
          <p:spPr>
            <a:xfrm>
              <a:off x="793324" y="1387171"/>
              <a:ext cx="100136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0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마스터 정보 등록</a:t>
              </a:r>
            </a:p>
          </p:txBody>
        </p:sp>
        <p:grpSp>
          <p:nvGrpSpPr>
            <p:cNvPr id="115" name="Group 45">
              <a:extLst>
                <a:ext uri="{FF2B5EF4-FFF2-40B4-BE49-F238E27FC236}">
                  <a16:creationId xmlns:a16="http://schemas.microsoft.com/office/drawing/2014/main" id="{99E87F9A-DC60-F5F5-5502-62ED44D7579D}"/>
                </a:ext>
              </a:extLst>
            </p:cNvPr>
            <p:cNvGrpSpPr/>
            <p:nvPr/>
          </p:nvGrpSpPr>
          <p:grpSpPr>
            <a:xfrm>
              <a:off x="979636" y="5186748"/>
              <a:ext cx="2533531" cy="225474"/>
              <a:chOff x="4332813" y="6998102"/>
              <a:chExt cx="2533531" cy="225474"/>
            </a:xfrm>
          </p:grpSpPr>
          <p:sp>
            <p:nvSpPr>
              <p:cNvPr id="129" name="TextBox 57">
                <a:extLst>
                  <a:ext uri="{FF2B5EF4-FFF2-40B4-BE49-F238E27FC236}">
                    <a16:creationId xmlns:a16="http://schemas.microsoft.com/office/drawing/2014/main" id="{9460FF8E-2D8A-1D71-786C-223D383EF9B1}"/>
                  </a:ext>
                </a:extLst>
              </p:cNvPr>
              <p:cNvSpPr txBox="1"/>
              <p:nvPr/>
            </p:nvSpPr>
            <p:spPr>
              <a:xfrm>
                <a:off x="4657406" y="7080637"/>
                <a:ext cx="2208938" cy="1354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:pPr latinLnBrk="1">
                  <a:lnSpc>
                    <a:spcPct val="80000"/>
                  </a:lnSpc>
                </a:pPr>
                <a:r>
                  <a:rPr lang="en-US" sz="1100" b="1" dirty="0">
                    <a:solidFill>
                      <a:srgbClr val="4E7FB3">
                        <a:alpha val="60000"/>
                      </a:srgbClr>
                    </a:solidFill>
                    <a:latin typeface="Pretendard SemiBold" panose="02000503000000020004" pitchFamily="2" charset="-127"/>
                    <a:ea typeface="Pretendard SemiBold" panose="02000503000000020004" pitchFamily="2" charset="-127"/>
                    <a:cs typeface="Pretendard SemiBold" panose="02000503000000020004" pitchFamily="2" charset="-127"/>
                  </a:rPr>
                  <a:t>Warehouse Management System</a:t>
                </a:r>
              </a:p>
            </p:txBody>
          </p:sp>
          <p:pic>
            <p:nvPicPr>
              <p:cNvPr id="130" name="Picture 44">
                <a:extLst>
                  <a:ext uri="{FF2B5EF4-FFF2-40B4-BE49-F238E27FC236}">
                    <a16:creationId xmlns:a16="http://schemas.microsoft.com/office/drawing/2014/main" id="{382FEF1D-A19D-038D-30C4-667B492258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alphaModFix amt="50000"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332813" y="6998102"/>
                <a:ext cx="252000" cy="225474"/>
              </a:xfrm>
              <a:prstGeom prst="rect">
                <a:avLst/>
              </a:prstGeom>
            </p:spPr>
          </p:pic>
        </p:grpSp>
        <p:sp>
          <p:nvSpPr>
            <p:cNvPr id="116" name="TextBox 57">
              <a:extLst>
                <a:ext uri="{FF2B5EF4-FFF2-40B4-BE49-F238E27FC236}">
                  <a16:creationId xmlns:a16="http://schemas.microsoft.com/office/drawing/2014/main" id="{F1ED1612-1E5F-A11C-7F30-916074A776AE}"/>
                </a:ext>
              </a:extLst>
            </p:cNvPr>
            <p:cNvSpPr txBox="1"/>
            <p:nvPr/>
          </p:nvSpPr>
          <p:spPr>
            <a:xfrm>
              <a:off x="1062560" y="2111520"/>
              <a:ext cx="1802911" cy="872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 err="1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화주사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창고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공급사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고객사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창고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상품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로케이션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en-US" sz="1100" dirty="0" err="1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도크</a:t>
              </a:r>
              <a:endPara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상품</a:t>
              </a:r>
              <a:endPara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프린터 등 장비 마스터</a:t>
              </a:r>
              <a:endPara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 err="1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화주사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en-US" sz="1100" dirty="0" err="1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창고별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옵션</a:t>
              </a:r>
              <a:endParaRPr 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17" name="TextBox 57">
              <a:extLst>
                <a:ext uri="{FF2B5EF4-FFF2-40B4-BE49-F238E27FC236}">
                  <a16:creationId xmlns:a16="http://schemas.microsoft.com/office/drawing/2014/main" id="{9C646355-3FFA-A69E-18A4-539545967304}"/>
                </a:ext>
              </a:extLst>
            </p:cNvPr>
            <p:cNvSpPr txBox="1"/>
            <p:nvPr/>
          </p:nvSpPr>
          <p:spPr>
            <a:xfrm>
              <a:off x="3431754" y="2111520"/>
              <a:ext cx="1900050" cy="1108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입고계획 등록 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엑셀 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 IF)</a:t>
              </a: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입고계획 확인 및 확정</a:t>
              </a: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입고지시서 출력</a:t>
              </a: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입고 검수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확정 </a:t>
              </a: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바코드 라벨 출력</a:t>
              </a: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입고계획 완료</a:t>
              </a: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 err="1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화주사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별 입고 이력 조회</a:t>
              </a:r>
              <a:endParaRPr 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18" name="TextBox 57">
              <a:extLst>
                <a:ext uri="{FF2B5EF4-FFF2-40B4-BE49-F238E27FC236}">
                  <a16:creationId xmlns:a16="http://schemas.microsoft.com/office/drawing/2014/main" id="{CBB6DB47-4F3A-143E-D4F4-EB8D40633518}"/>
                </a:ext>
              </a:extLst>
            </p:cNvPr>
            <p:cNvSpPr txBox="1"/>
            <p:nvPr/>
          </p:nvSpPr>
          <p:spPr>
            <a:xfrm>
              <a:off x="5800948" y="2111520"/>
              <a:ext cx="1577263" cy="1108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적치</a:t>
              </a:r>
              <a:endPara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재고 관리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유통기한 관리</a:t>
              </a:r>
              <a:endPara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재고 이동</a:t>
              </a:r>
              <a:endPara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재고 실사 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&amp;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조정</a:t>
              </a:r>
              <a:endPara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재고 바코드 분할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병합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  <a:b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홀드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재고 조정 등 </a:t>
              </a:r>
              <a:b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트랜잭션 처리</a:t>
              </a: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상품별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로케이션 별 재고 조회</a:t>
              </a: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endParaRPr 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19" name="TextBox 57">
              <a:extLst>
                <a:ext uri="{FF2B5EF4-FFF2-40B4-BE49-F238E27FC236}">
                  <a16:creationId xmlns:a16="http://schemas.microsoft.com/office/drawing/2014/main" id="{034A3330-F68C-A4BC-1B93-FF574C25A70A}"/>
                </a:ext>
              </a:extLst>
            </p:cNvPr>
            <p:cNvSpPr txBox="1"/>
            <p:nvPr/>
          </p:nvSpPr>
          <p:spPr>
            <a:xfrm>
              <a:off x="8170142" y="2111520"/>
              <a:ext cx="1893267" cy="1108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noAutofit/>
            </a:bodyPr>
            <a:lstStyle/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출고계획 등록 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수신</a:t>
              </a:r>
              <a:endPara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출고 계획 확정 및 재고 할당</a:t>
              </a:r>
              <a:endPara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웨이브 구성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확정</a:t>
              </a:r>
              <a:endPara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피킹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검수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포장</a:t>
              </a:r>
              <a:endPara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자동화 설비 처리 시 </a:t>
              </a:r>
              <a:b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WCS 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위임</a:t>
              </a: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 err="1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피킹지시서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출력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피킹 처리</a:t>
              </a: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검수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포장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거래명세서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송장</a:t>
              </a:r>
              <a:b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등 출력</a:t>
              </a: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출고 확정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상차</a:t>
              </a: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 err="1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화주사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별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고객사 별 출고 </a:t>
              </a:r>
              <a:b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이력 조회 </a:t>
              </a:r>
              <a:endPara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명세서</a:t>
              </a:r>
              <a:r>
                <a:rPr lang="en-US" altLang="ko-KR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  <a:r>
                <a:rPr lang="ko-KR" altLang="en-US" sz="110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라벨 출력</a:t>
              </a:r>
              <a:endParaRPr 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AAEF8A99-E9A3-1594-5F1D-073D303C5763}"/>
                </a:ext>
              </a:extLst>
            </p:cNvPr>
            <p:cNvSpPr txBox="1"/>
            <p:nvPr/>
          </p:nvSpPr>
          <p:spPr>
            <a:xfrm>
              <a:off x="2055737" y="1387171"/>
              <a:ext cx="838371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kumimoji="1" lang="ko-KR" altLang="en-US" sz="1000" dirty="0">
                  <a:solidFill>
                    <a:srgbClr val="4F81B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마스터 정보 조회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E9ECF56C-1289-D83F-9178-0B42306D511B}"/>
                </a:ext>
              </a:extLst>
            </p:cNvPr>
            <p:cNvSpPr txBox="1"/>
            <p:nvPr/>
          </p:nvSpPr>
          <p:spPr>
            <a:xfrm>
              <a:off x="3384199" y="1387171"/>
              <a:ext cx="923342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0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입고 계획 등록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96690AF1-FC80-8CB0-1210-39DE287784B6}"/>
                </a:ext>
              </a:extLst>
            </p:cNvPr>
            <p:cNvSpPr txBox="1"/>
            <p:nvPr/>
          </p:nvSpPr>
          <p:spPr>
            <a:xfrm>
              <a:off x="4612926" y="1387171"/>
              <a:ext cx="727763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kumimoji="1" lang="ko-KR" altLang="en-US" sz="1000" dirty="0">
                  <a:solidFill>
                    <a:srgbClr val="4F81B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입고 실적 조회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C52E8BC5-AE50-5045-73DE-7DC0935515D9}"/>
                </a:ext>
              </a:extLst>
            </p:cNvPr>
            <p:cNvSpPr txBox="1"/>
            <p:nvPr/>
          </p:nvSpPr>
          <p:spPr>
            <a:xfrm>
              <a:off x="6072856" y="1387171"/>
              <a:ext cx="474489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kumimoji="1" lang="ko-KR" altLang="en-US" sz="10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재고 조회</a:t>
              </a:r>
              <a:endPara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B1197F5A-ADA5-B9F7-D411-996AB34258BB}"/>
                </a:ext>
              </a:extLst>
            </p:cNvPr>
            <p:cNvSpPr txBox="1"/>
            <p:nvPr/>
          </p:nvSpPr>
          <p:spPr>
            <a:xfrm>
              <a:off x="6908292" y="1387171"/>
              <a:ext cx="474489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kumimoji="1" lang="ko-KR" altLang="en-US" sz="1000" dirty="0">
                  <a:solidFill>
                    <a:srgbClr val="4F81B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재고 조회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AF4F3B03-672E-4DBC-E2B0-553B277E96AE}"/>
                </a:ext>
              </a:extLst>
            </p:cNvPr>
            <p:cNvSpPr txBox="1"/>
            <p:nvPr/>
          </p:nvSpPr>
          <p:spPr>
            <a:xfrm>
              <a:off x="7988687" y="1387171"/>
              <a:ext cx="949353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0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출고 계획 등록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749C9188-E6AF-3AFF-F6F2-5E9EFF1500BB}"/>
                </a:ext>
              </a:extLst>
            </p:cNvPr>
            <p:cNvSpPr txBox="1"/>
            <p:nvPr/>
          </p:nvSpPr>
          <p:spPr>
            <a:xfrm>
              <a:off x="9156337" y="1387171"/>
              <a:ext cx="93535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1000" dirty="0">
                  <a:solidFill>
                    <a:srgbClr val="4F81B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출고 실적 조회</a:t>
              </a:r>
            </a:p>
          </p:txBody>
        </p:sp>
      </p:grpSp>
      <p:cxnSp>
        <p:nvCxnSpPr>
          <p:cNvPr id="137" name="Straight Connector 78">
            <a:extLst>
              <a:ext uri="{FF2B5EF4-FFF2-40B4-BE49-F238E27FC236}">
                <a16:creationId xmlns:a16="http://schemas.microsoft.com/office/drawing/2014/main" id="{5C426CF0-A1D8-513E-6D05-0108D850C368}"/>
              </a:ext>
            </a:extLst>
          </p:cNvPr>
          <p:cNvCxnSpPr>
            <a:cxnSpLocks/>
          </p:cNvCxnSpPr>
          <p:nvPr/>
        </p:nvCxnSpPr>
        <p:spPr>
          <a:xfrm>
            <a:off x="2642273" y="1899365"/>
            <a:ext cx="0" cy="318644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0" name="Group 35">
            <a:extLst>
              <a:ext uri="{FF2B5EF4-FFF2-40B4-BE49-F238E27FC236}">
                <a16:creationId xmlns:a16="http://schemas.microsoft.com/office/drawing/2014/main" id="{32BB7013-FD49-E7C5-9EE9-4EED10363843}"/>
              </a:ext>
            </a:extLst>
          </p:cNvPr>
          <p:cNvGrpSpPr/>
          <p:nvPr/>
        </p:nvGrpSpPr>
        <p:grpSpPr>
          <a:xfrm>
            <a:off x="1094098" y="850953"/>
            <a:ext cx="612000" cy="463593"/>
            <a:chOff x="4741958" y="1386406"/>
            <a:chExt cx="612000" cy="463593"/>
          </a:xfrm>
        </p:grpSpPr>
        <p:pic>
          <p:nvPicPr>
            <p:cNvPr id="151" name="Picture 36">
              <a:extLst>
                <a:ext uri="{FF2B5EF4-FFF2-40B4-BE49-F238E27FC236}">
                  <a16:creationId xmlns:a16="http://schemas.microsoft.com/office/drawing/2014/main" id="{4A230FE1-9A60-393A-1788-CFF63C45F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73483" y="1386406"/>
              <a:ext cx="345396" cy="300344"/>
            </a:xfrm>
            <a:prstGeom prst="rect">
              <a:avLst/>
            </a:prstGeom>
          </p:spPr>
        </p:pic>
        <p:sp>
          <p:nvSpPr>
            <p:cNvPr id="152" name="Rounded Rectangle 57">
              <a:extLst>
                <a:ext uri="{FF2B5EF4-FFF2-40B4-BE49-F238E27FC236}">
                  <a16:creationId xmlns:a16="http://schemas.microsoft.com/office/drawing/2014/main" id="{E7CF1894-7C46-B125-EBDA-D99290FFEC1C}"/>
                </a:ext>
              </a:extLst>
            </p:cNvPr>
            <p:cNvSpPr/>
            <p:nvPr/>
          </p:nvSpPr>
          <p:spPr>
            <a:xfrm>
              <a:off x="4741958" y="1669999"/>
              <a:ext cx="612000" cy="180000"/>
            </a:xfrm>
            <a:prstGeom prst="roundRect">
              <a:avLst>
                <a:gd name="adj" fmla="val 28912"/>
              </a:avLst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0" tIns="0" rIns="0" bIns="0" rtlCol="0" anchor="ctr"/>
            <a:lstStyle/>
            <a:p>
              <a:pPr algn="ctr" defTabSz="457200" latinLnBrk="0"/>
              <a:r>
                <a:rPr lang="ko-KR" altLang="en-US" sz="1000" b="1" kern="0" dirty="0" err="1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화주사</a:t>
              </a:r>
              <a:endParaRPr lang="ko-KR" altLang="en-US" sz="10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53" name="Group 35">
            <a:extLst>
              <a:ext uri="{FF2B5EF4-FFF2-40B4-BE49-F238E27FC236}">
                <a16:creationId xmlns:a16="http://schemas.microsoft.com/office/drawing/2014/main" id="{070CDD3F-5DF2-86A7-079D-1175484F95AF}"/>
              </a:ext>
            </a:extLst>
          </p:cNvPr>
          <p:cNvGrpSpPr/>
          <p:nvPr/>
        </p:nvGrpSpPr>
        <p:grpSpPr>
          <a:xfrm>
            <a:off x="3581688" y="834793"/>
            <a:ext cx="612000" cy="463593"/>
            <a:chOff x="4662442" y="1386406"/>
            <a:chExt cx="612000" cy="463593"/>
          </a:xfrm>
        </p:grpSpPr>
        <p:pic>
          <p:nvPicPr>
            <p:cNvPr id="154" name="Picture 36">
              <a:extLst>
                <a:ext uri="{FF2B5EF4-FFF2-40B4-BE49-F238E27FC236}">
                  <a16:creationId xmlns:a16="http://schemas.microsoft.com/office/drawing/2014/main" id="{1B996DAC-D76A-ACC1-A459-0D40923F9C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93967" y="1386406"/>
              <a:ext cx="345396" cy="300344"/>
            </a:xfrm>
            <a:prstGeom prst="rect">
              <a:avLst/>
            </a:prstGeom>
          </p:spPr>
        </p:pic>
        <p:sp>
          <p:nvSpPr>
            <p:cNvPr id="155" name="Rounded Rectangle 57">
              <a:extLst>
                <a:ext uri="{FF2B5EF4-FFF2-40B4-BE49-F238E27FC236}">
                  <a16:creationId xmlns:a16="http://schemas.microsoft.com/office/drawing/2014/main" id="{D79D8524-CF5C-EF02-53E7-C1820A0C077B}"/>
                </a:ext>
              </a:extLst>
            </p:cNvPr>
            <p:cNvSpPr/>
            <p:nvPr/>
          </p:nvSpPr>
          <p:spPr>
            <a:xfrm>
              <a:off x="4662442" y="1669999"/>
              <a:ext cx="612000" cy="180000"/>
            </a:xfrm>
            <a:prstGeom prst="roundRect">
              <a:avLst>
                <a:gd name="adj" fmla="val 28912"/>
              </a:avLst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0" tIns="0" rIns="0" bIns="0" rtlCol="0" anchor="ctr"/>
            <a:lstStyle/>
            <a:p>
              <a:pPr algn="ctr" defTabSz="457200" latinLnBrk="0"/>
              <a:r>
                <a:rPr lang="ko-KR" altLang="en-US" sz="1000" b="1" kern="0" dirty="0" err="1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화주사</a:t>
              </a:r>
              <a:endParaRPr lang="ko-KR" altLang="en-US" sz="10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56" name="Group 35">
            <a:extLst>
              <a:ext uri="{FF2B5EF4-FFF2-40B4-BE49-F238E27FC236}">
                <a16:creationId xmlns:a16="http://schemas.microsoft.com/office/drawing/2014/main" id="{B080359A-1243-1271-CF9D-59389AB4EF95}"/>
              </a:ext>
            </a:extLst>
          </p:cNvPr>
          <p:cNvGrpSpPr/>
          <p:nvPr/>
        </p:nvGrpSpPr>
        <p:grpSpPr>
          <a:xfrm>
            <a:off x="5918330" y="837844"/>
            <a:ext cx="612000" cy="463593"/>
            <a:chOff x="4413960" y="1386406"/>
            <a:chExt cx="612000" cy="463593"/>
          </a:xfrm>
        </p:grpSpPr>
        <p:pic>
          <p:nvPicPr>
            <p:cNvPr id="157" name="Picture 36">
              <a:extLst>
                <a:ext uri="{FF2B5EF4-FFF2-40B4-BE49-F238E27FC236}">
                  <a16:creationId xmlns:a16="http://schemas.microsoft.com/office/drawing/2014/main" id="{EC6D3D21-8927-A750-7380-55A24E0CE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45485" y="1386406"/>
              <a:ext cx="345396" cy="300344"/>
            </a:xfrm>
            <a:prstGeom prst="rect">
              <a:avLst/>
            </a:prstGeom>
          </p:spPr>
        </p:pic>
        <p:sp>
          <p:nvSpPr>
            <p:cNvPr id="158" name="Rounded Rectangle 57">
              <a:extLst>
                <a:ext uri="{FF2B5EF4-FFF2-40B4-BE49-F238E27FC236}">
                  <a16:creationId xmlns:a16="http://schemas.microsoft.com/office/drawing/2014/main" id="{7630F03B-708D-A6A7-1B16-0BEACE7B5727}"/>
                </a:ext>
              </a:extLst>
            </p:cNvPr>
            <p:cNvSpPr/>
            <p:nvPr/>
          </p:nvSpPr>
          <p:spPr>
            <a:xfrm>
              <a:off x="4413960" y="1669999"/>
              <a:ext cx="612000" cy="180000"/>
            </a:xfrm>
            <a:prstGeom prst="roundRect">
              <a:avLst>
                <a:gd name="adj" fmla="val 28912"/>
              </a:avLst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0" tIns="0" rIns="0" bIns="0" rtlCol="0" anchor="ctr"/>
            <a:lstStyle/>
            <a:p>
              <a:pPr algn="ctr" defTabSz="457200" latinLnBrk="0"/>
              <a:r>
                <a:rPr lang="ko-KR" altLang="en-US" sz="1000" b="1" kern="0" dirty="0" err="1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화주사</a:t>
              </a:r>
              <a:endParaRPr lang="ko-KR" altLang="en-US" sz="10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59" name="Group 35">
            <a:extLst>
              <a:ext uri="{FF2B5EF4-FFF2-40B4-BE49-F238E27FC236}">
                <a16:creationId xmlns:a16="http://schemas.microsoft.com/office/drawing/2014/main" id="{35E3F98B-11FE-63D7-C72C-E401041E8A48}"/>
              </a:ext>
            </a:extLst>
          </p:cNvPr>
          <p:cNvGrpSpPr/>
          <p:nvPr/>
        </p:nvGrpSpPr>
        <p:grpSpPr>
          <a:xfrm>
            <a:off x="8200008" y="854703"/>
            <a:ext cx="612000" cy="463593"/>
            <a:chOff x="4076032" y="1386406"/>
            <a:chExt cx="612000" cy="463593"/>
          </a:xfrm>
        </p:grpSpPr>
        <p:pic>
          <p:nvPicPr>
            <p:cNvPr id="160" name="Picture 36">
              <a:extLst>
                <a:ext uri="{FF2B5EF4-FFF2-40B4-BE49-F238E27FC236}">
                  <a16:creationId xmlns:a16="http://schemas.microsoft.com/office/drawing/2014/main" id="{4C829FF8-DBFB-396C-094E-14A56B75B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07557" y="1386406"/>
              <a:ext cx="345396" cy="300344"/>
            </a:xfrm>
            <a:prstGeom prst="rect">
              <a:avLst/>
            </a:prstGeom>
          </p:spPr>
        </p:pic>
        <p:sp>
          <p:nvSpPr>
            <p:cNvPr id="161" name="Rounded Rectangle 57">
              <a:extLst>
                <a:ext uri="{FF2B5EF4-FFF2-40B4-BE49-F238E27FC236}">
                  <a16:creationId xmlns:a16="http://schemas.microsoft.com/office/drawing/2014/main" id="{FE730F2B-CD54-BE8D-FACD-1AD352A89C82}"/>
                </a:ext>
              </a:extLst>
            </p:cNvPr>
            <p:cNvSpPr/>
            <p:nvPr/>
          </p:nvSpPr>
          <p:spPr>
            <a:xfrm>
              <a:off x="4076032" y="1669999"/>
              <a:ext cx="612000" cy="180000"/>
            </a:xfrm>
            <a:prstGeom prst="roundRect">
              <a:avLst>
                <a:gd name="adj" fmla="val 28912"/>
              </a:avLst>
            </a:prstGeom>
            <a:solidFill>
              <a:schemeClr val="tx1">
                <a:lumMod val="65000"/>
                <a:lumOff val="35000"/>
              </a:schemeClr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0" tIns="0" rIns="0" bIns="0" rtlCol="0" anchor="ctr"/>
            <a:lstStyle/>
            <a:p>
              <a:pPr algn="ctr" defTabSz="457200" latinLnBrk="0"/>
              <a:r>
                <a:rPr lang="ko-KR" altLang="en-US" sz="1000" b="1" kern="0" dirty="0" err="1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화주사</a:t>
              </a:r>
              <a:endParaRPr lang="ko-KR" altLang="en-US" sz="10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6158CF02-B722-F4EC-CE08-AF3C94E87B55}"/>
              </a:ext>
            </a:extLst>
          </p:cNvPr>
          <p:cNvGrpSpPr/>
          <p:nvPr/>
        </p:nvGrpSpPr>
        <p:grpSpPr>
          <a:xfrm>
            <a:off x="1302044" y="1321800"/>
            <a:ext cx="161870" cy="614384"/>
            <a:chOff x="1423968" y="1051833"/>
            <a:chExt cx="161870" cy="614384"/>
          </a:xfrm>
        </p:grpSpPr>
        <p:cxnSp>
          <p:nvCxnSpPr>
            <p:cNvPr id="166" name="Straight Arrow Connector 3">
              <a:extLst>
                <a:ext uri="{FF2B5EF4-FFF2-40B4-BE49-F238E27FC236}">
                  <a16:creationId xmlns:a16="http://schemas.microsoft.com/office/drawing/2014/main" id="{347D9E42-0B34-1D8E-F3DA-E150E80D217A}"/>
                </a:ext>
              </a:extLst>
            </p:cNvPr>
            <p:cNvCxnSpPr>
              <a:cxnSpLocks/>
            </p:cNvCxnSpPr>
            <p:nvPr/>
          </p:nvCxnSpPr>
          <p:spPr>
            <a:xfrm>
              <a:off x="1423968" y="1109414"/>
              <a:ext cx="0" cy="556803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headEnd type="oval"/>
              <a:tailEnd type="stealth" w="lg" len="lg"/>
            </a:ln>
            <a:effectLst>
              <a:outerShdw blurRad="36830" dist="12700" dir="5400000" rotWithShape="0">
                <a:srgbClr val="000000">
                  <a:alpha val="20000"/>
                </a:srgbClr>
              </a:outerShdw>
            </a:effectLst>
          </p:spPr>
        </p:cxnSp>
        <p:cxnSp>
          <p:nvCxnSpPr>
            <p:cNvPr id="167" name="Straight Arrow Connector 3">
              <a:extLst>
                <a:ext uri="{FF2B5EF4-FFF2-40B4-BE49-F238E27FC236}">
                  <a16:creationId xmlns:a16="http://schemas.microsoft.com/office/drawing/2014/main" id="{7C707095-B310-8EF2-7E88-F5C987B41E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5838" y="1051833"/>
              <a:ext cx="0" cy="540000"/>
            </a:xfrm>
            <a:prstGeom prst="straightConnector1">
              <a:avLst/>
            </a:prstGeom>
            <a:noFill/>
            <a:ln w="9525" cap="flat" cmpd="sng" algn="ctr">
              <a:solidFill>
                <a:srgbClr val="4F81B7"/>
              </a:solidFill>
              <a:prstDash val="solid"/>
              <a:headEnd type="oval"/>
              <a:tailEnd type="stealth" w="lg" len="lg"/>
            </a:ln>
            <a:effectLst>
              <a:outerShdw blurRad="36830" dist="12700" dir="5400000" rotWithShape="0">
                <a:srgbClr val="000000">
                  <a:alpha val="20000"/>
                </a:srgbClr>
              </a:outerShdw>
            </a:effectLst>
          </p:spPr>
        </p:cxnSp>
      </p:grpSp>
      <p:cxnSp>
        <p:nvCxnSpPr>
          <p:cNvPr id="18" name="Straight Connector 78">
            <a:extLst>
              <a:ext uri="{FF2B5EF4-FFF2-40B4-BE49-F238E27FC236}">
                <a16:creationId xmlns:a16="http://schemas.microsoft.com/office/drawing/2014/main" id="{FC642FC7-1EBC-54A7-6DE0-D0D51AA2AF9B}"/>
              </a:ext>
            </a:extLst>
          </p:cNvPr>
          <p:cNvCxnSpPr>
            <a:cxnSpLocks/>
          </p:cNvCxnSpPr>
          <p:nvPr/>
        </p:nvCxnSpPr>
        <p:spPr>
          <a:xfrm>
            <a:off x="4932627" y="1899365"/>
            <a:ext cx="0" cy="318644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78">
            <a:extLst>
              <a:ext uri="{FF2B5EF4-FFF2-40B4-BE49-F238E27FC236}">
                <a16:creationId xmlns:a16="http://schemas.microsoft.com/office/drawing/2014/main" id="{F29C22A1-C8F8-562C-D4BB-CE3C4759E4AE}"/>
              </a:ext>
            </a:extLst>
          </p:cNvPr>
          <p:cNvCxnSpPr>
            <a:cxnSpLocks/>
          </p:cNvCxnSpPr>
          <p:nvPr/>
        </p:nvCxnSpPr>
        <p:spPr>
          <a:xfrm>
            <a:off x="7344901" y="1899365"/>
            <a:ext cx="0" cy="318644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997089CE-1351-FDF1-FA17-1661E2D645B4}"/>
              </a:ext>
            </a:extLst>
          </p:cNvPr>
          <p:cNvGrpSpPr/>
          <p:nvPr/>
        </p:nvGrpSpPr>
        <p:grpSpPr>
          <a:xfrm>
            <a:off x="3801404" y="1321800"/>
            <a:ext cx="161870" cy="614384"/>
            <a:chOff x="1423968" y="1051833"/>
            <a:chExt cx="161870" cy="614384"/>
          </a:xfrm>
        </p:grpSpPr>
        <p:cxnSp>
          <p:nvCxnSpPr>
            <p:cNvPr id="23" name="Straight Arrow Connector 3">
              <a:extLst>
                <a:ext uri="{FF2B5EF4-FFF2-40B4-BE49-F238E27FC236}">
                  <a16:creationId xmlns:a16="http://schemas.microsoft.com/office/drawing/2014/main" id="{995AF3DE-F1FE-E89D-04E5-F5798D23656E}"/>
                </a:ext>
              </a:extLst>
            </p:cNvPr>
            <p:cNvCxnSpPr>
              <a:cxnSpLocks/>
            </p:cNvCxnSpPr>
            <p:nvPr/>
          </p:nvCxnSpPr>
          <p:spPr>
            <a:xfrm>
              <a:off x="1423968" y="1109414"/>
              <a:ext cx="0" cy="556803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headEnd type="oval"/>
              <a:tailEnd type="stealth" w="lg" len="lg"/>
            </a:ln>
            <a:effectLst>
              <a:outerShdw blurRad="36830" dist="12700" dir="5400000" rotWithShape="0">
                <a:srgbClr val="000000">
                  <a:alpha val="20000"/>
                </a:srgbClr>
              </a:outerShdw>
            </a:effectLst>
          </p:spPr>
        </p:cxnSp>
        <p:cxnSp>
          <p:nvCxnSpPr>
            <p:cNvPr id="24" name="Straight Arrow Connector 3">
              <a:extLst>
                <a:ext uri="{FF2B5EF4-FFF2-40B4-BE49-F238E27FC236}">
                  <a16:creationId xmlns:a16="http://schemas.microsoft.com/office/drawing/2014/main" id="{0DC8D0DD-6B10-11CC-482F-2B98F6960C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5838" y="1051833"/>
              <a:ext cx="0" cy="540000"/>
            </a:xfrm>
            <a:prstGeom prst="straightConnector1">
              <a:avLst/>
            </a:prstGeom>
            <a:noFill/>
            <a:ln w="9525" cap="flat" cmpd="sng" algn="ctr">
              <a:solidFill>
                <a:srgbClr val="4F81B7"/>
              </a:solidFill>
              <a:prstDash val="solid"/>
              <a:headEnd type="oval"/>
              <a:tailEnd type="stealth" w="lg" len="lg"/>
            </a:ln>
            <a:effectLst>
              <a:outerShdw blurRad="36830" dist="12700" dir="5400000" rotWithShape="0">
                <a:srgbClr val="000000">
                  <a:alpha val="20000"/>
                </a:srgbClr>
              </a:outerShdw>
            </a:effectLst>
          </p:spPr>
        </p:cxn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BEC76F3-B3FD-1C8F-BBA5-B02D3D2620F8}"/>
              </a:ext>
            </a:extLst>
          </p:cNvPr>
          <p:cNvGrpSpPr/>
          <p:nvPr/>
        </p:nvGrpSpPr>
        <p:grpSpPr>
          <a:xfrm>
            <a:off x="6135301" y="1321800"/>
            <a:ext cx="161870" cy="614384"/>
            <a:chOff x="1423968" y="1051833"/>
            <a:chExt cx="161870" cy="614384"/>
          </a:xfrm>
        </p:grpSpPr>
        <p:cxnSp>
          <p:nvCxnSpPr>
            <p:cNvPr id="26" name="Straight Arrow Connector 3">
              <a:extLst>
                <a:ext uri="{FF2B5EF4-FFF2-40B4-BE49-F238E27FC236}">
                  <a16:creationId xmlns:a16="http://schemas.microsoft.com/office/drawing/2014/main" id="{1269513D-DA90-8E5D-701E-E5FB70A88560}"/>
                </a:ext>
              </a:extLst>
            </p:cNvPr>
            <p:cNvCxnSpPr>
              <a:cxnSpLocks/>
            </p:cNvCxnSpPr>
            <p:nvPr/>
          </p:nvCxnSpPr>
          <p:spPr>
            <a:xfrm>
              <a:off x="1423968" y="1109414"/>
              <a:ext cx="0" cy="556803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headEnd type="oval"/>
              <a:tailEnd type="stealth" w="lg" len="lg"/>
            </a:ln>
            <a:effectLst>
              <a:outerShdw blurRad="36830" dist="12700" dir="5400000" rotWithShape="0">
                <a:srgbClr val="000000">
                  <a:alpha val="20000"/>
                </a:srgbClr>
              </a:outerShdw>
            </a:effectLst>
          </p:spPr>
        </p:cxnSp>
        <p:cxnSp>
          <p:nvCxnSpPr>
            <p:cNvPr id="27" name="Straight Arrow Connector 3">
              <a:extLst>
                <a:ext uri="{FF2B5EF4-FFF2-40B4-BE49-F238E27FC236}">
                  <a16:creationId xmlns:a16="http://schemas.microsoft.com/office/drawing/2014/main" id="{A2186B78-B3EA-948A-F3F2-021DC834D1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5838" y="1051833"/>
              <a:ext cx="0" cy="540000"/>
            </a:xfrm>
            <a:prstGeom prst="straightConnector1">
              <a:avLst/>
            </a:prstGeom>
            <a:noFill/>
            <a:ln w="9525" cap="flat" cmpd="sng" algn="ctr">
              <a:solidFill>
                <a:srgbClr val="4F81B7"/>
              </a:solidFill>
              <a:prstDash val="solid"/>
              <a:headEnd type="oval"/>
              <a:tailEnd type="stealth" w="lg" len="lg"/>
            </a:ln>
            <a:effectLst>
              <a:outerShdw blurRad="36830" dist="12700" dir="5400000" rotWithShape="0">
                <a:srgbClr val="000000">
                  <a:alpha val="20000"/>
                </a:srgbClr>
              </a:outerShdw>
            </a:effectLst>
          </p:spPr>
        </p:cxn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714F8126-7895-9010-6E22-B3F3E35DB495}"/>
              </a:ext>
            </a:extLst>
          </p:cNvPr>
          <p:cNvGrpSpPr/>
          <p:nvPr/>
        </p:nvGrpSpPr>
        <p:grpSpPr>
          <a:xfrm>
            <a:off x="8434363" y="1321800"/>
            <a:ext cx="161870" cy="614384"/>
            <a:chOff x="1423968" y="1051833"/>
            <a:chExt cx="161870" cy="614384"/>
          </a:xfrm>
        </p:grpSpPr>
        <p:cxnSp>
          <p:nvCxnSpPr>
            <p:cNvPr id="29" name="Straight Arrow Connector 3">
              <a:extLst>
                <a:ext uri="{FF2B5EF4-FFF2-40B4-BE49-F238E27FC236}">
                  <a16:creationId xmlns:a16="http://schemas.microsoft.com/office/drawing/2014/main" id="{FED364F0-B2D3-C20E-407B-D140EC1BB8C7}"/>
                </a:ext>
              </a:extLst>
            </p:cNvPr>
            <p:cNvCxnSpPr>
              <a:cxnSpLocks/>
            </p:cNvCxnSpPr>
            <p:nvPr/>
          </p:nvCxnSpPr>
          <p:spPr>
            <a:xfrm>
              <a:off x="1423968" y="1109414"/>
              <a:ext cx="0" cy="556803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headEnd type="oval"/>
              <a:tailEnd type="stealth" w="lg" len="lg"/>
            </a:ln>
            <a:effectLst>
              <a:outerShdw blurRad="36830" dist="12700" dir="5400000" rotWithShape="0">
                <a:srgbClr val="000000">
                  <a:alpha val="20000"/>
                </a:srgbClr>
              </a:outerShdw>
            </a:effectLst>
          </p:spPr>
        </p:cxnSp>
        <p:cxnSp>
          <p:nvCxnSpPr>
            <p:cNvPr id="30" name="Straight Arrow Connector 3">
              <a:extLst>
                <a:ext uri="{FF2B5EF4-FFF2-40B4-BE49-F238E27FC236}">
                  <a16:creationId xmlns:a16="http://schemas.microsoft.com/office/drawing/2014/main" id="{12BB3DE1-D299-B07F-F0F1-63B4B73FD5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85838" y="1051833"/>
              <a:ext cx="0" cy="540000"/>
            </a:xfrm>
            <a:prstGeom prst="straightConnector1">
              <a:avLst/>
            </a:prstGeom>
            <a:noFill/>
            <a:ln w="9525" cap="flat" cmpd="sng" algn="ctr">
              <a:solidFill>
                <a:srgbClr val="4F81B7"/>
              </a:solidFill>
              <a:prstDash val="solid"/>
              <a:headEnd type="oval"/>
              <a:tailEnd type="stealth" w="lg" len="lg"/>
            </a:ln>
            <a:effectLst>
              <a:outerShdw blurRad="36830" dist="12700" dir="5400000" rotWithShape="0">
                <a:srgbClr val="000000">
                  <a:alpha val="20000"/>
                </a:srgbClr>
              </a:outerShdw>
            </a:effectLst>
          </p:spPr>
        </p:cxnSp>
      </p:grpSp>
    </p:spTree>
    <p:extLst>
      <p:ext uri="{BB962C8B-B14F-4D97-AF65-F5344CB8AC3E}">
        <p14:creationId xmlns:p14="http://schemas.microsoft.com/office/powerpoint/2010/main" val="2564457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61C31-395B-732D-023A-095200D67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5D7FEFC9-9A07-71F4-2F86-940EE7E80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spc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주요 기능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BD10D2-0862-0498-D84D-141214648D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</a:t>
            </a:fld>
            <a:endParaRPr kumimoji="1"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84566D9F-0688-5B47-CD79-29E61A725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8950" y="597567"/>
            <a:ext cx="8997950" cy="363537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1400" spc="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자가 물류</a:t>
            </a:r>
            <a:r>
              <a:rPr kumimoji="1" lang="en-US" altLang="ko-KR" sz="1400" spc="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400" spc="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400" spc="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3PL </a:t>
            </a:r>
            <a:r>
              <a:rPr kumimoji="1" lang="ko-KR" altLang="en-US" sz="1400" spc="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위한 창고 관리 서비스에 전문 출고 분류 서비스까지 고객이 원하는 만큼</a:t>
            </a:r>
            <a:endParaRPr kumimoji="1" lang="en-US" altLang="ko-KR" sz="1400" spc="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1" name="모서리가 둥근 직사각형 11">
            <a:extLst>
              <a:ext uri="{FF2B5EF4-FFF2-40B4-BE49-F238E27FC236}">
                <a16:creationId xmlns:a16="http://schemas.microsoft.com/office/drawing/2014/main" id="{7F1B8F5D-81AA-2D67-647D-5FAD63938C0F}"/>
              </a:ext>
            </a:extLst>
          </p:cNvPr>
          <p:cNvSpPr/>
          <p:nvPr/>
        </p:nvSpPr>
        <p:spPr bwMode="auto">
          <a:xfrm>
            <a:off x="619666" y="1744660"/>
            <a:ext cx="2200696" cy="1394666"/>
          </a:xfrm>
          <a:prstGeom prst="roundRect">
            <a:avLst>
              <a:gd name="adj" fmla="val 5854"/>
            </a:avLst>
          </a:prstGeom>
          <a:noFill/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창고</a:t>
            </a:r>
            <a:r>
              <a:rPr kumimoji="1" lang="en-US" altLang="ko-KR" sz="1200" b="1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200" b="1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관리 프로세스</a:t>
            </a:r>
            <a:endParaRPr kumimoji="1" lang="en-US" altLang="ko-KR" sz="1200" b="1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lvl="0" indent="-171450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Clr>
                <a:srgbClr val="00B2B2"/>
              </a:buClr>
              <a:buFont typeface="Arial" panose="020B0604020202020204" pitchFamily="34" charset="0"/>
              <a:buChar char="•"/>
            </a:pP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물류사</a:t>
            </a:r>
            <a: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1100" dirty="0" err="1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화주사</a:t>
            </a:r>
            <a: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공급처</a:t>
            </a:r>
            <a: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1100" dirty="0" err="1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매입처</a:t>
            </a:r>
            <a: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관리</a:t>
            </a:r>
            <a:endParaRPr kumimoji="1" lang="en-US" altLang="ko-KR" sz="110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lvl="0" indent="-171450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Clr>
                <a:srgbClr val="00B2B2"/>
              </a:buClr>
              <a:buFont typeface="Arial" panose="020B0604020202020204" pitchFamily="34" charset="0"/>
              <a:buChar char="•"/>
            </a:pP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상품</a:t>
            </a:r>
            <a: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관리</a:t>
            </a:r>
            <a: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 </a:t>
            </a: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로케이션</a:t>
            </a:r>
            <a: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관리</a:t>
            </a:r>
            <a:endParaRPr kumimoji="1" lang="en-US" altLang="ko-KR" sz="110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Clr>
                <a:srgbClr val="00B2B2"/>
              </a:buClr>
              <a:buFont typeface="Arial" panose="020B0604020202020204" pitchFamily="34" charset="0"/>
              <a:buChar char="•"/>
            </a:pP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입고</a:t>
            </a:r>
            <a: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관리</a:t>
            </a:r>
            <a: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 </a:t>
            </a: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출고</a:t>
            </a:r>
            <a: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관리</a:t>
            </a:r>
            <a:endParaRPr kumimoji="1" lang="en-US" altLang="ko-KR" sz="110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Clr>
                <a:srgbClr val="00B2B2"/>
              </a:buClr>
              <a:buFont typeface="Arial" panose="020B0604020202020204" pitchFamily="34" charset="0"/>
              <a:buChar char="•"/>
            </a:pP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발주</a:t>
            </a:r>
            <a: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관리</a:t>
            </a:r>
            <a: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 </a:t>
            </a: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재고</a:t>
            </a:r>
            <a: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관리</a:t>
            </a:r>
            <a:endParaRPr kumimoji="1" lang="en-US" altLang="ko-KR" sz="110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lvl="0" indent="-171450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Clr>
                <a:srgbClr val="00B2B2"/>
              </a:buClr>
              <a:buFont typeface="Arial" panose="020B0604020202020204" pitchFamily="34" charset="0"/>
              <a:buChar char="•"/>
            </a:pP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반품</a:t>
            </a:r>
            <a: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관리</a:t>
            </a:r>
            <a:endParaRPr kumimoji="1" lang="en-US" altLang="ko-KR" sz="110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22633C0E-5C26-397B-2F70-47ACE0748C26}"/>
              </a:ext>
            </a:extLst>
          </p:cNvPr>
          <p:cNvGrpSpPr/>
          <p:nvPr/>
        </p:nvGrpSpPr>
        <p:grpSpPr>
          <a:xfrm>
            <a:off x="4343909" y="1624414"/>
            <a:ext cx="1218183" cy="1313014"/>
            <a:chOff x="2817157" y="1517591"/>
            <a:chExt cx="1218183" cy="1313014"/>
          </a:xfrm>
        </p:grpSpPr>
        <p:sp>
          <p:nvSpPr>
            <p:cNvPr id="41" name="Graphic 18">
              <a:extLst>
                <a:ext uri="{FF2B5EF4-FFF2-40B4-BE49-F238E27FC236}">
                  <a16:creationId xmlns:a16="http://schemas.microsoft.com/office/drawing/2014/main" id="{F21428AC-9DF0-0F9E-41F4-78D33840CCD9}"/>
                </a:ext>
              </a:extLst>
            </p:cNvPr>
            <p:cNvSpPr/>
            <p:nvPr/>
          </p:nvSpPr>
          <p:spPr>
            <a:xfrm>
              <a:off x="2817157" y="1517591"/>
              <a:ext cx="1218183" cy="1313014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noFill/>
            <a:ln w="76200">
              <a:solidFill>
                <a:srgbClr val="38A25B">
                  <a:alpha val="2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sz="1350" dirty="0">
                <a:latin typeface="+mj-lt"/>
              </a:endParaRPr>
            </a:p>
          </p:txBody>
        </p:sp>
        <p:sp>
          <p:nvSpPr>
            <p:cNvPr id="42" name="Graphic 18">
              <a:extLst>
                <a:ext uri="{FF2B5EF4-FFF2-40B4-BE49-F238E27FC236}">
                  <a16:creationId xmlns:a16="http://schemas.microsoft.com/office/drawing/2014/main" id="{86771E41-B726-689B-6CC7-2CCFC1154391}"/>
                </a:ext>
              </a:extLst>
            </p:cNvPr>
            <p:cNvSpPr/>
            <p:nvPr/>
          </p:nvSpPr>
          <p:spPr>
            <a:xfrm>
              <a:off x="2858177" y="1557934"/>
              <a:ext cx="1141646" cy="1230519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BA08A">
                    <a:alpha val="74902"/>
                  </a:srgbClr>
                </a:gs>
                <a:gs pos="100000">
                  <a:srgbClr val="007693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12700" dist="127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36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en-US" sz="16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WMS</a:t>
              </a:r>
              <a:br>
                <a:rPr kumimoji="1" lang="en-US" sz="12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</a:br>
              <a:r>
                <a:rPr kumimoji="1" lang="ko-KR" altLang="en-US" sz="1600" b="1" spc="-150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서비스 종류</a:t>
              </a:r>
              <a:endParaRPr kumimoji="1" lang="en-US" sz="1200" b="1" spc="-15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algn="ctr"/>
              <a:r>
                <a:rPr kumimoji="1" lang="en-US" altLang="ko-KR" sz="900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OPERATO</a:t>
              </a:r>
              <a:endParaRPr kumimoji="1" lang="en-US" sz="800" dirty="0">
                <a:solidFill>
                  <a:schemeClr val="accent6">
                    <a:lumMod val="20000"/>
                    <a:lumOff val="8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CC79C5A6-FD1A-A2B9-BD9F-EDB00D389C4E}"/>
              </a:ext>
            </a:extLst>
          </p:cNvPr>
          <p:cNvGrpSpPr/>
          <p:nvPr/>
        </p:nvGrpSpPr>
        <p:grpSpPr>
          <a:xfrm>
            <a:off x="3738910" y="3021720"/>
            <a:ext cx="986690" cy="1058400"/>
            <a:chOff x="3738910" y="2899800"/>
            <a:chExt cx="986690" cy="1058400"/>
          </a:xfrm>
        </p:grpSpPr>
        <p:sp>
          <p:nvSpPr>
            <p:cNvPr id="27" name="Graphic 18">
              <a:extLst>
                <a:ext uri="{FF2B5EF4-FFF2-40B4-BE49-F238E27FC236}">
                  <a16:creationId xmlns:a16="http://schemas.microsoft.com/office/drawing/2014/main" id="{6CBA14D7-8891-B6AB-50FC-514EB77EBE18}"/>
                </a:ext>
              </a:extLst>
            </p:cNvPr>
            <p:cNvSpPr/>
            <p:nvPr/>
          </p:nvSpPr>
          <p:spPr>
            <a:xfrm>
              <a:off x="3738910" y="2899800"/>
              <a:ext cx="979200" cy="1058400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5">
              <a:extLst>
                <a:ext uri="{FF2B5EF4-FFF2-40B4-BE49-F238E27FC236}">
                  <a16:creationId xmlns:a16="http://schemas.microsoft.com/office/drawing/2014/main" id="{79A7E866-D502-B483-3E7F-4FDB5CFD1040}"/>
                </a:ext>
              </a:extLst>
            </p:cNvPr>
            <p:cNvSpPr/>
            <p:nvPr/>
          </p:nvSpPr>
          <p:spPr>
            <a:xfrm>
              <a:off x="3756095" y="3243859"/>
              <a:ext cx="969505" cy="646331"/>
            </a:xfrm>
            <a:prstGeom prst="rect">
              <a:avLst/>
            </a:prstGeom>
            <a:noFill/>
            <a:ln>
              <a:noFill/>
            </a:ln>
            <a:effectLst>
              <a:outerShdw blurRad="254000" dist="508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400" b="1" spc="-150" dirty="0">
                  <a:solidFill>
                    <a:srgbClr val="445469"/>
                  </a:solidFill>
                  <a:latin typeface="Noto Sans KR Medium" panose="020B0600000000000000" pitchFamily="34" charset="-128"/>
                  <a:ea typeface="Noto Sans KR Medium" panose="020B0600000000000000" pitchFamily="34" charset="-128"/>
                </a:rPr>
                <a:t>부가 서비스</a:t>
              </a:r>
              <a:br>
                <a:rPr lang="en-US" altLang="ko-KR" sz="1400" dirty="0">
                  <a:solidFill>
                    <a:srgbClr val="445469"/>
                  </a:solidFill>
                  <a:latin typeface="Noto Sans KR Medium" panose="020B0600000000000000" pitchFamily="34" charset="-128"/>
                  <a:ea typeface="Noto Sans KR Medium" panose="020B0600000000000000" pitchFamily="34" charset="-128"/>
                </a:rPr>
              </a:br>
              <a:r>
                <a:rPr lang="en-US" altLang="ko-KR" sz="1300" dirty="0">
                  <a:solidFill>
                    <a:srgbClr val="445469"/>
                  </a:solidFill>
                  <a:latin typeface="Noto Sans KR Medium" panose="020B0600000000000000" pitchFamily="34" charset="-128"/>
                  <a:ea typeface="Noto Sans KR Medium" panose="020B0600000000000000" pitchFamily="34" charset="-128"/>
                </a:rPr>
                <a:t>&amp; 3PL </a:t>
              </a:r>
              <a:r>
                <a:rPr lang="ko-KR" altLang="en-US" sz="1300" dirty="0">
                  <a:solidFill>
                    <a:srgbClr val="445469"/>
                  </a:solidFill>
                  <a:latin typeface="Noto Sans KR Medium" panose="020B0600000000000000" pitchFamily="34" charset="-128"/>
                  <a:ea typeface="Noto Sans KR Medium" panose="020B0600000000000000" pitchFamily="34" charset="-128"/>
                </a:rPr>
                <a:t>지원</a:t>
              </a:r>
            </a:p>
          </p:txBody>
        </p:sp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3FAAA95F-ADCC-A94A-5B1D-6FD902C853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02510" y="3017406"/>
              <a:ext cx="252000" cy="277846"/>
            </a:xfrm>
            <a:prstGeom prst="rect">
              <a:avLst/>
            </a:prstGeom>
          </p:spPr>
        </p:pic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EF022B58-11F9-E0EE-1A50-5CEBDF10BB0C}"/>
              </a:ext>
            </a:extLst>
          </p:cNvPr>
          <p:cNvGrpSpPr/>
          <p:nvPr/>
        </p:nvGrpSpPr>
        <p:grpSpPr>
          <a:xfrm>
            <a:off x="2776074" y="1533219"/>
            <a:ext cx="1159840" cy="1118617"/>
            <a:chOff x="2776074" y="1411299"/>
            <a:chExt cx="1159840" cy="1118617"/>
          </a:xfrm>
        </p:grpSpPr>
        <p:sp>
          <p:nvSpPr>
            <p:cNvPr id="36" name="Graphic 18">
              <a:extLst>
                <a:ext uri="{FF2B5EF4-FFF2-40B4-BE49-F238E27FC236}">
                  <a16:creationId xmlns:a16="http://schemas.microsoft.com/office/drawing/2014/main" id="{72265FC0-4E67-2027-FA0E-2AED5C16FCC8}"/>
                </a:ext>
              </a:extLst>
            </p:cNvPr>
            <p:cNvSpPr/>
            <p:nvPr/>
          </p:nvSpPr>
          <p:spPr>
            <a:xfrm>
              <a:off x="2877057" y="1473030"/>
              <a:ext cx="980555" cy="1056886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4130F59-7CDE-8674-D535-708D7119FC17}"/>
                </a:ext>
              </a:extLst>
            </p:cNvPr>
            <p:cNvSpPr txBox="1"/>
            <p:nvPr/>
          </p:nvSpPr>
          <p:spPr>
            <a:xfrm>
              <a:off x="2776074" y="1411299"/>
              <a:ext cx="115984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6600" b="1" dirty="0">
                <a:gradFill flip="none" rotWithShape="1">
                  <a:gsLst>
                    <a:gs pos="15000">
                      <a:srgbClr val="111029">
                        <a:alpha val="15000"/>
                      </a:srgbClr>
                    </a:gs>
                    <a:gs pos="78000">
                      <a:srgbClr val="111029">
                        <a:alpha val="0"/>
                      </a:srgbClr>
                    </a:gs>
                  </a:gsLst>
                  <a:lin ang="5400000" scaled="1"/>
                  <a:tileRect/>
                </a:gra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39" name="Rectangle 15">
              <a:extLst>
                <a:ext uri="{FF2B5EF4-FFF2-40B4-BE49-F238E27FC236}">
                  <a16:creationId xmlns:a16="http://schemas.microsoft.com/office/drawing/2014/main" id="{3CE01664-C402-58CC-C29F-F4F43B398743}"/>
                </a:ext>
              </a:extLst>
            </p:cNvPr>
            <p:cNvSpPr/>
            <p:nvPr/>
          </p:nvSpPr>
          <p:spPr>
            <a:xfrm>
              <a:off x="2906339" y="1880253"/>
              <a:ext cx="93414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40AB66"/>
                  </a:solidFill>
                  <a:latin typeface="Noto Sans KR Bold" panose="020B0600000000000000" pitchFamily="34" charset="-128"/>
                  <a:ea typeface="Noto Sans KR Bold" panose="020B0600000000000000" pitchFamily="34" charset="-128"/>
                </a:rPr>
                <a:t>창고관리</a:t>
              </a:r>
              <a:r>
                <a:rPr lang="en-US" altLang="ko-KR" sz="1400" dirty="0">
                  <a:solidFill>
                    <a:srgbClr val="40AB66"/>
                  </a:solidFill>
                  <a:latin typeface="Noto Sans KR Bold" panose="020B0600000000000000" pitchFamily="34" charset="-128"/>
                  <a:ea typeface="Noto Sans KR Bold" panose="020B0600000000000000" pitchFamily="34" charset="-128"/>
                </a:rPr>
                <a:t> </a:t>
              </a:r>
              <a:r>
                <a:rPr lang="ko-KR" altLang="en-US" sz="1400" dirty="0">
                  <a:solidFill>
                    <a:srgbClr val="445469"/>
                  </a:solidFill>
                  <a:latin typeface="Noto Sans KR Medium" panose="020B0600000000000000" pitchFamily="34" charset="-128"/>
                  <a:ea typeface="Noto Sans KR Medium" panose="020B0600000000000000" pitchFamily="34" charset="-128"/>
                </a:rPr>
                <a:t>프로세스</a:t>
              </a:r>
              <a:endParaRPr lang="ko-KR" altLang="en-US" sz="1400" spc="0" dirty="0">
                <a:solidFill>
                  <a:srgbClr val="40AB66"/>
                </a:solidFill>
                <a:latin typeface="Noto Sans KR Bold" panose="020B0600000000000000" pitchFamily="34" charset="-128"/>
                <a:ea typeface="Noto Sans KR Bold" panose="020B0600000000000000" pitchFamily="34" charset="-128"/>
              </a:endParaRPr>
            </a:p>
          </p:txBody>
        </p:sp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8381D784-B03D-8617-292E-616F4A51C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93994" y="1617834"/>
              <a:ext cx="324000" cy="226047"/>
            </a:xfrm>
            <a:prstGeom prst="rect">
              <a:avLst/>
            </a:prstGeom>
          </p:spPr>
        </p:pic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5D051E64-9F80-7C88-0795-28131B541334}"/>
              </a:ext>
            </a:extLst>
          </p:cNvPr>
          <p:cNvGrpSpPr/>
          <p:nvPr/>
        </p:nvGrpSpPr>
        <p:grpSpPr>
          <a:xfrm>
            <a:off x="5970086" y="1533219"/>
            <a:ext cx="979200" cy="1058400"/>
            <a:chOff x="5970086" y="1411299"/>
            <a:chExt cx="979200" cy="1058400"/>
          </a:xfrm>
        </p:grpSpPr>
        <p:sp>
          <p:nvSpPr>
            <p:cNvPr id="33" name="Graphic 18">
              <a:extLst>
                <a:ext uri="{FF2B5EF4-FFF2-40B4-BE49-F238E27FC236}">
                  <a16:creationId xmlns:a16="http://schemas.microsoft.com/office/drawing/2014/main" id="{2A13D94A-CC8C-FF4F-57D7-3264814AB4BE}"/>
                </a:ext>
              </a:extLst>
            </p:cNvPr>
            <p:cNvSpPr/>
            <p:nvPr/>
          </p:nvSpPr>
          <p:spPr>
            <a:xfrm>
              <a:off x="5970086" y="1411299"/>
              <a:ext cx="979200" cy="1058400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22">
              <a:extLst>
                <a:ext uri="{FF2B5EF4-FFF2-40B4-BE49-F238E27FC236}">
                  <a16:creationId xmlns:a16="http://schemas.microsoft.com/office/drawing/2014/main" id="{AF55474F-B619-BA20-FBFE-02A01ACB7E6E}"/>
                </a:ext>
              </a:extLst>
            </p:cNvPr>
            <p:cNvSpPr/>
            <p:nvPr/>
          </p:nvSpPr>
          <p:spPr>
            <a:xfrm>
              <a:off x="6014973" y="1940499"/>
              <a:ext cx="889426" cy="333992"/>
            </a:xfrm>
            <a:prstGeom prst="rect">
              <a:avLst/>
            </a:prstGeom>
            <a:noFill/>
            <a:ln>
              <a:noFill/>
            </a:ln>
            <a:effectLst>
              <a:outerShdw blurRad="254000" dist="508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rgbClr val="445469"/>
                  </a:solidFill>
                  <a:latin typeface="Noto Sans KR Medium" panose="020B0600000000000000" pitchFamily="34" charset="-128"/>
                  <a:ea typeface="Noto Sans KR Medium" panose="020B0600000000000000" pitchFamily="34" charset="-128"/>
                </a:rPr>
                <a:t>모니터링</a:t>
              </a:r>
              <a:r>
                <a:rPr lang="en-US" altLang="ko-KR" sz="1500" spc="0" dirty="0">
                  <a:solidFill>
                    <a:srgbClr val="445469"/>
                  </a:solidFill>
                  <a:latin typeface="Noto Sans KR Medium" panose="020B0600000000000000" pitchFamily="34" charset="-128"/>
                  <a:ea typeface="Noto Sans KR Medium" panose="020B0600000000000000" pitchFamily="34" charset="-128"/>
                </a:rPr>
                <a:t> &amp; API</a:t>
              </a:r>
            </a:p>
          </p:txBody>
        </p:sp>
        <p:pic>
          <p:nvPicPr>
            <p:cNvPr id="62" name="그림 61">
              <a:extLst>
                <a:ext uri="{FF2B5EF4-FFF2-40B4-BE49-F238E27FC236}">
                  <a16:creationId xmlns:a16="http://schemas.microsoft.com/office/drawing/2014/main" id="{A6AF0D37-94FB-4321-0F31-597D952E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686" y="1587214"/>
              <a:ext cx="288000" cy="221539"/>
            </a:xfrm>
            <a:prstGeom prst="rect">
              <a:avLst/>
            </a:prstGeom>
          </p:spPr>
        </p:pic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CF71DEC0-ED6D-5863-097B-B9418E862D2B}"/>
              </a:ext>
            </a:extLst>
          </p:cNvPr>
          <p:cNvGrpSpPr/>
          <p:nvPr/>
        </p:nvGrpSpPr>
        <p:grpSpPr>
          <a:xfrm>
            <a:off x="5155476" y="3062060"/>
            <a:ext cx="996784" cy="1058400"/>
            <a:chOff x="5155476" y="2940140"/>
            <a:chExt cx="996784" cy="1058400"/>
          </a:xfrm>
        </p:grpSpPr>
        <p:sp>
          <p:nvSpPr>
            <p:cNvPr id="30" name="Graphic 18">
              <a:extLst>
                <a:ext uri="{FF2B5EF4-FFF2-40B4-BE49-F238E27FC236}">
                  <a16:creationId xmlns:a16="http://schemas.microsoft.com/office/drawing/2014/main" id="{1DA81B9D-08BE-C6A9-4606-C987D083BE5A}"/>
                </a:ext>
              </a:extLst>
            </p:cNvPr>
            <p:cNvSpPr/>
            <p:nvPr/>
          </p:nvSpPr>
          <p:spPr>
            <a:xfrm>
              <a:off x="5173060" y="2940140"/>
              <a:ext cx="979200" cy="1058400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28">
              <a:extLst>
                <a:ext uri="{FF2B5EF4-FFF2-40B4-BE49-F238E27FC236}">
                  <a16:creationId xmlns:a16="http://schemas.microsoft.com/office/drawing/2014/main" id="{4326A661-0C67-A997-4F27-1068439452A0}"/>
                </a:ext>
              </a:extLst>
            </p:cNvPr>
            <p:cNvSpPr/>
            <p:nvPr/>
          </p:nvSpPr>
          <p:spPr>
            <a:xfrm>
              <a:off x="5155476" y="3350565"/>
              <a:ext cx="996784" cy="548334"/>
            </a:xfrm>
            <a:prstGeom prst="rect">
              <a:avLst/>
            </a:prstGeom>
            <a:noFill/>
            <a:ln>
              <a:noFill/>
            </a:ln>
            <a:effectLst>
              <a:outerShdw blurRad="254000" dist="508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400" b="1" spc="-150" dirty="0">
                  <a:solidFill>
                    <a:srgbClr val="40AB66"/>
                  </a:solidFill>
                  <a:latin typeface="Noto Sans KR Bold" panose="020B0600000000000000" pitchFamily="34" charset="-128"/>
                  <a:ea typeface="Noto Sans KR Bold" panose="020B0600000000000000" pitchFamily="34" charset="-128"/>
                </a:rPr>
                <a:t>출고서비스</a:t>
              </a:r>
              <a:br>
                <a:rPr lang="en-US" altLang="ko-KR" sz="1400" b="1" dirty="0">
                  <a:solidFill>
                    <a:srgbClr val="40AB66"/>
                  </a:solidFill>
                  <a:latin typeface="Noto Sans KR Bold" panose="020B0600000000000000" pitchFamily="34" charset="-128"/>
                  <a:ea typeface="Noto Sans KR Bold" panose="020B0600000000000000" pitchFamily="34" charset="-128"/>
                </a:rPr>
              </a:br>
              <a:r>
                <a:rPr lang="en-US" altLang="ko-KR" sz="1400" b="1" dirty="0">
                  <a:solidFill>
                    <a:srgbClr val="445469"/>
                  </a:solidFill>
                  <a:latin typeface="Noto Sans KR Medium" panose="020B0600000000000000" pitchFamily="34" charset="-128"/>
                  <a:ea typeface="Noto Sans KR Medium" panose="020B0600000000000000" pitchFamily="34" charset="-128"/>
                </a:rPr>
                <a:t>(</a:t>
              </a:r>
              <a:r>
                <a:rPr lang="en-US" altLang="ko-KR" sz="1400" dirty="0">
                  <a:solidFill>
                    <a:srgbClr val="445469"/>
                  </a:solidFill>
                  <a:latin typeface="Noto Sans KR Medium" panose="020B0600000000000000" pitchFamily="34" charset="-128"/>
                  <a:ea typeface="Noto Sans KR Medium" panose="020B0600000000000000" pitchFamily="34" charset="-128"/>
                </a:rPr>
                <a:t>WCS)</a:t>
              </a:r>
              <a:endParaRPr lang="en-US" altLang="ko-KR" sz="1600" b="1" dirty="0">
                <a:solidFill>
                  <a:srgbClr val="40AB66"/>
                </a:solidFill>
                <a:latin typeface="Noto Sans KR Bold" panose="020B0600000000000000" pitchFamily="34" charset="-128"/>
                <a:ea typeface="Noto Sans KR Bold" panose="020B0600000000000000" pitchFamily="34" charset="-128"/>
              </a:endParaRPr>
            </a:p>
          </p:txBody>
        </p:sp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6E306FB5-1559-AF85-F98A-DA239A396AA0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09660" y="3082216"/>
              <a:ext cx="306000" cy="288000"/>
            </a:xfrm>
            <a:prstGeom prst="rect">
              <a:avLst/>
            </a:prstGeom>
          </p:spPr>
        </p:pic>
      </p:grpSp>
      <p:sp>
        <p:nvSpPr>
          <p:cNvPr id="69" name="모서리가 둥근 직사각형 11">
            <a:extLst>
              <a:ext uri="{FF2B5EF4-FFF2-40B4-BE49-F238E27FC236}">
                <a16:creationId xmlns:a16="http://schemas.microsoft.com/office/drawing/2014/main" id="{E294B568-41BC-4FCA-A541-C22BEFEE4EBA}"/>
              </a:ext>
            </a:extLst>
          </p:cNvPr>
          <p:cNvSpPr/>
          <p:nvPr/>
        </p:nvSpPr>
        <p:spPr bwMode="auto">
          <a:xfrm>
            <a:off x="2524904" y="4306573"/>
            <a:ext cx="2200696" cy="1394666"/>
          </a:xfrm>
          <a:prstGeom prst="roundRect">
            <a:avLst>
              <a:gd name="adj" fmla="val 5854"/>
            </a:avLst>
          </a:prstGeom>
          <a:noFill/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부가 서비스 </a:t>
            </a:r>
            <a:r>
              <a:rPr kumimoji="1" lang="en-US" altLang="ko-KR" sz="1200" b="1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&amp; 3PL </a:t>
            </a:r>
            <a:r>
              <a:rPr kumimoji="1" lang="ko-KR" altLang="en-US" sz="1200" b="1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지원</a:t>
            </a:r>
            <a:endParaRPr kumimoji="1" lang="en-US" altLang="ko-KR" sz="1200" b="1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lvl="0" indent="-171450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Clr>
                <a:srgbClr val="00B2B2"/>
              </a:buClr>
              <a:buFont typeface="Arial" panose="020B0604020202020204" pitchFamily="34" charset="0"/>
              <a:buChar char="•"/>
            </a:pPr>
            <a: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 P L  </a:t>
            </a: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업무 확장을 위한 </a:t>
            </a:r>
            <a:r>
              <a:rPr kumimoji="1" lang="ko-KR" altLang="en-US" sz="1100" dirty="0" err="1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화주사</a:t>
            </a:r>
            <a: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b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창고별 옵션</a:t>
            </a:r>
            <a:endParaRPr kumimoji="1" lang="en-US" altLang="ko-KR" sz="110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lvl="0" indent="-171450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Clr>
                <a:srgbClr val="00B2B2"/>
              </a:buClr>
              <a:buFont typeface="Arial" panose="020B0604020202020204" pitchFamily="34" charset="0"/>
              <a:buChar char="•"/>
            </a:pP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창고에 맞는 정산 커스터마이징</a:t>
            </a:r>
            <a:endParaRPr kumimoji="1" lang="en-US" altLang="ko-KR" sz="110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lvl="0" indent="-171450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Clr>
                <a:srgbClr val="00B2B2"/>
              </a:buClr>
              <a:buFont typeface="Arial" panose="020B0604020202020204" pitchFamily="34" charset="0"/>
              <a:buChar char="•"/>
            </a:pP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유통 가공 서비스</a:t>
            </a:r>
            <a:endParaRPr kumimoji="1" lang="en-US" altLang="ko-KR" sz="110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lvl="0" indent="-171450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Clr>
                <a:srgbClr val="00B2B2"/>
              </a:buClr>
              <a:buFont typeface="Arial" panose="020B0604020202020204" pitchFamily="34" charset="0"/>
              <a:buChar char="•"/>
            </a:pP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작업용 </a:t>
            </a:r>
            <a: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PDA </a:t>
            </a: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제공</a:t>
            </a:r>
            <a:endParaRPr kumimoji="1" lang="en-US" altLang="ko-KR" sz="110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0" name="모서리가 둥근 직사각형 11">
            <a:extLst>
              <a:ext uri="{FF2B5EF4-FFF2-40B4-BE49-F238E27FC236}">
                <a16:creationId xmlns:a16="http://schemas.microsoft.com/office/drawing/2014/main" id="{F83EFFF7-1B96-8C82-374C-237426A98B14}"/>
              </a:ext>
            </a:extLst>
          </p:cNvPr>
          <p:cNvSpPr/>
          <p:nvPr/>
        </p:nvSpPr>
        <p:spPr bwMode="auto">
          <a:xfrm>
            <a:off x="5509660" y="4372280"/>
            <a:ext cx="2436336" cy="1394666"/>
          </a:xfrm>
          <a:prstGeom prst="roundRect">
            <a:avLst>
              <a:gd name="adj" fmla="val 5854"/>
            </a:avLst>
          </a:prstGeom>
          <a:noFill/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전문 출고 서비스 </a:t>
            </a:r>
            <a:r>
              <a:rPr kumimoji="1" lang="en-US" altLang="ko-KR" sz="12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(WCS)</a:t>
            </a:r>
          </a:p>
          <a:p>
            <a:pPr marL="171450" lvl="0" indent="-171450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Clr>
                <a:srgbClr val="00B2B2"/>
              </a:buClr>
              <a:buFont typeface="Arial" panose="020B0604020202020204" pitchFamily="34" charset="0"/>
              <a:buChar char="•"/>
            </a:pP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별도 서비스</a:t>
            </a:r>
            <a:endParaRPr kumimoji="1" lang="en-US" altLang="ko-KR" sz="110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lvl="0" indent="-171450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Clr>
                <a:srgbClr val="00B2B2"/>
              </a:buClr>
              <a:buFont typeface="Arial" panose="020B0604020202020204" pitchFamily="34" charset="0"/>
              <a:buChar char="•"/>
            </a:pPr>
            <a: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DAS </a:t>
            </a: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 출고 분류 서비스</a:t>
            </a:r>
            <a:endParaRPr kumimoji="1" lang="en-US" altLang="ko-KR" sz="110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lvl="0" indent="-171450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Clr>
                <a:srgbClr val="00B2B2"/>
              </a:buClr>
              <a:buFont typeface="Arial" panose="020B0604020202020204" pitchFamily="34" charset="0"/>
              <a:buChar char="•"/>
            </a:pPr>
            <a: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DPS </a:t>
            </a: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 분류 서비스</a:t>
            </a:r>
            <a:endParaRPr kumimoji="1" lang="en-US" altLang="ko-KR" sz="110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lvl="0" indent="-171450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Clr>
                <a:srgbClr val="00B2B2"/>
              </a:buClr>
              <a:buFont typeface="Arial" panose="020B0604020202020204" pitchFamily="34" charset="0"/>
              <a:buChar char="•"/>
            </a:pP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수작업 기반 분류 서비스</a:t>
            </a:r>
            <a:b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1100" dirty="0" err="1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단포</a:t>
            </a:r>
            <a: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오더 피킹</a:t>
            </a:r>
            <a: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피킹 카트 등</a:t>
            </a:r>
            <a: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marL="171450" lvl="0" indent="-171450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Clr>
                <a:srgbClr val="00B2B2"/>
              </a:buClr>
              <a:buFont typeface="Arial" panose="020B0604020202020204" pitchFamily="34" charset="0"/>
              <a:buChar char="•"/>
            </a:pP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박스 추천 기능 제공</a:t>
            </a:r>
            <a:endParaRPr kumimoji="1" lang="en-US" altLang="ko-KR" sz="110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lvl="0" indent="-171450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Clr>
                <a:srgbClr val="00B2B2"/>
              </a:buClr>
              <a:buFont typeface="Arial" panose="020B0604020202020204" pitchFamily="34" charset="0"/>
              <a:buChar char="•"/>
            </a:pP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주문 처리 최적화 기능 제공</a:t>
            </a:r>
            <a:endParaRPr kumimoji="1" lang="en-US" altLang="ko-KR" sz="110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1" name="모서리가 둥근 직사각형 11">
            <a:extLst>
              <a:ext uri="{FF2B5EF4-FFF2-40B4-BE49-F238E27FC236}">
                <a16:creationId xmlns:a16="http://schemas.microsoft.com/office/drawing/2014/main" id="{FCFB0C92-E658-9C59-C15E-63AB77C77F97}"/>
              </a:ext>
            </a:extLst>
          </p:cNvPr>
          <p:cNvSpPr/>
          <p:nvPr/>
        </p:nvSpPr>
        <p:spPr bwMode="auto">
          <a:xfrm>
            <a:off x="7086084" y="1744660"/>
            <a:ext cx="2200696" cy="1394666"/>
          </a:xfrm>
          <a:prstGeom prst="roundRect">
            <a:avLst>
              <a:gd name="adj" fmla="val 5854"/>
            </a:avLst>
          </a:prstGeom>
          <a:noFill/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</a:t>
            </a:r>
            <a:r>
              <a:rPr kumimoji="1" lang="en-US" altLang="ko-KR" sz="1200" b="1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&amp;</a:t>
            </a:r>
            <a:r>
              <a:rPr kumimoji="1" lang="ko-KR" altLang="en-US" sz="1200" b="1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200" b="1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API</a:t>
            </a:r>
            <a:endParaRPr kumimoji="1" lang="en-US" altLang="ko-KR" sz="120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lvl="0" indent="-171450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Clr>
                <a:srgbClr val="00B2B2"/>
              </a:buClr>
              <a:buFont typeface="Arial" panose="020B0604020202020204" pitchFamily="34" charset="0"/>
              <a:buChar char="•"/>
            </a:pPr>
            <a: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3D </a:t>
            </a: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재고 모니터링</a:t>
            </a:r>
            <a:endParaRPr kumimoji="1" lang="en-US" altLang="ko-KR" sz="110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lvl="0" indent="-171450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Clr>
                <a:srgbClr val="00B2B2"/>
              </a:buClr>
              <a:buFont typeface="Arial" panose="020B0604020202020204" pitchFamily="34" charset="0"/>
              <a:buChar char="•"/>
            </a:pPr>
            <a:r>
              <a:rPr kumimoji="1" lang="ko-KR" altLang="en-US" sz="1100" dirty="0" err="1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현황판</a:t>
            </a:r>
            <a:endParaRPr kumimoji="1" lang="en-US" altLang="ko-KR" sz="110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lvl="0" indent="-171450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Clr>
                <a:srgbClr val="00B2B2"/>
              </a:buClr>
              <a:buFont typeface="Arial" panose="020B0604020202020204" pitchFamily="34" charset="0"/>
              <a:buChar char="•"/>
            </a:pP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주문 수집 </a:t>
            </a:r>
            <a: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API </a:t>
            </a: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연동</a:t>
            </a:r>
            <a:endParaRPr kumimoji="1" lang="en-US" altLang="ko-KR" sz="110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lvl="0" indent="-171450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Clr>
                <a:srgbClr val="00B2B2"/>
              </a:buClr>
              <a:buFont typeface="Arial" panose="020B0604020202020204" pitchFamily="34" charset="0"/>
              <a:buChar char="•"/>
            </a:pP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송장 </a:t>
            </a:r>
            <a: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API </a:t>
            </a: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연동</a:t>
            </a:r>
            <a:endParaRPr kumimoji="1" lang="en-US" altLang="ko-KR" sz="110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lvl="0" indent="-171450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Clr>
                <a:srgbClr val="00B2B2"/>
              </a:buClr>
              <a:buFont typeface="Arial" panose="020B0604020202020204" pitchFamily="34" charset="0"/>
              <a:buChar char="•"/>
            </a:pP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외부 서비스 연동을 위한 </a:t>
            </a:r>
            <a:r>
              <a:rPr kumimoji="1" lang="en-US" altLang="ko-KR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API </a:t>
            </a:r>
            <a:r>
              <a:rPr kumimoji="1" lang="ko-KR" altLang="en-US" sz="1100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제공</a:t>
            </a:r>
            <a:endParaRPr kumimoji="1" lang="en-US" altLang="ko-KR" sz="1100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8200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8AB5582-5E0B-F63E-1D3F-FEA1225C5D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19565" y="828126"/>
            <a:ext cx="3866870" cy="2196000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BC0E12F3-BCA7-0D41-A130-B2492A838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기준 정보 </a:t>
            </a:r>
            <a:r>
              <a:rPr kumimoji="1" lang="en-US" altLang="ko-KR" dirty="0"/>
              <a:t>-</a:t>
            </a:r>
            <a:r>
              <a:rPr kumimoji="1" lang="ko-KR" altLang="en-US" dirty="0"/>
              <a:t> 화면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516324-89FF-3840-ABF7-75AA0AD2A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/>
              <a:t>8</a:t>
            </a:fld>
            <a:endParaRPr kumimoji="1" lang="ko-KR" altLang="en-US"/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87E9AB77-0987-B763-09D0-CAE8F4787A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934" y="2217035"/>
            <a:ext cx="3177905" cy="2196000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B43343C4-7551-481C-A606-16C48833101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1804" y="2217035"/>
            <a:ext cx="3513600" cy="2196000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66" name="Rounded Rectangle 57">
            <a:extLst>
              <a:ext uri="{FF2B5EF4-FFF2-40B4-BE49-F238E27FC236}">
                <a16:creationId xmlns:a16="http://schemas.microsoft.com/office/drawing/2014/main" id="{E78DAF3D-0B87-7B98-5824-39604B7C7A49}"/>
              </a:ext>
            </a:extLst>
          </p:cNvPr>
          <p:cNvSpPr/>
          <p:nvPr/>
        </p:nvSpPr>
        <p:spPr>
          <a:xfrm>
            <a:off x="662814" y="3429000"/>
            <a:ext cx="612000" cy="252000"/>
          </a:xfrm>
          <a:prstGeom prst="roundRect">
            <a:avLst>
              <a:gd name="adj" fmla="val 28912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50" kern="0" dirty="0" err="1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화주사</a:t>
            </a:r>
            <a:endParaRPr lang="ko-KR" altLang="en-US" sz="105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7" name="Rounded Rectangle 57">
            <a:extLst>
              <a:ext uri="{FF2B5EF4-FFF2-40B4-BE49-F238E27FC236}">
                <a16:creationId xmlns:a16="http://schemas.microsoft.com/office/drawing/2014/main" id="{F75891F6-28D8-FAB7-D6CB-38585D24BC8C}"/>
              </a:ext>
            </a:extLst>
          </p:cNvPr>
          <p:cNvSpPr/>
          <p:nvPr/>
        </p:nvSpPr>
        <p:spPr>
          <a:xfrm>
            <a:off x="8829603" y="3429000"/>
            <a:ext cx="540000" cy="252000"/>
          </a:xfrm>
          <a:prstGeom prst="roundRect">
            <a:avLst>
              <a:gd name="adj" fmla="val 28912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5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거래처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71FE78C-0938-6D20-1F4E-85AF3294EF57}"/>
              </a:ext>
            </a:extLst>
          </p:cNvPr>
          <p:cNvGrpSpPr/>
          <p:nvPr/>
        </p:nvGrpSpPr>
        <p:grpSpPr>
          <a:xfrm>
            <a:off x="1421788" y="4040179"/>
            <a:ext cx="3501534" cy="2322000"/>
            <a:chOff x="1086999" y="3875076"/>
            <a:chExt cx="3501534" cy="2322000"/>
          </a:xfrm>
        </p:grpSpPr>
        <p:pic>
          <p:nvPicPr>
            <p:cNvPr id="63" name="그림 62">
              <a:extLst>
                <a:ext uri="{FF2B5EF4-FFF2-40B4-BE49-F238E27FC236}">
                  <a16:creationId xmlns:a16="http://schemas.microsoft.com/office/drawing/2014/main" id="{3FD423EB-EDE3-58F2-9103-066131DECE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86999" y="3875076"/>
              <a:ext cx="3501534" cy="2196000"/>
            </a:xfrm>
            <a:prstGeom prst="roundRect">
              <a:avLst>
                <a:gd name="adj" fmla="val 3782"/>
              </a:avLst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pic>
        <p:sp>
          <p:nvSpPr>
            <p:cNvPr id="68" name="Rounded Rectangle 57">
              <a:extLst>
                <a:ext uri="{FF2B5EF4-FFF2-40B4-BE49-F238E27FC236}">
                  <a16:creationId xmlns:a16="http://schemas.microsoft.com/office/drawing/2014/main" id="{E840294A-197D-650E-74D9-B7B90C7C6002}"/>
                </a:ext>
              </a:extLst>
            </p:cNvPr>
            <p:cNvSpPr/>
            <p:nvPr/>
          </p:nvSpPr>
          <p:spPr>
            <a:xfrm>
              <a:off x="2531766" y="5945076"/>
              <a:ext cx="612000" cy="252000"/>
            </a:xfrm>
            <a:prstGeom prst="roundRect">
              <a:avLst>
                <a:gd name="adj" fmla="val 28912"/>
              </a:avLst>
            </a:prstGeom>
            <a:gradFill rotWithShape="1">
              <a:gsLst>
                <a:gs pos="0">
                  <a:srgbClr val="322F36"/>
                </a:gs>
                <a:gs pos="100000">
                  <a:srgbClr val="625C6B"/>
                </a:gs>
              </a:gsLst>
              <a:lin ang="16200000" scaled="0"/>
            </a:gradFill>
            <a:ln w="9525" cap="flat" cmpd="sng" algn="ctr">
              <a:solidFill>
                <a:srgbClr val="3B374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200" latinLnBrk="0"/>
              <a:r>
                <a:rPr lang="ko-KR" altLang="en-US" sz="1050" kern="0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상품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53464BB6-0F3D-E655-6608-B5164081C6AB}"/>
              </a:ext>
            </a:extLst>
          </p:cNvPr>
          <p:cNvGrpSpPr/>
          <p:nvPr/>
        </p:nvGrpSpPr>
        <p:grpSpPr>
          <a:xfrm>
            <a:off x="5257582" y="4040179"/>
            <a:ext cx="3501535" cy="2322000"/>
            <a:chOff x="5554978" y="3875076"/>
            <a:chExt cx="3501535" cy="2322000"/>
          </a:xfrm>
        </p:grpSpPr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ED01C540-57C6-6933-900D-A0CF6ABDDD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54978" y="3875076"/>
              <a:ext cx="3501535" cy="2196000"/>
            </a:xfrm>
            <a:prstGeom prst="roundRect">
              <a:avLst>
                <a:gd name="adj" fmla="val 3782"/>
              </a:avLst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pic>
        <p:sp>
          <p:nvSpPr>
            <p:cNvPr id="69" name="Rounded Rectangle 57">
              <a:extLst>
                <a:ext uri="{FF2B5EF4-FFF2-40B4-BE49-F238E27FC236}">
                  <a16:creationId xmlns:a16="http://schemas.microsoft.com/office/drawing/2014/main" id="{6BC20348-FC29-00BF-54A7-ED1A899998CF}"/>
                </a:ext>
              </a:extLst>
            </p:cNvPr>
            <p:cNvSpPr/>
            <p:nvPr/>
          </p:nvSpPr>
          <p:spPr>
            <a:xfrm>
              <a:off x="6909745" y="5945076"/>
              <a:ext cx="792000" cy="252000"/>
            </a:xfrm>
            <a:prstGeom prst="roundRect">
              <a:avLst>
                <a:gd name="adj" fmla="val 28912"/>
              </a:avLst>
            </a:prstGeom>
            <a:gradFill rotWithShape="1">
              <a:gsLst>
                <a:gs pos="0">
                  <a:srgbClr val="322F36"/>
                </a:gs>
                <a:gs pos="100000">
                  <a:srgbClr val="625C6B"/>
                </a:gs>
              </a:gsLst>
              <a:lin ang="16200000" scaled="0"/>
            </a:gradFill>
            <a:ln w="9525" cap="flat" cmpd="sng" algn="ctr">
              <a:solidFill>
                <a:srgbClr val="3B374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457200" latinLnBrk="0"/>
              <a:r>
                <a:rPr lang="ko-KR" altLang="en-US" sz="1050" kern="0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로케이션</a:t>
              </a:r>
            </a:p>
          </p:txBody>
        </p:sp>
      </p:grpSp>
      <p:sp>
        <p:nvSpPr>
          <p:cNvPr id="71" name="Rounded Rectangle 57">
            <a:extLst>
              <a:ext uri="{FF2B5EF4-FFF2-40B4-BE49-F238E27FC236}">
                <a16:creationId xmlns:a16="http://schemas.microsoft.com/office/drawing/2014/main" id="{F076AC7A-7F1F-6316-09B8-48A25AB6B13E}"/>
              </a:ext>
            </a:extLst>
          </p:cNvPr>
          <p:cNvSpPr/>
          <p:nvPr/>
        </p:nvSpPr>
        <p:spPr>
          <a:xfrm>
            <a:off x="4647000" y="2917872"/>
            <a:ext cx="612000" cy="252000"/>
          </a:xfrm>
          <a:prstGeom prst="roundRect">
            <a:avLst>
              <a:gd name="adj" fmla="val 28912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50" kern="0" dirty="0" err="1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도크</a:t>
            </a:r>
            <a:endParaRPr lang="ko-KR" altLang="en-US" sz="105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5060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FA059-6BE6-BCDF-71C4-275DADA8D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37BA8FFF-A6F1-AFEC-7861-58481AF9A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입고 프로세스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2E38DF-5A7F-D65A-60EF-C6F24888AE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/>
              <a:t>9</a:t>
            </a:fld>
            <a:endParaRPr kumimoji="1" lang="ko-KR" altLang="en-US"/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06600C7F-3E74-4505-338F-5B63FC0CB81C}"/>
              </a:ext>
            </a:extLst>
          </p:cNvPr>
          <p:cNvSpPr txBox="1"/>
          <p:nvPr/>
        </p:nvSpPr>
        <p:spPr>
          <a:xfrm>
            <a:off x="4819147" y="424605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 anchor="ctr">
            <a:noAutofit/>
          </a:bodyPr>
          <a:lstStyle/>
          <a:p>
            <a:pPr algn="ctr"/>
            <a:endParaRPr kumimoji="1" lang="ko-KR" altLang="en-US" sz="1600" dirty="0">
              <a:solidFill>
                <a:schemeClr val="bg2">
                  <a:lumMod val="75000"/>
                </a:schemeClr>
              </a:solidFill>
              <a:latin typeface="+mn-ea"/>
              <a:cs typeface="Hankook TTF Medium"/>
              <a:sym typeface="Hankook TTF Medium"/>
            </a:endParaRPr>
          </a:p>
        </p:txBody>
      </p:sp>
      <p:sp>
        <p:nvSpPr>
          <p:cNvPr id="1144" name="Rectangle 55">
            <a:extLst>
              <a:ext uri="{FF2B5EF4-FFF2-40B4-BE49-F238E27FC236}">
                <a16:creationId xmlns:a16="http://schemas.microsoft.com/office/drawing/2014/main" id="{896F28D9-DC2C-A372-217A-887835EA5030}"/>
              </a:ext>
            </a:extLst>
          </p:cNvPr>
          <p:cNvSpPr/>
          <p:nvPr/>
        </p:nvSpPr>
        <p:spPr>
          <a:xfrm>
            <a:off x="6800852" y="4601787"/>
            <a:ext cx="3017520" cy="1828800"/>
          </a:xfrm>
          <a:prstGeom prst="rect">
            <a:avLst/>
          </a:prstGeom>
          <a:noFill/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EEE5231D-1768-5049-8089-C34F2998DB82}"/>
              </a:ext>
            </a:extLst>
          </p:cNvPr>
          <p:cNvGrpSpPr/>
          <p:nvPr/>
        </p:nvGrpSpPr>
        <p:grpSpPr>
          <a:xfrm>
            <a:off x="418340" y="1017933"/>
            <a:ext cx="1332000" cy="483936"/>
            <a:chOff x="418340" y="1379023"/>
            <a:chExt cx="1332000" cy="483936"/>
          </a:xfrm>
        </p:grpSpPr>
        <p:sp>
          <p:nvSpPr>
            <p:cNvPr id="3" name="Pentagon 32">
              <a:extLst>
                <a:ext uri="{FF2B5EF4-FFF2-40B4-BE49-F238E27FC236}">
                  <a16:creationId xmlns:a16="http://schemas.microsoft.com/office/drawing/2014/main" id="{B2F4025E-8578-EC54-AA16-7E46A5748979}"/>
                </a:ext>
              </a:extLst>
            </p:cNvPr>
            <p:cNvSpPr/>
            <p:nvPr/>
          </p:nvSpPr>
          <p:spPr>
            <a:xfrm>
              <a:off x="418340" y="1379023"/>
              <a:ext cx="1332000" cy="483936"/>
            </a:xfrm>
            <a:prstGeom prst="homePlate">
              <a:avLst>
                <a:gd name="adj" fmla="val 26606"/>
              </a:avLst>
            </a:prstGeom>
            <a:gradFill flip="none" rotWithShape="1">
              <a:gsLst>
                <a:gs pos="0">
                  <a:srgbClr val="322F36">
                    <a:alpha val="76000"/>
                  </a:srgbClr>
                </a:gs>
                <a:gs pos="100000">
                  <a:srgbClr val="625C6B">
                    <a:alpha val="76000"/>
                  </a:srgbClr>
                </a:gs>
              </a:gsLst>
              <a:lin ang="16200000" scaled="0"/>
              <a:tileRect/>
            </a:gradFill>
            <a:ln w="9525" cap="flat" cmpd="sng" algn="ctr">
              <a:solidFill>
                <a:srgbClr val="3B374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503999" tIns="0" rIns="0" bIns="0" rtlCol="0" anchor="ctr"/>
            <a:lstStyle/>
            <a:p>
              <a:pPr defTabSz="457200" latinLnBrk="0"/>
              <a:r>
                <a:rPr lang="ko-KR" altLang="en-US" sz="1100" kern="0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입고 예정</a:t>
              </a:r>
              <a:br>
                <a:rPr lang="en-US" altLang="ko-KR" sz="1100" kern="0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ko-KR" altLang="en-US" sz="1100" b="1" kern="0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등록</a:t>
              </a:r>
              <a:r>
                <a:rPr lang="en-US" altLang="ko-KR" sz="1100" b="1" kern="0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ko-KR" altLang="en-US" sz="1100" b="1" kern="0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수신</a:t>
              </a:r>
              <a:endParaRPr lang="en-US" sz="11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2" name="그래픽 11">
              <a:extLst>
                <a:ext uri="{FF2B5EF4-FFF2-40B4-BE49-F238E27FC236}">
                  <a16:creationId xmlns:a16="http://schemas.microsoft.com/office/drawing/2014/main" id="{423E861C-61C5-1B09-8BEA-AEBB740A7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6192" y="1460880"/>
              <a:ext cx="331364" cy="331364"/>
            </a:xfrm>
            <a:prstGeom prst="rect">
              <a:avLst/>
            </a:prstGeom>
          </p:spPr>
        </p:pic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D2C783A-8AB4-CDE0-AC50-D33C2D682EBF}"/>
              </a:ext>
            </a:extLst>
          </p:cNvPr>
          <p:cNvGrpSpPr/>
          <p:nvPr/>
        </p:nvGrpSpPr>
        <p:grpSpPr>
          <a:xfrm>
            <a:off x="1972044" y="1017933"/>
            <a:ext cx="1332000" cy="483936"/>
            <a:chOff x="1972044" y="1379023"/>
            <a:chExt cx="1332000" cy="483936"/>
          </a:xfrm>
        </p:grpSpPr>
        <p:sp>
          <p:nvSpPr>
            <p:cNvPr id="10" name="Pentagon 32">
              <a:extLst>
                <a:ext uri="{FF2B5EF4-FFF2-40B4-BE49-F238E27FC236}">
                  <a16:creationId xmlns:a16="http://schemas.microsoft.com/office/drawing/2014/main" id="{63CAF2E9-14B6-2572-99D6-853517ADD67F}"/>
                </a:ext>
              </a:extLst>
            </p:cNvPr>
            <p:cNvSpPr/>
            <p:nvPr/>
          </p:nvSpPr>
          <p:spPr>
            <a:xfrm>
              <a:off x="1972044" y="1379023"/>
              <a:ext cx="1332000" cy="483936"/>
            </a:xfrm>
            <a:prstGeom prst="homePlate">
              <a:avLst>
                <a:gd name="adj" fmla="val 26606"/>
              </a:avLst>
            </a:prstGeom>
            <a:gradFill flip="none" rotWithShape="1">
              <a:gsLst>
                <a:gs pos="0">
                  <a:srgbClr val="4484BB">
                    <a:alpha val="90000"/>
                  </a:srgbClr>
                </a:gs>
                <a:gs pos="100000">
                  <a:srgbClr val="3EB2C9">
                    <a:alpha val="70000"/>
                  </a:srgbClr>
                </a:gs>
              </a:gsLst>
              <a:lin ang="16200000" scaled="0"/>
              <a:tileRect/>
            </a:gradFill>
            <a:ln w="9525" cap="flat" cmpd="sng" algn="ctr">
              <a:solidFill>
                <a:srgbClr val="2D90C4">
                  <a:alpha val="80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503999" tIns="0" rIns="0" bIns="0" rtlCol="0" anchor="ctr"/>
            <a:lstStyle/>
            <a:p>
              <a:pPr defTabSz="457200" latinLnBrk="0"/>
              <a:r>
                <a:rPr lang="ko-KR" altLang="en-US" sz="1100" kern="0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입고 지시</a:t>
              </a:r>
              <a:br>
                <a:rPr lang="en-US" altLang="ko-KR" sz="1100" kern="0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ko-KR" altLang="en-US" sz="1100" b="1" kern="0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확정</a:t>
              </a:r>
              <a:endParaRPr lang="en-US" sz="11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7" name="Picture 62">
              <a:extLst>
                <a:ext uri="{FF2B5EF4-FFF2-40B4-BE49-F238E27FC236}">
                  <a16:creationId xmlns:a16="http://schemas.microsoft.com/office/drawing/2014/main" id="{2E7A9356-EF5C-6A4B-443C-B5DCB7D9A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090822" y="1488181"/>
              <a:ext cx="288000" cy="288000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629E8960-4387-5233-FE48-32AFA6EA87CD}"/>
              </a:ext>
            </a:extLst>
          </p:cNvPr>
          <p:cNvGrpSpPr/>
          <p:nvPr/>
        </p:nvGrpSpPr>
        <p:grpSpPr>
          <a:xfrm>
            <a:off x="3525748" y="1017933"/>
            <a:ext cx="1332000" cy="483936"/>
            <a:chOff x="3525748" y="1379023"/>
            <a:chExt cx="1332000" cy="483936"/>
          </a:xfrm>
        </p:grpSpPr>
        <p:sp>
          <p:nvSpPr>
            <p:cNvPr id="18" name="Pentagon 32">
              <a:extLst>
                <a:ext uri="{FF2B5EF4-FFF2-40B4-BE49-F238E27FC236}">
                  <a16:creationId xmlns:a16="http://schemas.microsoft.com/office/drawing/2014/main" id="{8138AD75-59E4-D35C-96C9-C403D63236C1}"/>
                </a:ext>
              </a:extLst>
            </p:cNvPr>
            <p:cNvSpPr/>
            <p:nvPr/>
          </p:nvSpPr>
          <p:spPr>
            <a:xfrm>
              <a:off x="3525748" y="1379023"/>
              <a:ext cx="1332000" cy="483936"/>
            </a:xfrm>
            <a:prstGeom prst="homePlate">
              <a:avLst>
                <a:gd name="adj" fmla="val 26606"/>
              </a:avLst>
            </a:prstGeom>
            <a:gradFill flip="none" rotWithShape="1">
              <a:gsLst>
                <a:gs pos="0">
                  <a:srgbClr val="4484BB">
                    <a:alpha val="90000"/>
                  </a:srgbClr>
                </a:gs>
                <a:gs pos="100000">
                  <a:srgbClr val="3EB2C9">
                    <a:alpha val="70000"/>
                  </a:srgbClr>
                </a:gs>
              </a:gsLst>
              <a:lin ang="16200000" scaled="0"/>
              <a:tileRect/>
            </a:gradFill>
            <a:ln w="9525" cap="flat" cmpd="sng" algn="ctr">
              <a:solidFill>
                <a:srgbClr val="2D90C4">
                  <a:alpha val="80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503999" tIns="0" rIns="0" bIns="0" rtlCol="0" anchor="ctr"/>
            <a:lstStyle/>
            <a:p>
              <a:pPr defTabSz="457200" latinLnBrk="0"/>
              <a:r>
                <a:rPr lang="ko-KR" altLang="en-US" sz="1100" kern="0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입고 지시서</a:t>
              </a:r>
              <a:br>
                <a:rPr lang="en-US" altLang="ko-KR" sz="1100" kern="0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ko-KR" altLang="en-US" sz="1100" b="1" kern="0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출력</a:t>
              </a:r>
              <a:endParaRPr lang="en-US" sz="11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3" name="Picture 60">
              <a:extLst>
                <a:ext uri="{FF2B5EF4-FFF2-40B4-BE49-F238E27FC236}">
                  <a16:creationId xmlns:a16="http://schemas.microsoft.com/office/drawing/2014/main" id="{6C2B9224-4624-2581-3A48-E84F2C719CF4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22553" y="1490153"/>
              <a:ext cx="342000" cy="276116"/>
            </a:xfrm>
            <a:prstGeom prst="rect">
              <a:avLst/>
            </a:prstGeom>
          </p:spPr>
        </p:pic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3DEB3FE-B9EB-ECAA-69E3-95B9B658E821}"/>
              </a:ext>
            </a:extLst>
          </p:cNvPr>
          <p:cNvGrpSpPr/>
          <p:nvPr/>
        </p:nvGrpSpPr>
        <p:grpSpPr>
          <a:xfrm>
            <a:off x="8186861" y="1017933"/>
            <a:ext cx="1332000" cy="483936"/>
            <a:chOff x="8186861" y="1379023"/>
            <a:chExt cx="1332000" cy="483936"/>
          </a:xfrm>
        </p:grpSpPr>
        <p:sp>
          <p:nvSpPr>
            <p:cNvPr id="20" name="Pentagon 32">
              <a:extLst>
                <a:ext uri="{FF2B5EF4-FFF2-40B4-BE49-F238E27FC236}">
                  <a16:creationId xmlns:a16="http://schemas.microsoft.com/office/drawing/2014/main" id="{7E72FAA8-CF0D-2164-D304-48D191145AE5}"/>
                </a:ext>
              </a:extLst>
            </p:cNvPr>
            <p:cNvSpPr/>
            <p:nvPr/>
          </p:nvSpPr>
          <p:spPr>
            <a:xfrm>
              <a:off x="8186861" y="1379023"/>
              <a:ext cx="1332000" cy="483936"/>
            </a:xfrm>
            <a:prstGeom prst="homePlate">
              <a:avLst>
                <a:gd name="adj" fmla="val 0"/>
              </a:avLst>
            </a:prstGeom>
            <a:gradFill flip="none" rotWithShape="1">
              <a:gsLst>
                <a:gs pos="0">
                  <a:srgbClr val="369179">
                    <a:alpha val="89804"/>
                  </a:srgbClr>
                </a:gs>
                <a:gs pos="100000">
                  <a:srgbClr val="7EC546">
                    <a:alpha val="69804"/>
                  </a:srgbClr>
                </a:gs>
              </a:gsLst>
              <a:lin ang="16200000" scaled="0"/>
              <a:tileRect/>
            </a:gradFill>
            <a:ln w="9525" cap="flat" cmpd="sng" algn="ctr">
              <a:solidFill>
                <a:srgbClr val="4CA38B">
                  <a:alpha val="80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503999" tIns="0" rIns="0" bIns="0" rtlCol="0" anchor="ctr"/>
            <a:lstStyle/>
            <a:p>
              <a:pPr defTabSz="457200" latinLnBrk="0"/>
              <a:r>
                <a:rPr lang="ko-KR" altLang="en-US" sz="1100" kern="0" dirty="0">
                  <a:solidFill>
                    <a:prstClr val="white"/>
                  </a:solidFill>
                  <a:latin typeface="Malgun Gothic" charset="0"/>
                  <a:ea typeface="Malgun Gothic" charset="0"/>
                </a:rPr>
                <a:t>적치 </a:t>
              </a:r>
              <a:r>
                <a:rPr lang="ko-KR" altLang="en-US" sz="1100" b="1" kern="0" dirty="0">
                  <a:solidFill>
                    <a:prstClr val="white"/>
                  </a:solidFill>
                  <a:latin typeface="Malgun Gothic" charset="0"/>
                  <a:ea typeface="Malgun Gothic" charset="0"/>
                </a:rPr>
                <a:t>완료</a:t>
              </a:r>
              <a:endParaRPr lang="en-US" sz="1100" b="1" kern="0" dirty="0">
                <a:solidFill>
                  <a:prstClr val="white"/>
                </a:solidFill>
                <a:latin typeface="Malgun Gothic" charset="0"/>
                <a:ea typeface="Malgun Gothic" charset="0"/>
              </a:endParaRPr>
            </a:p>
          </p:txBody>
        </p:sp>
        <p:pic>
          <p:nvPicPr>
            <p:cNvPr id="14" name="Picture 62">
              <a:extLst>
                <a:ext uri="{FF2B5EF4-FFF2-40B4-BE49-F238E27FC236}">
                  <a16:creationId xmlns:a16="http://schemas.microsoft.com/office/drawing/2014/main" id="{6C8E694C-6C6F-2561-8FCE-6E10B92752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36944" y="1475349"/>
              <a:ext cx="270000" cy="262800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442C0B5-EBF8-32ED-006A-8FB599F543AC}"/>
              </a:ext>
            </a:extLst>
          </p:cNvPr>
          <p:cNvGrpSpPr/>
          <p:nvPr/>
        </p:nvGrpSpPr>
        <p:grpSpPr>
          <a:xfrm>
            <a:off x="5079452" y="1017933"/>
            <a:ext cx="1332000" cy="483936"/>
            <a:chOff x="5079452" y="1379023"/>
            <a:chExt cx="1332000" cy="483936"/>
          </a:xfrm>
        </p:grpSpPr>
        <p:sp>
          <p:nvSpPr>
            <p:cNvPr id="19" name="Pentagon 32">
              <a:extLst>
                <a:ext uri="{FF2B5EF4-FFF2-40B4-BE49-F238E27FC236}">
                  <a16:creationId xmlns:a16="http://schemas.microsoft.com/office/drawing/2014/main" id="{93AB1D95-28ED-4287-CF95-5B1DD4AC485B}"/>
                </a:ext>
              </a:extLst>
            </p:cNvPr>
            <p:cNvSpPr/>
            <p:nvPr/>
          </p:nvSpPr>
          <p:spPr>
            <a:xfrm>
              <a:off x="5079452" y="1379023"/>
              <a:ext cx="1332000" cy="483936"/>
            </a:xfrm>
            <a:prstGeom prst="homePlate">
              <a:avLst>
                <a:gd name="adj" fmla="val 26606"/>
              </a:avLst>
            </a:prstGeom>
            <a:gradFill flip="none" rotWithShape="1">
              <a:gsLst>
                <a:gs pos="0">
                  <a:srgbClr val="4484BB">
                    <a:alpha val="90000"/>
                  </a:srgbClr>
                </a:gs>
                <a:gs pos="100000">
                  <a:srgbClr val="3EB2C9">
                    <a:alpha val="70000"/>
                  </a:srgbClr>
                </a:gs>
              </a:gsLst>
              <a:lin ang="16200000" scaled="0"/>
              <a:tileRect/>
            </a:gradFill>
            <a:ln w="9525" cap="flat" cmpd="sng" algn="ctr">
              <a:solidFill>
                <a:srgbClr val="2D90C4">
                  <a:alpha val="80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503999" tIns="0" rIns="0" bIns="0" rtlCol="0" anchor="ctr"/>
            <a:lstStyle/>
            <a:p>
              <a:pPr defTabSz="457200" latinLnBrk="0"/>
              <a:r>
                <a:rPr lang="ko-KR" altLang="en-US" sz="1100" kern="0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검수 및</a:t>
              </a:r>
              <a:endParaRPr lang="en-US" altLang="ko-KR" sz="11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defTabSz="457200" latinLnBrk="0"/>
              <a:r>
                <a:rPr lang="ko-KR" altLang="en-US" sz="1100" b="1" kern="0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입고</a:t>
              </a:r>
              <a:endParaRPr lang="en-US" sz="11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0516733F-3B40-22BF-7E8D-9F8534C04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83779" y="1501629"/>
              <a:ext cx="324000" cy="236520"/>
            </a:xfrm>
            <a:prstGeom prst="rect">
              <a:avLst/>
            </a:prstGeom>
          </p:spPr>
        </p:pic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1B851CA-EA17-D306-6511-9F0812222A2D}"/>
              </a:ext>
            </a:extLst>
          </p:cNvPr>
          <p:cNvGrpSpPr/>
          <p:nvPr/>
        </p:nvGrpSpPr>
        <p:grpSpPr>
          <a:xfrm>
            <a:off x="6633156" y="1017933"/>
            <a:ext cx="1332000" cy="483936"/>
            <a:chOff x="6633156" y="1379023"/>
            <a:chExt cx="1332000" cy="483936"/>
          </a:xfrm>
        </p:grpSpPr>
        <p:sp>
          <p:nvSpPr>
            <p:cNvPr id="21" name="Pentagon 32">
              <a:extLst>
                <a:ext uri="{FF2B5EF4-FFF2-40B4-BE49-F238E27FC236}">
                  <a16:creationId xmlns:a16="http://schemas.microsoft.com/office/drawing/2014/main" id="{34227BFB-E36F-60DE-7662-E1D0DAEF9476}"/>
                </a:ext>
              </a:extLst>
            </p:cNvPr>
            <p:cNvSpPr/>
            <p:nvPr/>
          </p:nvSpPr>
          <p:spPr>
            <a:xfrm>
              <a:off x="6633156" y="1379023"/>
              <a:ext cx="1332000" cy="483936"/>
            </a:xfrm>
            <a:prstGeom prst="homePlate">
              <a:avLst>
                <a:gd name="adj" fmla="val 26606"/>
              </a:avLst>
            </a:prstGeom>
            <a:gradFill flip="none" rotWithShape="1">
              <a:gsLst>
                <a:gs pos="0">
                  <a:srgbClr val="4484BB">
                    <a:alpha val="90000"/>
                  </a:srgbClr>
                </a:gs>
                <a:gs pos="100000">
                  <a:srgbClr val="3EB2C9">
                    <a:alpha val="70000"/>
                  </a:srgbClr>
                </a:gs>
              </a:gsLst>
              <a:lin ang="16200000" scaled="0"/>
              <a:tileRect/>
            </a:gradFill>
            <a:ln w="9525" cap="flat" cmpd="sng" algn="ctr">
              <a:solidFill>
                <a:srgbClr val="2D90C4">
                  <a:alpha val="80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503999" tIns="0" rIns="0" bIns="0" rtlCol="0" anchor="ctr"/>
            <a:lstStyle/>
            <a:p>
              <a:pPr defTabSz="457200" latinLnBrk="0"/>
              <a:r>
                <a:rPr lang="ko-KR" altLang="en-US" sz="1100" kern="0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바코드 라벨</a:t>
              </a:r>
              <a:endParaRPr lang="en-US" altLang="ko-KR" sz="11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defTabSz="457200" latinLnBrk="0"/>
              <a:r>
                <a:rPr lang="ko-KR" altLang="en-US" sz="1100" b="1" kern="0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출력</a:t>
              </a:r>
              <a:r>
                <a:rPr lang="en-US" altLang="ko-KR" sz="1100" b="1" kern="0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ko-KR" altLang="en-US" sz="1100" b="1" kern="0" dirty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부착</a:t>
              </a:r>
              <a:endParaRPr lang="en-US" sz="11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7DEB33D7-2F07-B3B4-E6C0-648170B6C40C}"/>
                </a:ext>
              </a:extLst>
            </p:cNvPr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61341" y="1488181"/>
              <a:ext cx="288000" cy="251999"/>
            </a:xfrm>
            <a:prstGeom prst="rect">
              <a:avLst/>
            </a:prstGeom>
          </p:spPr>
        </p:pic>
      </p:grpSp>
      <p:sp>
        <p:nvSpPr>
          <p:cNvPr id="29" name="직사각형 4">
            <a:extLst>
              <a:ext uri="{FF2B5EF4-FFF2-40B4-BE49-F238E27FC236}">
                <a16:creationId xmlns:a16="http://schemas.microsoft.com/office/drawing/2014/main" id="{BB009296-6DAA-DF9F-4E36-C7B3BAC88BD8}"/>
              </a:ext>
            </a:extLst>
          </p:cNvPr>
          <p:cNvSpPr/>
          <p:nvPr/>
        </p:nvSpPr>
        <p:spPr>
          <a:xfrm>
            <a:off x="349624" y="2630582"/>
            <a:ext cx="9224682" cy="1828800"/>
          </a:xfrm>
          <a:prstGeom prst="roundRect">
            <a:avLst>
              <a:gd name="adj" fmla="val 3416"/>
            </a:avLst>
          </a:prstGeom>
          <a:solidFill>
            <a:schemeClr val="bg1"/>
          </a:solidFill>
          <a:ln w="15875" cap="flat" cmpd="sng" algn="ctr">
            <a:solidFill>
              <a:srgbClr val="1B5587"/>
            </a:solidFill>
            <a:prstDash val="solid"/>
          </a:ln>
          <a:effectLst>
            <a:outerShdw blurRad="30480" dist="23000" dir="5400000" rotWithShape="0">
              <a:srgbClr val="000000">
                <a:alpha val="15000"/>
              </a:srgbClr>
            </a:outerShdw>
          </a:effectLst>
        </p:spPr>
        <p:txBody>
          <a:bodyPr tIns="180000" rtlCol="0" anchor="ctr"/>
          <a:lstStyle/>
          <a:p>
            <a:pPr algn="ctr" defTabSz="457200"/>
            <a:endParaRPr lang="ko-KR" altLang="en-US" sz="2000" kern="0" dirty="0">
              <a:solidFill>
                <a:srgbClr val="C43243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Rounded Rectangle 114">
            <a:extLst>
              <a:ext uri="{FF2B5EF4-FFF2-40B4-BE49-F238E27FC236}">
                <a16:creationId xmlns:a16="http://schemas.microsoft.com/office/drawing/2014/main" id="{48723FEE-6458-0228-C74C-15E2FE5AF1F4}"/>
              </a:ext>
            </a:extLst>
          </p:cNvPr>
          <p:cNvSpPr/>
          <p:nvPr/>
        </p:nvSpPr>
        <p:spPr>
          <a:xfrm>
            <a:off x="539050" y="2804638"/>
            <a:ext cx="1980000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입고 예정 정보 등록</a:t>
            </a:r>
          </a:p>
        </p:txBody>
      </p:sp>
      <p:sp>
        <p:nvSpPr>
          <p:cNvPr id="31" name="TextBox 57">
            <a:extLst>
              <a:ext uri="{FF2B5EF4-FFF2-40B4-BE49-F238E27FC236}">
                <a16:creationId xmlns:a16="http://schemas.microsoft.com/office/drawing/2014/main" id="{DE38715D-3B60-DA81-4CAD-E62D57B6DF4E}"/>
              </a:ext>
            </a:extLst>
          </p:cNvPr>
          <p:cNvSpPr txBox="1"/>
          <p:nvPr/>
        </p:nvSpPr>
        <p:spPr>
          <a:xfrm>
            <a:off x="522571" y="3166724"/>
            <a:ext cx="1996480" cy="8725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I/F 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또는 </a:t>
            </a: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Excel 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업로드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API 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수신 </a:t>
            </a: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(OMS/ERP 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연동</a:t>
            </a: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입고 예정 수정</a:t>
            </a: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삭제</a:t>
            </a:r>
            <a:endParaRPr lang="en-US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Rounded Rectangle 114">
            <a:extLst>
              <a:ext uri="{FF2B5EF4-FFF2-40B4-BE49-F238E27FC236}">
                <a16:creationId xmlns:a16="http://schemas.microsoft.com/office/drawing/2014/main" id="{07D85DB1-E2BF-495F-7295-8059FAAAC7D6}"/>
              </a:ext>
            </a:extLst>
          </p:cNvPr>
          <p:cNvSpPr/>
          <p:nvPr/>
        </p:nvSpPr>
        <p:spPr>
          <a:xfrm>
            <a:off x="2820877" y="2804638"/>
            <a:ext cx="1980000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입고 지시</a:t>
            </a:r>
            <a:r>
              <a:rPr lang="en-US" altLang="ko-KR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검수</a:t>
            </a:r>
          </a:p>
        </p:txBody>
      </p:sp>
      <p:sp>
        <p:nvSpPr>
          <p:cNvPr id="36" name="Rounded Rectangle 114">
            <a:extLst>
              <a:ext uri="{FF2B5EF4-FFF2-40B4-BE49-F238E27FC236}">
                <a16:creationId xmlns:a16="http://schemas.microsoft.com/office/drawing/2014/main" id="{49FF1652-5BC9-DAC7-6926-52DC5BA0B936}"/>
              </a:ext>
            </a:extLst>
          </p:cNvPr>
          <p:cNvSpPr/>
          <p:nvPr/>
        </p:nvSpPr>
        <p:spPr>
          <a:xfrm>
            <a:off x="5102704" y="2804638"/>
            <a:ext cx="1980000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바코드 라벨 출력</a:t>
            </a:r>
          </a:p>
        </p:txBody>
      </p:sp>
      <p:sp>
        <p:nvSpPr>
          <p:cNvPr id="37" name="Rounded Rectangle 114">
            <a:extLst>
              <a:ext uri="{FF2B5EF4-FFF2-40B4-BE49-F238E27FC236}">
                <a16:creationId xmlns:a16="http://schemas.microsoft.com/office/drawing/2014/main" id="{B9E2BA80-D48E-A903-4E5B-59B39BECE278}"/>
              </a:ext>
            </a:extLst>
          </p:cNvPr>
          <p:cNvSpPr/>
          <p:nvPr/>
        </p:nvSpPr>
        <p:spPr>
          <a:xfrm>
            <a:off x="7384531" y="2804638"/>
            <a:ext cx="1980000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PDA</a:t>
            </a:r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적치 작업</a:t>
            </a:r>
          </a:p>
        </p:txBody>
      </p:sp>
      <p:sp>
        <p:nvSpPr>
          <p:cNvPr id="38" name="TextBox 57">
            <a:extLst>
              <a:ext uri="{FF2B5EF4-FFF2-40B4-BE49-F238E27FC236}">
                <a16:creationId xmlns:a16="http://schemas.microsoft.com/office/drawing/2014/main" id="{D9B46FFA-D848-E981-D629-F38EEA969DCE}"/>
              </a:ext>
            </a:extLst>
          </p:cNvPr>
          <p:cNvSpPr txBox="1"/>
          <p:nvPr/>
        </p:nvSpPr>
        <p:spPr>
          <a:xfrm>
            <a:off x="2820877" y="3166724"/>
            <a:ext cx="1996480" cy="8725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지시 확정 처리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입고 지시서 출력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실물 검수 및 수량 조정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입고 확정</a:t>
            </a:r>
            <a:endParaRPr lang="en-US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TextBox 57">
            <a:extLst>
              <a:ext uri="{FF2B5EF4-FFF2-40B4-BE49-F238E27FC236}">
                <a16:creationId xmlns:a16="http://schemas.microsoft.com/office/drawing/2014/main" id="{76D6DCE9-6F6A-7EC9-6CDE-76BBEB53BC8C}"/>
              </a:ext>
            </a:extLst>
          </p:cNvPr>
          <p:cNvSpPr txBox="1"/>
          <p:nvPr/>
        </p:nvSpPr>
        <p:spPr>
          <a:xfrm>
            <a:off x="5102704" y="3166724"/>
            <a:ext cx="1996480" cy="8725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작업자 </a:t>
            </a: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PDA 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상품 바코드 출력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바코드 부착</a:t>
            </a:r>
            <a:endParaRPr lang="en-US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TextBox 57">
            <a:extLst>
              <a:ext uri="{FF2B5EF4-FFF2-40B4-BE49-F238E27FC236}">
                <a16:creationId xmlns:a16="http://schemas.microsoft.com/office/drawing/2014/main" id="{600DABBA-1306-4FBB-E895-475008E61566}"/>
              </a:ext>
            </a:extLst>
          </p:cNvPr>
          <p:cNvSpPr txBox="1"/>
          <p:nvPr/>
        </p:nvSpPr>
        <p:spPr>
          <a:xfrm>
            <a:off x="7384531" y="3166724"/>
            <a:ext cx="1996480" cy="8725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적치 대기 </a:t>
            </a: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Stage → Location</a:t>
            </a: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추천 로케이션 표시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스캔 기반 적치 확인</a:t>
            </a:r>
            <a:endParaRPr lang="en-US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B62631F9-2940-A2D2-2B32-8C5AA37BC07E}"/>
              </a:ext>
            </a:extLst>
          </p:cNvPr>
          <p:cNvGrpSpPr/>
          <p:nvPr/>
        </p:nvGrpSpPr>
        <p:grpSpPr>
          <a:xfrm>
            <a:off x="1680467" y="1002732"/>
            <a:ext cx="266112" cy="513571"/>
            <a:chOff x="1680467" y="1002732"/>
            <a:chExt cx="266112" cy="513571"/>
          </a:xfrm>
        </p:grpSpPr>
        <p:sp>
          <p:nvSpPr>
            <p:cNvPr id="43" name="오각형[P] 42">
              <a:extLst>
                <a:ext uri="{FF2B5EF4-FFF2-40B4-BE49-F238E27FC236}">
                  <a16:creationId xmlns:a16="http://schemas.microsoft.com/office/drawing/2014/main" id="{33E909C2-59C6-527A-4BD0-B01D8584E164}"/>
                </a:ext>
              </a:extLst>
            </p:cNvPr>
            <p:cNvSpPr/>
            <p:nvPr/>
          </p:nvSpPr>
          <p:spPr>
            <a:xfrm>
              <a:off x="1680467" y="1002732"/>
              <a:ext cx="169222" cy="513571"/>
            </a:xfrm>
            <a:prstGeom prst="homePlate">
              <a:avLst>
                <a:gd name="adj" fmla="val 68197"/>
              </a:avLst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  <a:alpha val="0"/>
                  </a:schemeClr>
                </a:gs>
                <a:gs pos="88000">
                  <a:srgbClr val="75707C">
                    <a:alpha val="49858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4" name="오각형[P] 43">
              <a:extLst>
                <a:ext uri="{FF2B5EF4-FFF2-40B4-BE49-F238E27FC236}">
                  <a16:creationId xmlns:a16="http://schemas.microsoft.com/office/drawing/2014/main" id="{6EB4B093-F788-2180-BA26-D3A99FF30285}"/>
                </a:ext>
              </a:extLst>
            </p:cNvPr>
            <p:cNvSpPr/>
            <p:nvPr/>
          </p:nvSpPr>
          <p:spPr>
            <a:xfrm>
              <a:off x="1777357" y="1002732"/>
              <a:ext cx="169222" cy="513571"/>
            </a:xfrm>
            <a:prstGeom prst="homePlate">
              <a:avLst>
                <a:gd name="adj" fmla="val 68197"/>
              </a:avLst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  <a:alpha val="0"/>
                  </a:schemeClr>
                </a:gs>
                <a:gs pos="88000">
                  <a:srgbClr val="75707C">
                    <a:alpha val="49858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D323FC32-70F2-7EEE-776A-6A52CA54A48F}"/>
              </a:ext>
            </a:extLst>
          </p:cNvPr>
          <p:cNvGrpSpPr/>
          <p:nvPr/>
        </p:nvGrpSpPr>
        <p:grpSpPr>
          <a:xfrm>
            <a:off x="3230708" y="1002732"/>
            <a:ext cx="266112" cy="513571"/>
            <a:chOff x="3230708" y="1002732"/>
            <a:chExt cx="266112" cy="513571"/>
          </a:xfrm>
        </p:grpSpPr>
        <p:sp>
          <p:nvSpPr>
            <p:cNvPr id="45" name="오각형[P] 44">
              <a:extLst>
                <a:ext uri="{FF2B5EF4-FFF2-40B4-BE49-F238E27FC236}">
                  <a16:creationId xmlns:a16="http://schemas.microsoft.com/office/drawing/2014/main" id="{E1CD438B-CC59-4235-E2F5-E0F451DD44B1}"/>
                </a:ext>
              </a:extLst>
            </p:cNvPr>
            <p:cNvSpPr/>
            <p:nvPr/>
          </p:nvSpPr>
          <p:spPr>
            <a:xfrm>
              <a:off x="3230708" y="1002732"/>
              <a:ext cx="169222" cy="513571"/>
            </a:xfrm>
            <a:prstGeom prst="homePlate">
              <a:avLst>
                <a:gd name="adj" fmla="val 68197"/>
              </a:avLst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  <a:alpha val="0"/>
                  </a:schemeClr>
                </a:gs>
                <a:gs pos="88000">
                  <a:srgbClr val="5CA6C1">
                    <a:alpha val="5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6" name="오각형[P] 45">
              <a:extLst>
                <a:ext uri="{FF2B5EF4-FFF2-40B4-BE49-F238E27FC236}">
                  <a16:creationId xmlns:a16="http://schemas.microsoft.com/office/drawing/2014/main" id="{FF565BD4-53E2-2CEE-5E82-E6BF8888BC65}"/>
                </a:ext>
              </a:extLst>
            </p:cNvPr>
            <p:cNvSpPr/>
            <p:nvPr/>
          </p:nvSpPr>
          <p:spPr>
            <a:xfrm>
              <a:off x="3327598" y="1002732"/>
              <a:ext cx="169222" cy="513571"/>
            </a:xfrm>
            <a:prstGeom prst="homePlate">
              <a:avLst>
                <a:gd name="adj" fmla="val 68197"/>
              </a:avLst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  <a:alpha val="0"/>
                  </a:schemeClr>
                </a:gs>
                <a:gs pos="88000">
                  <a:srgbClr val="5CA6C1">
                    <a:alpha val="5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18C8913C-84B0-6870-873D-2BB14C006FA7}"/>
              </a:ext>
            </a:extLst>
          </p:cNvPr>
          <p:cNvGrpSpPr/>
          <p:nvPr/>
        </p:nvGrpSpPr>
        <p:grpSpPr>
          <a:xfrm>
            <a:off x="4787005" y="1002732"/>
            <a:ext cx="266112" cy="513571"/>
            <a:chOff x="3230708" y="1002732"/>
            <a:chExt cx="266112" cy="513571"/>
          </a:xfrm>
        </p:grpSpPr>
        <p:sp>
          <p:nvSpPr>
            <p:cNvPr id="49" name="오각형[P] 48">
              <a:extLst>
                <a:ext uri="{FF2B5EF4-FFF2-40B4-BE49-F238E27FC236}">
                  <a16:creationId xmlns:a16="http://schemas.microsoft.com/office/drawing/2014/main" id="{10F262BB-F227-C70E-99E7-8EB2AB00E806}"/>
                </a:ext>
              </a:extLst>
            </p:cNvPr>
            <p:cNvSpPr/>
            <p:nvPr/>
          </p:nvSpPr>
          <p:spPr>
            <a:xfrm>
              <a:off x="3230708" y="1002732"/>
              <a:ext cx="169222" cy="513571"/>
            </a:xfrm>
            <a:prstGeom prst="homePlate">
              <a:avLst>
                <a:gd name="adj" fmla="val 68197"/>
              </a:avLst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  <a:alpha val="0"/>
                  </a:schemeClr>
                </a:gs>
                <a:gs pos="88000">
                  <a:srgbClr val="5CA6C1">
                    <a:alpha val="5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0" name="오각형[P] 49">
              <a:extLst>
                <a:ext uri="{FF2B5EF4-FFF2-40B4-BE49-F238E27FC236}">
                  <a16:creationId xmlns:a16="http://schemas.microsoft.com/office/drawing/2014/main" id="{B6041766-A5C6-359F-7895-B3E7267FD968}"/>
                </a:ext>
              </a:extLst>
            </p:cNvPr>
            <p:cNvSpPr/>
            <p:nvPr/>
          </p:nvSpPr>
          <p:spPr>
            <a:xfrm>
              <a:off x="3327598" y="1002732"/>
              <a:ext cx="169222" cy="513571"/>
            </a:xfrm>
            <a:prstGeom prst="homePlate">
              <a:avLst>
                <a:gd name="adj" fmla="val 68197"/>
              </a:avLst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  <a:alpha val="0"/>
                  </a:schemeClr>
                </a:gs>
                <a:gs pos="88000">
                  <a:srgbClr val="5CA6C1">
                    <a:alpha val="5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ABACA9A-F1D0-B869-5057-72FDF93DCEF6}"/>
              </a:ext>
            </a:extLst>
          </p:cNvPr>
          <p:cNvGrpSpPr/>
          <p:nvPr/>
        </p:nvGrpSpPr>
        <p:grpSpPr>
          <a:xfrm>
            <a:off x="6331190" y="1002732"/>
            <a:ext cx="266112" cy="513571"/>
            <a:chOff x="3230708" y="1002732"/>
            <a:chExt cx="266112" cy="513571"/>
          </a:xfrm>
        </p:grpSpPr>
        <p:sp>
          <p:nvSpPr>
            <p:cNvPr id="52" name="오각형[P] 51">
              <a:extLst>
                <a:ext uri="{FF2B5EF4-FFF2-40B4-BE49-F238E27FC236}">
                  <a16:creationId xmlns:a16="http://schemas.microsoft.com/office/drawing/2014/main" id="{D657A800-E800-C7B3-7D4C-E3530E9EC7E1}"/>
                </a:ext>
              </a:extLst>
            </p:cNvPr>
            <p:cNvSpPr/>
            <p:nvPr/>
          </p:nvSpPr>
          <p:spPr>
            <a:xfrm>
              <a:off x="3230708" y="1002732"/>
              <a:ext cx="169222" cy="513571"/>
            </a:xfrm>
            <a:prstGeom prst="homePlate">
              <a:avLst>
                <a:gd name="adj" fmla="val 68197"/>
              </a:avLst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  <a:alpha val="0"/>
                  </a:schemeClr>
                </a:gs>
                <a:gs pos="88000">
                  <a:srgbClr val="5CA6C1">
                    <a:alpha val="5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3" name="오각형[P] 52">
              <a:extLst>
                <a:ext uri="{FF2B5EF4-FFF2-40B4-BE49-F238E27FC236}">
                  <a16:creationId xmlns:a16="http://schemas.microsoft.com/office/drawing/2014/main" id="{9D614667-A8EE-0843-9138-F8C01FCBA004}"/>
                </a:ext>
              </a:extLst>
            </p:cNvPr>
            <p:cNvSpPr/>
            <p:nvPr/>
          </p:nvSpPr>
          <p:spPr>
            <a:xfrm>
              <a:off x="3327598" y="1002732"/>
              <a:ext cx="169222" cy="513571"/>
            </a:xfrm>
            <a:prstGeom prst="homePlate">
              <a:avLst>
                <a:gd name="adj" fmla="val 68197"/>
              </a:avLst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  <a:alpha val="0"/>
                  </a:schemeClr>
                </a:gs>
                <a:gs pos="88000">
                  <a:srgbClr val="5CA6C1">
                    <a:alpha val="5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3162D599-BED2-A92F-F5A6-5B75D530DEF1}"/>
              </a:ext>
            </a:extLst>
          </p:cNvPr>
          <p:cNvGrpSpPr/>
          <p:nvPr/>
        </p:nvGrpSpPr>
        <p:grpSpPr>
          <a:xfrm>
            <a:off x="7887487" y="1002732"/>
            <a:ext cx="266112" cy="513571"/>
            <a:chOff x="3230708" y="1002732"/>
            <a:chExt cx="266112" cy="513571"/>
          </a:xfrm>
        </p:grpSpPr>
        <p:sp>
          <p:nvSpPr>
            <p:cNvPr id="55" name="오각형[P] 54">
              <a:extLst>
                <a:ext uri="{FF2B5EF4-FFF2-40B4-BE49-F238E27FC236}">
                  <a16:creationId xmlns:a16="http://schemas.microsoft.com/office/drawing/2014/main" id="{649DC613-597A-0F70-0AC2-3DFD09BAD3E9}"/>
                </a:ext>
              </a:extLst>
            </p:cNvPr>
            <p:cNvSpPr/>
            <p:nvPr/>
          </p:nvSpPr>
          <p:spPr>
            <a:xfrm>
              <a:off x="3230708" y="1002732"/>
              <a:ext cx="169222" cy="513571"/>
            </a:xfrm>
            <a:prstGeom prst="homePlate">
              <a:avLst>
                <a:gd name="adj" fmla="val 68197"/>
              </a:avLst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  <a:alpha val="0"/>
                  </a:schemeClr>
                </a:gs>
                <a:gs pos="88000">
                  <a:srgbClr val="5CA6C1">
                    <a:alpha val="5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6" name="오각형[P] 55">
              <a:extLst>
                <a:ext uri="{FF2B5EF4-FFF2-40B4-BE49-F238E27FC236}">
                  <a16:creationId xmlns:a16="http://schemas.microsoft.com/office/drawing/2014/main" id="{1D1FC6E1-87E5-64AF-17B6-3D3B674CDBD7}"/>
                </a:ext>
              </a:extLst>
            </p:cNvPr>
            <p:cNvSpPr/>
            <p:nvPr/>
          </p:nvSpPr>
          <p:spPr>
            <a:xfrm>
              <a:off x="3327598" y="1002732"/>
              <a:ext cx="169222" cy="513571"/>
            </a:xfrm>
            <a:prstGeom prst="homePlate">
              <a:avLst>
                <a:gd name="adj" fmla="val 68197"/>
              </a:avLst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  <a:alpha val="0"/>
                  </a:schemeClr>
                </a:gs>
                <a:gs pos="88000">
                  <a:srgbClr val="5CA6C1">
                    <a:alpha val="5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560E527E-5DF0-9ABB-2275-FDA011236AAE}"/>
              </a:ext>
            </a:extLst>
          </p:cNvPr>
          <p:cNvSpPr txBox="1"/>
          <p:nvPr/>
        </p:nvSpPr>
        <p:spPr>
          <a:xfrm>
            <a:off x="418340" y="2287982"/>
            <a:ext cx="2659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gradFill flip="none" rotWithShape="1">
                  <a:gsLst>
                    <a:gs pos="16000">
                      <a:srgbClr val="3BA08A">
                        <a:alpha val="74902"/>
                      </a:srgbClr>
                    </a:gs>
                    <a:gs pos="100000">
                      <a:schemeClr val="bg1">
                        <a:lumMod val="95000"/>
                        <a:alpha val="0"/>
                      </a:schemeClr>
                    </a:gs>
                    <a:gs pos="63000">
                      <a:srgbClr val="007693"/>
                    </a:gs>
                  </a:gsLst>
                  <a:lin ang="5400000" scaled="1"/>
                  <a:tileRect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주요기능</a:t>
            </a:r>
            <a:endParaRPr lang="en-US" sz="2000" b="1" dirty="0">
              <a:gradFill flip="none" rotWithShape="1">
                <a:gsLst>
                  <a:gs pos="16000">
                    <a:srgbClr val="3BA08A">
                      <a:alpha val="74902"/>
                    </a:srgbClr>
                  </a:gs>
                  <a:gs pos="100000">
                    <a:schemeClr val="bg1">
                      <a:lumMod val="95000"/>
                      <a:alpha val="0"/>
                    </a:schemeClr>
                  </a:gs>
                  <a:gs pos="63000">
                    <a:srgbClr val="007693"/>
                  </a:gs>
                </a:gsLst>
                <a:lin ang="5400000" scaled="1"/>
                <a:tileRect/>
              </a:gra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1048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E9892FC-D29F-3271-C358-A7D77168C9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7203" y="431281"/>
            <a:ext cx="5071306" cy="2880000"/>
          </a:xfrm>
          <a:prstGeom prst="roundRect">
            <a:avLst>
              <a:gd name="adj" fmla="val 2206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BC0E12F3-BCA7-0D41-A130-B2492A838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화면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입고 관리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516324-89FF-3840-ABF7-75AA0AD2A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/>
              <a:t>10</a:t>
            </a:fld>
            <a:endParaRPr kumimoji="1"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C7EF447-02EE-9890-645B-11629DABED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950" y="1151039"/>
            <a:ext cx="3901492" cy="540000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D4ABDBE-C5C1-882A-FF83-80E0DE8F5D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955" y="2027172"/>
            <a:ext cx="3845601" cy="2376000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16" name="Rounded Rectangle 57">
            <a:extLst>
              <a:ext uri="{FF2B5EF4-FFF2-40B4-BE49-F238E27FC236}">
                <a16:creationId xmlns:a16="http://schemas.microsoft.com/office/drawing/2014/main" id="{A69BBF46-5BB9-1ACA-12EE-9EB59A890B1E}"/>
              </a:ext>
            </a:extLst>
          </p:cNvPr>
          <p:cNvSpPr/>
          <p:nvPr/>
        </p:nvSpPr>
        <p:spPr>
          <a:xfrm>
            <a:off x="2576823" y="1551848"/>
            <a:ext cx="1010889" cy="252000"/>
          </a:xfrm>
          <a:prstGeom prst="roundRect">
            <a:avLst>
              <a:gd name="adj" fmla="val 28912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5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엑셀 </a:t>
            </a:r>
            <a:r>
              <a:rPr lang="ko-KR" altLang="en-US" sz="1050" kern="0" dirty="0" err="1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임포트</a:t>
            </a:r>
            <a:endParaRPr lang="ko-KR" altLang="en-US" sz="105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Rounded Rectangle 57">
            <a:extLst>
              <a:ext uri="{FF2B5EF4-FFF2-40B4-BE49-F238E27FC236}">
                <a16:creationId xmlns:a16="http://schemas.microsoft.com/office/drawing/2014/main" id="{6E57D97E-BA43-C7EF-9F21-2E5DE079DA62}"/>
              </a:ext>
            </a:extLst>
          </p:cNvPr>
          <p:cNvSpPr/>
          <p:nvPr/>
        </p:nvSpPr>
        <p:spPr>
          <a:xfrm>
            <a:off x="400024" y="3481578"/>
            <a:ext cx="1142661" cy="252000"/>
          </a:xfrm>
          <a:prstGeom prst="roundRect">
            <a:avLst>
              <a:gd name="adj" fmla="val 28912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5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입고 예정 등록</a:t>
            </a:r>
            <a:endParaRPr lang="en-US" altLang="ko-KR" sz="105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D4B11DA-79ED-1073-B336-9B4936FB47D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3945" y="3870738"/>
            <a:ext cx="3658445" cy="2340000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19" name="Rounded Rectangle 57">
            <a:extLst>
              <a:ext uri="{FF2B5EF4-FFF2-40B4-BE49-F238E27FC236}">
                <a16:creationId xmlns:a16="http://schemas.microsoft.com/office/drawing/2014/main" id="{C2706B57-BFE9-32B4-1728-083761D67B3B}"/>
              </a:ext>
            </a:extLst>
          </p:cNvPr>
          <p:cNvSpPr/>
          <p:nvPr/>
        </p:nvSpPr>
        <p:spPr>
          <a:xfrm>
            <a:off x="2446590" y="6095898"/>
            <a:ext cx="1133155" cy="252000"/>
          </a:xfrm>
          <a:prstGeom prst="roundRect">
            <a:avLst>
              <a:gd name="adj" fmla="val 28912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5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입고 </a:t>
            </a:r>
            <a:r>
              <a:rPr lang="ko-KR" altLang="en-US" sz="1050" kern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예정 확인</a:t>
            </a:r>
            <a:endParaRPr lang="en-US" altLang="ko-KR" sz="105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40C9737-A8DB-B56E-C689-1699CB37FB0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96308" y="2027172"/>
            <a:ext cx="3699615" cy="2268000"/>
          </a:xfrm>
          <a:prstGeom prst="roundRect">
            <a:avLst>
              <a:gd name="adj" fmla="val 1771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21" name="Rounded Rectangle 57">
            <a:extLst>
              <a:ext uri="{FF2B5EF4-FFF2-40B4-BE49-F238E27FC236}">
                <a16:creationId xmlns:a16="http://schemas.microsoft.com/office/drawing/2014/main" id="{AC57E694-E36E-01BD-2BB0-1E9EB40FA8B8}"/>
              </a:ext>
            </a:extLst>
          </p:cNvPr>
          <p:cNvSpPr/>
          <p:nvPr/>
        </p:nvSpPr>
        <p:spPr>
          <a:xfrm>
            <a:off x="8355257" y="3623569"/>
            <a:ext cx="1010889" cy="252000"/>
          </a:xfrm>
          <a:prstGeom prst="roundRect">
            <a:avLst>
              <a:gd name="adj" fmla="val 28912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5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입고 처리</a:t>
            </a:r>
            <a:endParaRPr lang="en-US" altLang="ko-KR" sz="105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68C32BE8-CCE8-47DD-3612-D90545DAEF7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7544" y="3870738"/>
            <a:ext cx="1311841" cy="2340000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A4AF77E2-2BE4-7E4E-A67D-4F27DC9D572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68029" y="3870738"/>
            <a:ext cx="1315891" cy="2340000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24" name="Rounded Rectangle 57">
            <a:extLst>
              <a:ext uri="{FF2B5EF4-FFF2-40B4-BE49-F238E27FC236}">
                <a16:creationId xmlns:a16="http://schemas.microsoft.com/office/drawing/2014/main" id="{EB5EA8FC-9A1F-73F3-5E67-3EDF32231CFD}"/>
              </a:ext>
            </a:extLst>
          </p:cNvPr>
          <p:cNvSpPr/>
          <p:nvPr/>
        </p:nvSpPr>
        <p:spPr>
          <a:xfrm>
            <a:off x="6289942" y="6095898"/>
            <a:ext cx="1156174" cy="252000"/>
          </a:xfrm>
          <a:prstGeom prst="roundRect">
            <a:avLst>
              <a:gd name="adj" fmla="val 28912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5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입고 </a:t>
            </a:r>
            <a:r>
              <a:rPr lang="ko-KR" altLang="en-US" sz="1050" kern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처리 </a:t>
            </a:r>
            <a:r>
              <a:rPr lang="en-US" altLang="ko-KR" sz="105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PDA</a:t>
            </a:r>
          </a:p>
        </p:txBody>
      </p:sp>
      <p:sp>
        <p:nvSpPr>
          <p:cNvPr id="6" name="Rounded Rectangle 57">
            <a:extLst>
              <a:ext uri="{FF2B5EF4-FFF2-40B4-BE49-F238E27FC236}">
                <a16:creationId xmlns:a16="http://schemas.microsoft.com/office/drawing/2014/main" id="{91D67729-A22F-30F8-1FCE-FCACC2257948}"/>
              </a:ext>
            </a:extLst>
          </p:cNvPr>
          <p:cNvSpPr/>
          <p:nvPr/>
        </p:nvSpPr>
        <p:spPr>
          <a:xfrm>
            <a:off x="8151327" y="1136655"/>
            <a:ext cx="1010889" cy="252000"/>
          </a:xfrm>
          <a:prstGeom prst="roundRect">
            <a:avLst>
              <a:gd name="adj" fmla="val 28912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50" kern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대시보드</a:t>
            </a:r>
            <a:endParaRPr lang="en-US" altLang="ko-KR" sz="105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C4634B-D621-14CB-E576-7AD90743B1F2}"/>
              </a:ext>
            </a:extLst>
          </p:cNvPr>
          <p:cNvSpPr txBox="1"/>
          <p:nvPr/>
        </p:nvSpPr>
        <p:spPr>
          <a:xfrm>
            <a:off x="353300" y="683365"/>
            <a:ext cx="2659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gradFill flip="none" rotWithShape="1">
                  <a:gsLst>
                    <a:gs pos="16000">
                      <a:srgbClr val="3BA08A">
                        <a:alpha val="74902"/>
                      </a:srgbClr>
                    </a:gs>
                    <a:gs pos="100000">
                      <a:schemeClr val="bg1">
                        <a:lumMod val="95000"/>
                        <a:alpha val="0"/>
                      </a:schemeClr>
                    </a:gs>
                    <a:gs pos="63000">
                      <a:srgbClr val="007693"/>
                    </a:gs>
                  </a:gsLst>
                  <a:lin ang="5400000" scaled="1"/>
                  <a:tileRect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입고 예정 등록 및 처리</a:t>
            </a:r>
            <a:endParaRPr lang="en-US" sz="2000" b="1" dirty="0">
              <a:gradFill flip="none" rotWithShape="1">
                <a:gsLst>
                  <a:gs pos="16000">
                    <a:srgbClr val="3BA08A">
                      <a:alpha val="74902"/>
                    </a:srgbClr>
                  </a:gs>
                  <a:gs pos="100000">
                    <a:schemeClr val="bg1">
                      <a:lumMod val="95000"/>
                      <a:alpha val="0"/>
                    </a:schemeClr>
                  </a:gs>
                  <a:gs pos="63000">
                    <a:srgbClr val="007693"/>
                  </a:gs>
                </a:gsLst>
                <a:lin ang="5400000" scaled="1"/>
                <a:tileRect/>
              </a:gra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3088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56FE1-E072-4CB1-9DBB-D61C677AF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58673938-E474-B23D-2AA0-AD3806817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재고 프로세스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32FF1D-689C-3DF2-9E4B-23E600AB99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/>
              <a:t>11</a:t>
            </a:fld>
            <a:endParaRPr kumimoji="1" lang="ko-KR" altLang="en-US"/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2FBFB549-ED6E-156F-BC6E-D137DEAA8506}"/>
              </a:ext>
            </a:extLst>
          </p:cNvPr>
          <p:cNvSpPr txBox="1"/>
          <p:nvPr/>
        </p:nvSpPr>
        <p:spPr>
          <a:xfrm>
            <a:off x="4819147" y="424605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 anchor="ctr">
            <a:noAutofit/>
          </a:bodyPr>
          <a:lstStyle/>
          <a:p>
            <a:pPr algn="ctr"/>
            <a:endParaRPr kumimoji="1" lang="ko-KR" altLang="en-US" sz="1600" dirty="0">
              <a:solidFill>
                <a:schemeClr val="bg2">
                  <a:lumMod val="75000"/>
                </a:schemeClr>
              </a:solidFill>
              <a:latin typeface="+mn-ea"/>
              <a:cs typeface="Hankook TTF Medium"/>
              <a:sym typeface="Hankook TTF Medium"/>
            </a:endParaRPr>
          </a:p>
        </p:txBody>
      </p:sp>
      <p:sp>
        <p:nvSpPr>
          <p:cNvPr id="41" name="Rectangle 56">
            <a:extLst>
              <a:ext uri="{FF2B5EF4-FFF2-40B4-BE49-F238E27FC236}">
                <a16:creationId xmlns:a16="http://schemas.microsoft.com/office/drawing/2014/main" id="{536543B0-1DAA-E572-EE9D-CEE1D4361094}"/>
              </a:ext>
            </a:extLst>
          </p:cNvPr>
          <p:cNvSpPr/>
          <p:nvPr/>
        </p:nvSpPr>
        <p:spPr>
          <a:xfrm>
            <a:off x="7411291" y="3378307"/>
            <a:ext cx="2182616" cy="1785919"/>
          </a:xfrm>
          <a:prstGeom prst="rect">
            <a:avLst/>
          </a:prstGeom>
          <a:noFill/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8" name="Pentagon 32">
            <a:extLst>
              <a:ext uri="{FF2B5EF4-FFF2-40B4-BE49-F238E27FC236}">
                <a16:creationId xmlns:a16="http://schemas.microsoft.com/office/drawing/2014/main" id="{47895BAD-FDB6-43AA-81D2-D38B4D4B2A57}"/>
              </a:ext>
            </a:extLst>
          </p:cNvPr>
          <p:cNvSpPr/>
          <p:nvPr/>
        </p:nvSpPr>
        <p:spPr>
          <a:xfrm>
            <a:off x="404892" y="1017933"/>
            <a:ext cx="1224000" cy="483936"/>
          </a:xfrm>
          <a:prstGeom prst="homePlate">
            <a:avLst>
              <a:gd name="adj" fmla="val 26606"/>
            </a:avLst>
          </a:prstGeom>
          <a:gradFill flip="none" rotWithShape="1">
            <a:gsLst>
              <a:gs pos="0">
                <a:srgbClr val="369179">
                  <a:alpha val="89804"/>
                </a:srgbClr>
              </a:gs>
              <a:gs pos="100000">
                <a:srgbClr val="7EC546">
                  <a:alpha val="69804"/>
                </a:srgbClr>
              </a:gs>
            </a:gsLst>
            <a:lin ang="16200000" scaled="0"/>
            <a:tileRect/>
          </a:gradFill>
          <a:ln w="9525" cap="flat" cmpd="sng" algn="ctr">
            <a:solidFill>
              <a:srgbClr val="4CA38B">
                <a:alpha val="8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468000" tIns="0" rIns="0" bIns="0" rtlCol="0" anchor="ctr"/>
          <a:lstStyle/>
          <a:p>
            <a:pPr defTabSz="457200" latinLnBrk="0"/>
            <a:r>
              <a:rPr lang="ko-KR" altLang="en-US" sz="11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적치</a:t>
            </a:r>
            <a:br>
              <a:rPr lang="en-US" altLang="ko-KR" sz="11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-US" altLang="ko-KR" sz="1000" kern="0" dirty="0" err="1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Putaway</a:t>
            </a:r>
            <a:r>
              <a:rPr lang="en-US" altLang="ko-KR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10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91" name="Pentagon 32">
            <a:extLst>
              <a:ext uri="{FF2B5EF4-FFF2-40B4-BE49-F238E27FC236}">
                <a16:creationId xmlns:a16="http://schemas.microsoft.com/office/drawing/2014/main" id="{13BC7053-CC86-9B37-290D-01AE23802D00}"/>
              </a:ext>
            </a:extLst>
          </p:cNvPr>
          <p:cNvSpPr/>
          <p:nvPr/>
        </p:nvSpPr>
        <p:spPr>
          <a:xfrm>
            <a:off x="1824947" y="1017933"/>
            <a:ext cx="1116000" cy="483936"/>
          </a:xfrm>
          <a:prstGeom prst="homePlate">
            <a:avLst>
              <a:gd name="adj" fmla="val 26606"/>
            </a:avLst>
          </a:prstGeom>
          <a:gradFill flip="none" rotWithShape="1">
            <a:gsLst>
              <a:gs pos="0">
                <a:srgbClr val="4484BB">
                  <a:alpha val="90000"/>
                </a:srgbClr>
              </a:gs>
              <a:gs pos="100000">
                <a:srgbClr val="3EB2C9">
                  <a:alpha val="70000"/>
                </a:srgbClr>
              </a:gs>
            </a:gsLst>
            <a:lin ang="16200000" scaled="0"/>
            <a:tileRect/>
          </a:gradFill>
          <a:ln w="9525" cap="flat" cmpd="sng" algn="ctr">
            <a:solidFill>
              <a:srgbClr val="2D90C4">
                <a:alpha val="8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503999" tIns="0" rIns="0" bIns="0" rtlCol="0" anchor="ctr"/>
          <a:lstStyle/>
          <a:p>
            <a:pPr defTabSz="457200" latinLnBrk="0"/>
            <a:r>
              <a:rPr lang="ko-KR" altLang="en-US" sz="11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이동</a:t>
            </a:r>
            <a:br>
              <a:rPr lang="en-US" altLang="ko-KR" sz="11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5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(Move)</a:t>
            </a:r>
            <a:endParaRPr lang="en-US" sz="1100" b="1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94" name="Pentagon 32">
            <a:extLst>
              <a:ext uri="{FF2B5EF4-FFF2-40B4-BE49-F238E27FC236}">
                <a16:creationId xmlns:a16="http://schemas.microsoft.com/office/drawing/2014/main" id="{DF58542B-197F-9DA8-480E-E40BF9F45464}"/>
              </a:ext>
            </a:extLst>
          </p:cNvPr>
          <p:cNvSpPr/>
          <p:nvPr/>
        </p:nvSpPr>
        <p:spPr>
          <a:xfrm>
            <a:off x="3137002" y="1017933"/>
            <a:ext cx="1116000" cy="483936"/>
          </a:xfrm>
          <a:prstGeom prst="homePlate">
            <a:avLst>
              <a:gd name="adj" fmla="val 26606"/>
            </a:avLst>
          </a:prstGeom>
          <a:gradFill flip="none" rotWithShape="1">
            <a:gsLst>
              <a:gs pos="0">
                <a:srgbClr val="4484BB">
                  <a:alpha val="90000"/>
                </a:srgbClr>
              </a:gs>
              <a:gs pos="100000">
                <a:srgbClr val="3EB2C9">
                  <a:alpha val="70000"/>
                </a:srgbClr>
              </a:gs>
            </a:gsLst>
            <a:lin ang="16200000" scaled="0"/>
            <a:tileRect/>
          </a:gradFill>
          <a:ln w="9525" cap="flat" cmpd="sng" algn="ctr">
            <a:solidFill>
              <a:srgbClr val="2D90C4">
                <a:alpha val="8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503999" tIns="0" rIns="0" bIns="0" rtlCol="0" anchor="ctr"/>
          <a:lstStyle/>
          <a:p>
            <a:pPr defTabSz="457200" latinLnBrk="0"/>
            <a:r>
              <a:rPr lang="ko-KR" altLang="en-US" sz="11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분할</a:t>
            </a:r>
            <a:endParaRPr lang="en-US" altLang="ko-KR" sz="1100" b="1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defTabSz="457200" latinLnBrk="0"/>
            <a:r>
              <a:rPr lang="en-US" altLang="ko-KR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(Split)</a:t>
            </a:r>
            <a:endParaRPr lang="en-US" sz="1000" b="1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97" name="Pentagon 32">
            <a:extLst>
              <a:ext uri="{FF2B5EF4-FFF2-40B4-BE49-F238E27FC236}">
                <a16:creationId xmlns:a16="http://schemas.microsoft.com/office/drawing/2014/main" id="{D75B4F2A-2DEF-26AE-E56A-23DAF48FCD2B}"/>
              </a:ext>
            </a:extLst>
          </p:cNvPr>
          <p:cNvSpPr/>
          <p:nvPr/>
        </p:nvSpPr>
        <p:spPr>
          <a:xfrm>
            <a:off x="8385223" y="1017933"/>
            <a:ext cx="1116000" cy="483936"/>
          </a:xfrm>
          <a:prstGeom prst="homePlate">
            <a:avLst>
              <a:gd name="adj" fmla="val 0"/>
            </a:avLst>
          </a:prstGeom>
          <a:gradFill flip="none" rotWithShape="1">
            <a:gsLst>
              <a:gs pos="0">
                <a:srgbClr val="322F36">
                  <a:alpha val="76000"/>
                </a:srgbClr>
              </a:gs>
              <a:gs pos="100000">
                <a:srgbClr val="625C6B">
                  <a:alpha val="76000"/>
                </a:srgbClr>
              </a:gs>
            </a:gsLst>
            <a:lin ang="16200000" scaled="0"/>
            <a:tileRect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503999" tIns="0" rIns="0" bIns="0" rtlCol="0" anchor="ctr"/>
          <a:lstStyle/>
          <a:p>
            <a:pPr defTabSz="457200" latinLnBrk="0"/>
            <a:r>
              <a:rPr lang="ko-KR" altLang="en-US" sz="11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폐기</a:t>
            </a:r>
            <a:endParaRPr lang="en-US" altLang="ko-KR" sz="1100" b="1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defTabSz="457200" latinLnBrk="0"/>
            <a:r>
              <a:rPr lang="en-US" altLang="ko-KR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(Scrap)</a:t>
            </a:r>
            <a:endParaRPr lang="en-US" sz="100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00" name="Pentagon 32">
            <a:extLst>
              <a:ext uri="{FF2B5EF4-FFF2-40B4-BE49-F238E27FC236}">
                <a16:creationId xmlns:a16="http://schemas.microsoft.com/office/drawing/2014/main" id="{3CD5A39B-9CCB-4188-9CE0-47A3260FA91C}"/>
              </a:ext>
            </a:extLst>
          </p:cNvPr>
          <p:cNvSpPr/>
          <p:nvPr/>
        </p:nvSpPr>
        <p:spPr>
          <a:xfrm>
            <a:off x="4449057" y="1017933"/>
            <a:ext cx="1116000" cy="483936"/>
          </a:xfrm>
          <a:prstGeom prst="homePlate">
            <a:avLst>
              <a:gd name="adj" fmla="val 26606"/>
            </a:avLst>
          </a:prstGeom>
          <a:gradFill flip="none" rotWithShape="1">
            <a:gsLst>
              <a:gs pos="0">
                <a:srgbClr val="4484BB">
                  <a:alpha val="90000"/>
                </a:srgbClr>
              </a:gs>
              <a:gs pos="100000">
                <a:srgbClr val="3EB2C9">
                  <a:alpha val="70000"/>
                </a:srgbClr>
              </a:gs>
            </a:gsLst>
            <a:lin ang="16200000" scaled="0"/>
            <a:tileRect/>
          </a:gradFill>
          <a:ln w="9525" cap="flat" cmpd="sng" algn="ctr">
            <a:solidFill>
              <a:srgbClr val="2D90C4">
                <a:alpha val="8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503999" tIns="0" rIns="0" bIns="0" rtlCol="0" anchor="ctr"/>
          <a:lstStyle/>
          <a:p>
            <a:pPr defTabSz="457200" latinLnBrk="0"/>
            <a:r>
              <a:rPr lang="ko-KR" altLang="en-US" sz="11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병합</a:t>
            </a:r>
            <a:endParaRPr lang="en-US" altLang="ko-KR" sz="1100" b="1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defTabSz="457200" latinLnBrk="0"/>
            <a:r>
              <a:rPr lang="en-US" altLang="ko-KR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(Merge)</a:t>
            </a:r>
            <a:endParaRPr lang="en-US" sz="1050" b="1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04" name="Pentagon 32">
            <a:extLst>
              <a:ext uri="{FF2B5EF4-FFF2-40B4-BE49-F238E27FC236}">
                <a16:creationId xmlns:a16="http://schemas.microsoft.com/office/drawing/2014/main" id="{72C19303-713D-CA64-31FF-D56E4768D72B}"/>
              </a:ext>
            </a:extLst>
          </p:cNvPr>
          <p:cNvSpPr/>
          <p:nvPr/>
        </p:nvSpPr>
        <p:spPr>
          <a:xfrm>
            <a:off x="7073167" y="1017933"/>
            <a:ext cx="1116000" cy="483936"/>
          </a:xfrm>
          <a:prstGeom prst="homePlate">
            <a:avLst>
              <a:gd name="adj" fmla="val 26606"/>
            </a:avLst>
          </a:prstGeom>
          <a:gradFill flip="none" rotWithShape="1">
            <a:gsLst>
              <a:gs pos="0">
                <a:srgbClr val="B43324">
                  <a:alpha val="89804"/>
                </a:srgbClr>
              </a:gs>
              <a:gs pos="100000">
                <a:srgbClr val="D08228"/>
              </a:gs>
            </a:gsLst>
            <a:lin ang="16200000" scaled="0"/>
            <a:tileRect/>
          </a:gradFill>
          <a:ln w="9525" cap="flat" cmpd="sng" algn="ctr">
            <a:solidFill>
              <a:srgbClr val="B43324">
                <a:alpha val="8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503999" tIns="0" rIns="0" bIns="0" rtlCol="0" anchor="ctr"/>
          <a:lstStyle/>
          <a:p>
            <a:pPr defTabSz="457200" latinLnBrk="0"/>
            <a:r>
              <a:rPr lang="ko-KR" altLang="en-US" sz="11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조정</a:t>
            </a:r>
            <a:endParaRPr lang="en-US" altLang="ko-KR" sz="1100" b="1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defTabSz="457200" latinLnBrk="0"/>
            <a:r>
              <a:rPr lang="en-US" altLang="ko-KR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(Adjust)</a:t>
            </a:r>
            <a:endParaRPr lang="en-US" sz="1050" b="1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107" name="그룹 1106">
            <a:extLst>
              <a:ext uri="{FF2B5EF4-FFF2-40B4-BE49-F238E27FC236}">
                <a16:creationId xmlns:a16="http://schemas.microsoft.com/office/drawing/2014/main" id="{1160E022-97EB-5F6C-EB15-143E343B0226}"/>
              </a:ext>
            </a:extLst>
          </p:cNvPr>
          <p:cNvGrpSpPr/>
          <p:nvPr/>
        </p:nvGrpSpPr>
        <p:grpSpPr>
          <a:xfrm>
            <a:off x="8121262" y="1002732"/>
            <a:ext cx="266112" cy="513571"/>
            <a:chOff x="3230708" y="1002732"/>
            <a:chExt cx="266112" cy="513571"/>
          </a:xfrm>
        </p:grpSpPr>
        <p:sp>
          <p:nvSpPr>
            <p:cNvPr id="1108" name="오각형[P] 1107">
              <a:extLst>
                <a:ext uri="{FF2B5EF4-FFF2-40B4-BE49-F238E27FC236}">
                  <a16:creationId xmlns:a16="http://schemas.microsoft.com/office/drawing/2014/main" id="{2EDF1B59-71CE-DC60-35C3-8449C134590E}"/>
                </a:ext>
              </a:extLst>
            </p:cNvPr>
            <p:cNvSpPr/>
            <p:nvPr/>
          </p:nvSpPr>
          <p:spPr>
            <a:xfrm>
              <a:off x="3230708" y="1002732"/>
              <a:ext cx="169222" cy="513571"/>
            </a:xfrm>
            <a:prstGeom prst="homePlate">
              <a:avLst>
                <a:gd name="adj" fmla="val 68197"/>
              </a:avLst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  <a:alpha val="0"/>
                  </a:schemeClr>
                </a:gs>
                <a:gs pos="88000">
                  <a:srgbClr val="D08228">
                    <a:alpha val="49804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09" name="오각형[P] 1108">
              <a:extLst>
                <a:ext uri="{FF2B5EF4-FFF2-40B4-BE49-F238E27FC236}">
                  <a16:creationId xmlns:a16="http://schemas.microsoft.com/office/drawing/2014/main" id="{8A72728D-24F3-627B-4C67-C8246E21ECE5}"/>
                </a:ext>
              </a:extLst>
            </p:cNvPr>
            <p:cNvSpPr/>
            <p:nvPr/>
          </p:nvSpPr>
          <p:spPr>
            <a:xfrm>
              <a:off x="3327598" y="1002732"/>
              <a:ext cx="169222" cy="513571"/>
            </a:xfrm>
            <a:prstGeom prst="homePlate">
              <a:avLst>
                <a:gd name="adj" fmla="val 68197"/>
              </a:avLst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  <a:alpha val="0"/>
                  </a:schemeClr>
                </a:gs>
                <a:gs pos="88000">
                  <a:srgbClr val="D08228">
                    <a:alpha val="49804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1112" name="Pentagon 32">
            <a:extLst>
              <a:ext uri="{FF2B5EF4-FFF2-40B4-BE49-F238E27FC236}">
                <a16:creationId xmlns:a16="http://schemas.microsoft.com/office/drawing/2014/main" id="{6DC70DA1-4E64-2A92-DF49-71ABC2B56427}"/>
              </a:ext>
            </a:extLst>
          </p:cNvPr>
          <p:cNvSpPr/>
          <p:nvPr/>
        </p:nvSpPr>
        <p:spPr>
          <a:xfrm>
            <a:off x="5761112" y="1017933"/>
            <a:ext cx="1116000" cy="483936"/>
          </a:xfrm>
          <a:prstGeom prst="homePlate">
            <a:avLst>
              <a:gd name="adj" fmla="val 26606"/>
            </a:avLst>
          </a:prstGeom>
          <a:gradFill flip="none" rotWithShape="1">
            <a:gsLst>
              <a:gs pos="0">
                <a:srgbClr val="B43324">
                  <a:alpha val="89804"/>
                </a:srgbClr>
              </a:gs>
              <a:gs pos="100000">
                <a:srgbClr val="D08228"/>
              </a:gs>
            </a:gsLst>
            <a:lin ang="16200000" scaled="0"/>
            <a:tileRect/>
          </a:gradFill>
          <a:ln w="9525" cap="flat" cmpd="sng" algn="ctr">
            <a:solidFill>
              <a:srgbClr val="B43324">
                <a:alpha val="8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503999" tIns="0" rIns="0" bIns="0" rtlCol="0" anchor="ctr"/>
          <a:lstStyle/>
          <a:p>
            <a:pPr defTabSz="457200" latinLnBrk="0"/>
            <a:r>
              <a:rPr lang="ko-KR" altLang="en-US" sz="11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홀드</a:t>
            </a:r>
            <a:br>
              <a:rPr lang="en-US" altLang="ko-KR" sz="11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(Hold)</a:t>
            </a:r>
            <a:endParaRPr lang="en-US" sz="1100" b="1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113" name="Picture 62">
            <a:extLst>
              <a:ext uri="{FF2B5EF4-FFF2-40B4-BE49-F238E27FC236}">
                <a16:creationId xmlns:a16="http://schemas.microsoft.com/office/drawing/2014/main" id="{F3A07D3A-16C3-DF6C-893C-94A8718A21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650" y="1122544"/>
            <a:ext cx="270000" cy="262800"/>
          </a:xfrm>
          <a:prstGeom prst="rect">
            <a:avLst/>
          </a:prstGeom>
        </p:spPr>
      </p:pic>
      <p:grpSp>
        <p:nvGrpSpPr>
          <p:cNvPr id="1114" name="그룹 1113">
            <a:extLst>
              <a:ext uri="{FF2B5EF4-FFF2-40B4-BE49-F238E27FC236}">
                <a16:creationId xmlns:a16="http://schemas.microsoft.com/office/drawing/2014/main" id="{4F72D7F9-3591-F016-E361-33502D7C967F}"/>
              </a:ext>
            </a:extLst>
          </p:cNvPr>
          <p:cNvGrpSpPr/>
          <p:nvPr/>
        </p:nvGrpSpPr>
        <p:grpSpPr>
          <a:xfrm>
            <a:off x="5499086" y="1002732"/>
            <a:ext cx="266112" cy="513571"/>
            <a:chOff x="3230708" y="1002732"/>
            <a:chExt cx="266112" cy="513571"/>
          </a:xfrm>
        </p:grpSpPr>
        <p:sp>
          <p:nvSpPr>
            <p:cNvPr id="1115" name="오각형[P] 1114">
              <a:extLst>
                <a:ext uri="{FF2B5EF4-FFF2-40B4-BE49-F238E27FC236}">
                  <a16:creationId xmlns:a16="http://schemas.microsoft.com/office/drawing/2014/main" id="{80DD5BD8-1D05-2636-93A0-B3875D69B618}"/>
                </a:ext>
              </a:extLst>
            </p:cNvPr>
            <p:cNvSpPr/>
            <p:nvPr/>
          </p:nvSpPr>
          <p:spPr>
            <a:xfrm>
              <a:off x="3230708" y="1002732"/>
              <a:ext cx="169222" cy="513571"/>
            </a:xfrm>
            <a:prstGeom prst="homePlate">
              <a:avLst>
                <a:gd name="adj" fmla="val 68197"/>
              </a:avLst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  <a:alpha val="0"/>
                  </a:schemeClr>
                </a:gs>
                <a:gs pos="88000">
                  <a:srgbClr val="5CA6C1">
                    <a:alpha val="5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16" name="오각형[P] 1115">
              <a:extLst>
                <a:ext uri="{FF2B5EF4-FFF2-40B4-BE49-F238E27FC236}">
                  <a16:creationId xmlns:a16="http://schemas.microsoft.com/office/drawing/2014/main" id="{745FC73A-8A0C-7209-F955-B6085555F1B2}"/>
                </a:ext>
              </a:extLst>
            </p:cNvPr>
            <p:cNvSpPr/>
            <p:nvPr/>
          </p:nvSpPr>
          <p:spPr>
            <a:xfrm>
              <a:off x="3327598" y="1002732"/>
              <a:ext cx="169222" cy="513571"/>
            </a:xfrm>
            <a:prstGeom prst="homePlate">
              <a:avLst>
                <a:gd name="adj" fmla="val 68197"/>
              </a:avLst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  <a:alpha val="0"/>
                  </a:schemeClr>
                </a:gs>
                <a:gs pos="88000">
                  <a:srgbClr val="5CA6C1">
                    <a:alpha val="5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117" name="그룹 1116">
            <a:extLst>
              <a:ext uri="{FF2B5EF4-FFF2-40B4-BE49-F238E27FC236}">
                <a16:creationId xmlns:a16="http://schemas.microsoft.com/office/drawing/2014/main" id="{4DBEF5C5-0092-399D-44D6-4A18073F32F8}"/>
              </a:ext>
            </a:extLst>
          </p:cNvPr>
          <p:cNvGrpSpPr/>
          <p:nvPr/>
        </p:nvGrpSpPr>
        <p:grpSpPr>
          <a:xfrm>
            <a:off x="1559098" y="1002732"/>
            <a:ext cx="266112" cy="513571"/>
            <a:chOff x="3230708" y="1002732"/>
            <a:chExt cx="266112" cy="513571"/>
          </a:xfrm>
        </p:grpSpPr>
        <p:sp>
          <p:nvSpPr>
            <p:cNvPr id="1118" name="오각형[P] 1117">
              <a:extLst>
                <a:ext uri="{FF2B5EF4-FFF2-40B4-BE49-F238E27FC236}">
                  <a16:creationId xmlns:a16="http://schemas.microsoft.com/office/drawing/2014/main" id="{36F4BDC1-ADA9-2A0A-5ED9-E7B1AED66835}"/>
                </a:ext>
              </a:extLst>
            </p:cNvPr>
            <p:cNvSpPr/>
            <p:nvPr/>
          </p:nvSpPr>
          <p:spPr>
            <a:xfrm>
              <a:off x="3230708" y="1002732"/>
              <a:ext cx="169222" cy="513571"/>
            </a:xfrm>
            <a:prstGeom prst="homePlate">
              <a:avLst>
                <a:gd name="adj" fmla="val 68197"/>
              </a:avLst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  <a:alpha val="0"/>
                  </a:schemeClr>
                </a:gs>
                <a:gs pos="88000">
                  <a:schemeClr val="accent6">
                    <a:alpha val="5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19" name="오각형[P] 1118">
              <a:extLst>
                <a:ext uri="{FF2B5EF4-FFF2-40B4-BE49-F238E27FC236}">
                  <a16:creationId xmlns:a16="http://schemas.microsoft.com/office/drawing/2014/main" id="{6F15C91D-8B7C-6C93-2DED-9D85E32085F6}"/>
                </a:ext>
              </a:extLst>
            </p:cNvPr>
            <p:cNvSpPr/>
            <p:nvPr/>
          </p:nvSpPr>
          <p:spPr>
            <a:xfrm>
              <a:off x="3327598" y="1002732"/>
              <a:ext cx="169222" cy="513571"/>
            </a:xfrm>
            <a:prstGeom prst="homePlate">
              <a:avLst>
                <a:gd name="adj" fmla="val 68197"/>
              </a:avLst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  <a:alpha val="0"/>
                  </a:schemeClr>
                </a:gs>
                <a:gs pos="88000">
                  <a:schemeClr val="accent6">
                    <a:alpha val="5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pic>
        <p:nvPicPr>
          <p:cNvPr id="1123" name="그림 1122">
            <a:extLst>
              <a:ext uri="{FF2B5EF4-FFF2-40B4-BE49-F238E27FC236}">
                <a16:creationId xmlns:a16="http://schemas.microsoft.com/office/drawing/2014/main" id="{8AE2A665-E9DC-042B-421B-750BB25C27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15936" y="1116515"/>
            <a:ext cx="291891" cy="288000"/>
          </a:xfrm>
          <a:prstGeom prst="rect">
            <a:avLst/>
          </a:prstGeom>
        </p:spPr>
      </p:pic>
      <p:pic>
        <p:nvPicPr>
          <p:cNvPr id="1124" name="그래픽 1123">
            <a:extLst>
              <a:ext uri="{FF2B5EF4-FFF2-40B4-BE49-F238E27FC236}">
                <a16:creationId xmlns:a16="http://schemas.microsoft.com/office/drawing/2014/main" id="{17FE4BC6-638A-7686-75E8-43472117A3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3029" y="1099790"/>
            <a:ext cx="331364" cy="331364"/>
          </a:xfrm>
          <a:prstGeom prst="rect">
            <a:avLst/>
          </a:prstGeom>
        </p:spPr>
      </p:pic>
      <p:grpSp>
        <p:nvGrpSpPr>
          <p:cNvPr id="1125" name="그룹 1124">
            <a:extLst>
              <a:ext uri="{FF2B5EF4-FFF2-40B4-BE49-F238E27FC236}">
                <a16:creationId xmlns:a16="http://schemas.microsoft.com/office/drawing/2014/main" id="{1879380A-E2C0-F628-C1F7-9B68338E30E4}"/>
              </a:ext>
            </a:extLst>
          </p:cNvPr>
          <p:cNvGrpSpPr/>
          <p:nvPr/>
        </p:nvGrpSpPr>
        <p:grpSpPr>
          <a:xfrm>
            <a:off x="4181274" y="1002732"/>
            <a:ext cx="266112" cy="513571"/>
            <a:chOff x="3230708" y="1002732"/>
            <a:chExt cx="266112" cy="513571"/>
          </a:xfrm>
        </p:grpSpPr>
        <p:sp>
          <p:nvSpPr>
            <p:cNvPr id="1126" name="오각형[P] 1125">
              <a:extLst>
                <a:ext uri="{FF2B5EF4-FFF2-40B4-BE49-F238E27FC236}">
                  <a16:creationId xmlns:a16="http://schemas.microsoft.com/office/drawing/2014/main" id="{147D2FFA-60AD-A7DC-A106-EDC6F3BC3341}"/>
                </a:ext>
              </a:extLst>
            </p:cNvPr>
            <p:cNvSpPr/>
            <p:nvPr/>
          </p:nvSpPr>
          <p:spPr>
            <a:xfrm>
              <a:off x="3230708" y="1002732"/>
              <a:ext cx="169222" cy="513571"/>
            </a:xfrm>
            <a:prstGeom prst="homePlate">
              <a:avLst>
                <a:gd name="adj" fmla="val 68197"/>
              </a:avLst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  <a:alpha val="0"/>
                  </a:schemeClr>
                </a:gs>
                <a:gs pos="88000">
                  <a:srgbClr val="5CA6C1">
                    <a:alpha val="5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27" name="오각형[P] 1126">
              <a:extLst>
                <a:ext uri="{FF2B5EF4-FFF2-40B4-BE49-F238E27FC236}">
                  <a16:creationId xmlns:a16="http://schemas.microsoft.com/office/drawing/2014/main" id="{35454326-79EA-D8FA-E8E4-9BAF88CE8329}"/>
                </a:ext>
              </a:extLst>
            </p:cNvPr>
            <p:cNvSpPr/>
            <p:nvPr/>
          </p:nvSpPr>
          <p:spPr>
            <a:xfrm>
              <a:off x="3327598" y="1002732"/>
              <a:ext cx="169222" cy="513571"/>
            </a:xfrm>
            <a:prstGeom prst="homePlate">
              <a:avLst>
                <a:gd name="adj" fmla="val 68197"/>
              </a:avLst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  <a:alpha val="0"/>
                  </a:schemeClr>
                </a:gs>
                <a:gs pos="88000">
                  <a:srgbClr val="5CA6C1">
                    <a:alpha val="5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128" name="그룹 1127">
            <a:extLst>
              <a:ext uri="{FF2B5EF4-FFF2-40B4-BE49-F238E27FC236}">
                <a16:creationId xmlns:a16="http://schemas.microsoft.com/office/drawing/2014/main" id="{1B0FBCDA-7347-D089-9E48-7782A7C71914}"/>
              </a:ext>
            </a:extLst>
          </p:cNvPr>
          <p:cNvGrpSpPr/>
          <p:nvPr/>
        </p:nvGrpSpPr>
        <p:grpSpPr>
          <a:xfrm>
            <a:off x="2870186" y="1002732"/>
            <a:ext cx="266112" cy="513571"/>
            <a:chOff x="3230708" y="1002732"/>
            <a:chExt cx="266112" cy="513571"/>
          </a:xfrm>
        </p:grpSpPr>
        <p:sp>
          <p:nvSpPr>
            <p:cNvPr id="1129" name="오각형[P] 1128">
              <a:extLst>
                <a:ext uri="{FF2B5EF4-FFF2-40B4-BE49-F238E27FC236}">
                  <a16:creationId xmlns:a16="http://schemas.microsoft.com/office/drawing/2014/main" id="{99F7338B-BE5E-F8C1-BB23-0E1C6C39CF0E}"/>
                </a:ext>
              </a:extLst>
            </p:cNvPr>
            <p:cNvSpPr/>
            <p:nvPr/>
          </p:nvSpPr>
          <p:spPr>
            <a:xfrm>
              <a:off x="3230708" y="1002732"/>
              <a:ext cx="169222" cy="513571"/>
            </a:xfrm>
            <a:prstGeom prst="homePlate">
              <a:avLst>
                <a:gd name="adj" fmla="val 68197"/>
              </a:avLst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  <a:alpha val="0"/>
                  </a:schemeClr>
                </a:gs>
                <a:gs pos="88000">
                  <a:srgbClr val="5CA6C1">
                    <a:alpha val="5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30" name="오각형[P] 1129">
              <a:extLst>
                <a:ext uri="{FF2B5EF4-FFF2-40B4-BE49-F238E27FC236}">
                  <a16:creationId xmlns:a16="http://schemas.microsoft.com/office/drawing/2014/main" id="{E460C968-95E7-ED6B-76B8-E640DD43BCE2}"/>
                </a:ext>
              </a:extLst>
            </p:cNvPr>
            <p:cNvSpPr/>
            <p:nvPr/>
          </p:nvSpPr>
          <p:spPr>
            <a:xfrm>
              <a:off x="3327598" y="1002732"/>
              <a:ext cx="169222" cy="513571"/>
            </a:xfrm>
            <a:prstGeom prst="homePlate">
              <a:avLst>
                <a:gd name="adj" fmla="val 68197"/>
              </a:avLst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  <a:alpha val="0"/>
                  </a:schemeClr>
                </a:gs>
                <a:gs pos="88000">
                  <a:srgbClr val="5CA6C1">
                    <a:alpha val="5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131" name="그룹 1130">
            <a:extLst>
              <a:ext uri="{FF2B5EF4-FFF2-40B4-BE49-F238E27FC236}">
                <a16:creationId xmlns:a16="http://schemas.microsoft.com/office/drawing/2014/main" id="{DDAEE975-9923-51FC-4EE9-F2B75EEE7FF5}"/>
              </a:ext>
            </a:extLst>
          </p:cNvPr>
          <p:cNvGrpSpPr/>
          <p:nvPr/>
        </p:nvGrpSpPr>
        <p:grpSpPr>
          <a:xfrm>
            <a:off x="6810174" y="1002732"/>
            <a:ext cx="266112" cy="513571"/>
            <a:chOff x="3230708" y="1002732"/>
            <a:chExt cx="266112" cy="513571"/>
          </a:xfrm>
        </p:grpSpPr>
        <p:sp>
          <p:nvSpPr>
            <p:cNvPr id="1132" name="오각형[P] 1131">
              <a:extLst>
                <a:ext uri="{FF2B5EF4-FFF2-40B4-BE49-F238E27FC236}">
                  <a16:creationId xmlns:a16="http://schemas.microsoft.com/office/drawing/2014/main" id="{6BF208D1-388B-0668-99D5-DCC4B9796E51}"/>
                </a:ext>
              </a:extLst>
            </p:cNvPr>
            <p:cNvSpPr/>
            <p:nvPr/>
          </p:nvSpPr>
          <p:spPr>
            <a:xfrm>
              <a:off x="3230708" y="1002732"/>
              <a:ext cx="169222" cy="513571"/>
            </a:xfrm>
            <a:prstGeom prst="homePlate">
              <a:avLst>
                <a:gd name="adj" fmla="val 68197"/>
              </a:avLst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  <a:alpha val="0"/>
                  </a:schemeClr>
                </a:gs>
                <a:gs pos="88000">
                  <a:srgbClr val="D08228">
                    <a:alpha val="49804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33" name="오각형[P] 1132">
              <a:extLst>
                <a:ext uri="{FF2B5EF4-FFF2-40B4-BE49-F238E27FC236}">
                  <a16:creationId xmlns:a16="http://schemas.microsoft.com/office/drawing/2014/main" id="{38417A2F-D275-5F3F-E2CA-436E5BAAE79E}"/>
                </a:ext>
              </a:extLst>
            </p:cNvPr>
            <p:cNvSpPr/>
            <p:nvPr/>
          </p:nvSpPr>
          <p:spPr>
            <a:xfrm>
              <a:off x="3327598" y="1002732"/>
              <a:ext cx="169222" cy="513571"/>
            </a:xfrm>
            <a:prstGeom prst="homePlate">
              <a:avLst>
                <a:gd name="adj" fmla="val 68197"/>
              </a:avLst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  <a:alpha val="0"/>
                  </a:schemeClr>
                </a:gs>
                <a:gs pos="88000">
                  <a:srgbClr val="D08228">
                    <a:alpha val="49804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pic>
        <p:nvPicPr>
          <p:cNvPr id="1135" name="그림 1134">
            <a:extLst>
              <a:ext uri="{FF2B5EF4-FFF2-40B4-BE49-F238E27FC236}">
                <a16:creationId xmlns:a16="http://schemas.microsoft.com/office/drawing/2014/main" id="{87E54EC0-58B0-28CD-5D0A-1BEC6117DC92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8927213">
            <a:off x="1919907" y="1097344"/>
            <a:ext cx="357185" cy="357185"/>
          </a:xfrm>
          <a:prstGeom prst="rect">
            <a:avLst/>
          </a:prstGeom>
        </p:spPr>
      </p:pic>
      <p:pic>
        <p:nvPicPr>
          <p:cNvPr id="1137" name="그림 1136">
            <a:extLst>
              <a:ext uri="{FF2B5EF4-FFF2-40B4-BE49-F238E27FC236}">
                <a16:creationId xmlns:a16="http://schemas.microsoft.com/office/drawing/2014/main" id="{07101978-BE80-C9C5-DD3B-9723D909FD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222139" y="1081565"/>
            <a:ext cx="357900" cy="357900"/>
          </a:xfrm>
          <a:prstGeom prst="rect">
            <a:avLst/>
          </a:prstGeom>
        </p:spPr>
      </p:pic>
      <p:pic>
        <p:nvPicPr>
          <p:cNvPr id="1138" name="그림 1137">
            <a:extLst>
              <a:ext uri="{FF2B5EF4-FFF2-40B4-BE49-F238E27FC236}">
                <a16:creationId xmlns:a16="http://schemas.microsoft.com/office/drawing/2014/main" id="{6392ECBA-4CA1-EDDC-4E19-66F5CEC4A09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4539950" y="1081565"/>
            <a:ext cx="357900" cy="357900"/>
          </a:xfrm>
          <a:prstGeom prst="rect">
            <a:avLst/>
          </a:prstGeom>
        </p:spPr>
      </p:pic>
      <p:pic>
        <p:nvPicPr>
          <p:cNvPr id="1140" name="그림 1139">
            <a:extLst>
              <a:ext uri="{FF2B5EF4-FFF2-40B4-BE49-F238E27FC236}">
                <a16:creationId xmlns:a16="http://schemas.microsoft.com/office/drawing/2014/main" id="{F060512D-07B4-8B90-92B6-887953FDE2A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6695" y="1123036"/>
            <a:ext cx="288000" cy="288000"/>
          </a:xfrm>
          <a:prstGeom prst="rect">
            <a:avLst/>
          </a:prstGeom>
        </p:spPr>
      </p:pic>
      <p:sp>
        <p:nvSpPr>
          <p:cNvPr id="1141" name="직사각형 4">
            <a:extLst>
              <a:ext uri="{FF2B5EF4-FFF2-40B4-BE49-F238E27FC236}">
                <a16:creationId xmlns:a16="http://schemas.microsoft.com/office/drawing/2014/main" id="{F25E7D80-A07F-844C-F7BB-2D845E2883BB}"/>
              </a:ext>
            </a:extLst>
          </p:cNvPr>
          <p:cNvSpPr/>
          <p:nvPr/>
        </p:nvSpPr>
        <p:spPr>
          <a:xfrm>
            <a:off x="349624" y="2288430"/>
            <a:ext cx="9224682" cy="1429877"/>
          </a:xfrm>
          <a:prstGeom prst="roundRect">
            <a:avLst>
              <a:gd name="adj" fmla="val 3416"/>
            </a:avLst>
          </a:prstGeom>
          <a:solidFill>
            <a:schemeClr val="bg1"/>
          </a:solidFill>
          <a:ln w="15875" cap="flat" cmpd="sng" algn="ctr">
            <a:solidFill>
              <a:srgbClr val="1B5587"/>
            </a:solidFill>
            <a:prstDash val="solid"/>
          </a:ln>
          <a:effectLst>
            <a:outerShdw blurRad="30480" dist="23000" dir="5400000" rotWithShape="0">
              <a:srgbClr val="000000">
                <a:alpha val="15000"/>
              </a:srgbClr>
            </a:outerShdw>
          </a:effectLst>
        </p:spPr>
        <p:txBody>
          <a:bodyPr tIns="180000" rtlCol="0" anchor="ctr"/>
          <a:lstStyle/>
          <a:p>
            <a:pPr algn="ctr" defTabSz="457200"/>
            <a:endParaRPr lang="ko-KR" altLang="en-US" sz="2000" kern="0" dirty="0">
              <a:solidFill>
                <a:srgbClr val="C43243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42" name="Rounded Rectangle 114">
            <a:extLst>
              <a:ext uri="{FF2B5EF4-FFF2-40B4-BE49-F238E27FC236}">
                <a16:creationId xmlns:a16="http://schemas.microsoft.com/office/drawing/2014/main" id="{7B67847C-164D-BA55-13B4-42875C6385E6}"/>
              </a:ext>
            </a:extLst>
          </p:cNvPr>
          <p:cNvSpPr/>
          <p:nvPr/>
        </p:nvSpPr>
        <p:spPr>
          <a:xfrm>
            <a:off x="539050" y="2462486"/>
            <a:ext cx="1980000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재고 조회</a:t>
            </a:r>
          </a:p>
        </p:txBody>
      </p:sp>
      <p:sp>
        <p:nvSpPr>
          <p:cNvPr id="1143" name="TextBox 57">
            <a:extLst>
              <a:ext uri="{FF2B5EF4-FFF2-40B4-BE49-F238E27FC236}">
                <a16:creationId xmlns:a16="http://schemas.microsoft.com/office/drawing/2014/main" id="{5FB75E6C-1C5C-8F9E-08B1-41E14CA8E2AC}"/>
              </a:ext>
            </a:extLst>
          </p:cNvPr>
          <p:cNvSpPr txBox="1"/>
          <p:nvPr/>
        </p:nvSpPr>
        <p:spPr>
          <a:xfrm>
            <a:off x="522571" y="2824572"/>
            <a:ext cx="1996480" cy="8725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로케이션별 재고 현황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상품</a:t>
            </a: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100" dirty="0" err="1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로트별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상세 조회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기간별 수불 이력 조회</a:t>
            </a:r>
            <a:endParaRPr lang="en-US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44" name="Rounded Rectangle 114">
            <a:extLst>
              <a:ext uri="{FF2B5EF4-FFF2-40B4-BE49-F238E27FC236}">
                <a16:creationId xmlns:a16="http://schemas.microsoft.com/office/drawing/2014/main" id="{D53AB224-B51E-11E7-0E06-35DD44A61959}"/>
              </a:ext>
            </a:extLst>
          </p:cNvPr>
          <p:cNvSpPr/>
          <p:nvPr/>
        </p:nvSpPr>
        <p:spPr>
          <a:xfrm>
            <a:off x="2820877" y="2462486"/>
            <a:ext cx="1980000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재고 이동</a:t>
            </a:r>
          </a:p>
        </p:txBody>
      </p:sp>
      <p:sp>
        <p:nvSpPr>
          <p:cNvPr id="1145" name="Rounded Rectangle 114">
            <a:extLst>
              <a:ext uri="{FF2B5EF4-FFF2-40B4-BE49-F238E27FC236}">
                <a16:creationId xmlns:a16="http://schemas.microsoft.com/office/drawing/2014/main" id="{4260EB66-43A7-6774-1440-AD5B6060AA68}"/>
              </a:ext>
            </a:extLst>
          </p:cNvPr>
          <p:cNvSpPr/>
          <p:nvPr/>
        </p:nvSpPr>
        <p:spPr>
          <a:xfrm>
            <a:off x="5102704" y="2462486"/>
            <a:ext cx="1980000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재고 조사</a:t>
            </a:r>
          </a:p>
        </p:txBody>
      </p:sp>
      <p:sp>
        <p:nvSpPr>
          <p:cNvPr id="1146" name="Rounded Rectangle 114">
            <a:extLst>
              <a:ext uri="{FF2B5EF4-FFF2-40B4-BE49-F238E27FC236}">
                <a16:creationId xmlns:a16="http://schemas.microsoft.com/office/drawing/2014/main" id="{662F1E2A-7001-A53E-A1AA-F4C63085C351}"/>
              </a:ext>
            </a:extLst>
          </p:cNvPr>
          <p:cNvSpPr/>
          <p:nvPr/>
        </p:nvSpPr>
        <p:spPr>
          <a:xfrm>
            <a:off x="7384531" y="2462486"/>
            <a:ext cx="1980000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재고 조정</a:t>
            </a:r>
            <a:r>
              <a:rPr lang="en-US" altLang="ko-KR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관리</a:t>
            </a:r>
          </a:p>
        </p:txBody>
      </p:sp>
      <p:sp>
        <p:nvSpPr>
          <p:cNvPr id="1147" name="TextBox 57">
            <a:extLst>
              <a:ext uri="{FF2B5EF4-FFF2-40B4-BE49-F238E27FC236}">
                <a16:creationId xmlns:a16="http://schemas.microsoft.com/office/drawing/2014/main" id="{9DA5FD5B-571C-57B8-39CC-CDBB14555C0C}"/>
              </a:ext>
            </a:extLst>
          </p:cNvPr>
          <p:cNvSpPr txBox="1"/>
          <p:nvPr/>
        </p:nvSpPr>
        <p:spPr>
          <a:xfrm>
            <a:off x="2820877" y="2824572"/>
            <a:ext cx="1996480" cy="8725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이동 지시 생성 및 출력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PDA 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 이동 처리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창고 간 이동 지원</a:t>
            </a:r>
            <a:endParaRPr lang="en-US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48" name="TextBox 57">
            <a:extLst>
              <a:ext uri="{FF2B5EF4-FFF2-40B4-BE49-F238E27FC236}">
                <a16:creationId xmlns:a16="http://schemas.microsoft.com/office/drawing/2014/main" id="{B01D4BD6-B00C-D540-AFD9-4118B1133D54}"/>
              </a:ext>
            </a:extLst>
          </p:cNvPr>
          <p:cNvSpPr txBox="1"/>
          <p:nvPr/>
        </p:nvSpPr>
        <p:spPr>
          <a:xfrm>
            <a:off x="5102704" y="2824572"/>
            <a:ext cx="1996480" cy="8725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전수</a:t>
            </a: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랜덤 조사 지시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PDA 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실물 수량 등록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전산 </a:t>
            </a: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vs 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실물 차이 관리</a:t>
            </a:r>
            <a:endParaRPr lang="en-US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49" name="TextBox 57">
            <a:extLst>
              <a:ext uri="{FF2B5EF4-FFF2-40B4-BE49-F238E27FC236}">
                <a16:creationId xmlns:a16="http://schemas.microsoft.com/office/drawing/2014/main" id="{CFE82DB3-7E91-577F-D505-ED8F042F10A5}"/>
              </a:ext>
            </a:extLst>
          </p:cNvPr>
          <p:cNvSpPr txBox="1"/>
          <p:nvPr/>
        </p:nvSpPr>
        <p:spPr>
          <a:xfrm>
            <a:off x="7384531" y="2824572"/>
            <a:ext cx="1996480" cy="8725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조정 확정 처리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유통기한</a:t>
            </a: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100" dirty="0" err="1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로트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속성 변경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90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 장기 재고 알림</a:t>
            </a:r>
            <a:endParaRPr lang="en-US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FD539B26-90BB-E0EF-44DB-70E11F118375}"/>
              </a:ext>
            </a:extLst>
          </p:cNvPr>
          <p:cNvSpPr txBox="1"/>
          <p:nvPr/>
        </p:nvSpPr>
        <p:spPr>
          <a:xfrm>
            <a:off x="418340" y="1945830"/>
            <a:ext cx="2659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gradFill flip="none" rotWithShape="1">
                  <a:gsLst>
                    <a:gs pos="16000">
                      <a:srgbClr val="3BA08A">
                        <a:alpha val="74902"/>
                      </a:srgbClr>
                    </a:gs>
                    <a:gs pos="100000">
                      <a:schemeClr val="bg1">
                        <a:lumMod val="95000"/>
                        <a:alpha val="0"/>
                      </a:schemeClr>
                    </a:gs>
                    <a:gs pos="63000">
                      <a:srgbClr val="007693"/>
                    </a:gs>
                  </a:gsLst>
                  <a:lin ang="5400000" scaled="1"/>
                  <a:tileRect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주요기능</a:t>
            </a:r>
            <a:endParaRPr lang="en-US" sz="2000" b="1" dirty="0">
              <a:gradFill flip="none" rotWithShape="1">
                <a:gsLst>
                  <a:gs pos="16000">
                    <a:srgbClr val="3BA08A">
                      <a:alpha val="74902"/>
                    </a:srgbClr>
                  </a:gs>
                  <a:gs pos="100000">
                    <a:schemeClr val="bg1">
                      <a:lumMod val="95000"/>
                      <a:alpha val="0"/>
                    </a:schemeClr>
                  </a:gs>
                  <a:gs pos="63000">
                    <a:srgbClr val="007693"/>
                  </a:gs>
                </a:gsLst>
                <a:lin ang="5400000" scaled="1"/>
                <a:tileRect/>
              </a:gra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52" name="직사각형 4">
            <a:extLst>
              <a:ext uri="{FF2B5EF4-FFF2-40B4-BE49-F238E27FC236}">
                <a16:creationId xmlns:a16="http://schemas.microsoft.com/office/drawing/2014/main" id="{F007D12A-58FF-F9B7-CBAE-9D64FA92B3D5}"/>
              </a:ext>
            </a:extLst>
          </p:cNvPr>
          <p:cNvSpPr/>
          <p:nvPr/>
        </p:nvSpPr>
        <p:spPr>
          <a:xfrm>
            <a:off x="349624" y="4575863"/>
            <a:ext cx="9224682" cy="948422"/>
          </a:xfrm>
          <a:prstGeom prst="roundRect">
            <a:avLst>
              <a:gd name="adj" fmla="val 3416"/>
            </a:avLst>
          </a:prstGeom>
          <a:solidFill>
            <a:schemeClr val="bg1"/>
          </a:solidFill>
          <a:ln w="15875" cap="flat" cmpd="sng" algn="ctr">
            <a:solidFill>
              <a:srgbClr val="1B5587"/>
            </a:solidFill>
            <a:prstDash val="solid"/>
          </a:ln>
          <a:effectLst>
            <a:outerShdw blurRad="30480" dist="23000" dir="5400000" rotWithShape="0">
              <a:srgbClr val="000000">
                <a:alpha val="15000"/>
              </a:srgbClr>
            </a:outerShdw>
          </a:effectLst>
        </p:spPr>
        <p:txBody>
          <a:bodyPr tIns="180000" rtlCol="0" anchor="ctr"/>
          <a:lstStyle/>
          <a:p>
            <a:pPr algn="ctr" defTabSz="457200"/>
            <a:endParaRPr lang="ko-KR" altLang="en-US" sz="2000" kern="0" dirty="0">
              <a:solidFill>
                <a:srgbClr val="C43243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2C1524B3-B3B5-AFDD-C47E-000E26C4ADCA}"/>
              </a:ext>
            </a:extLst>
          </p:cNvPr>
          <p:cNvSpPr txBox="1"/>
          <p:nvPr/>
        </p:nvSpPr>
        <p:spPr>
          <a:xfrm>
            <a:off x="418340" y="4233262"/>
            <a:ext cx="2659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gradFill flip="none" rotWithShape="1">
                  <a:gsLst>
                    <a:gs pos="16000">
                      <a:srgbClr val="3BA08A">
                        <a:alpha val="74902"/>
                      </a:srgbClr>
                    </a:gs>
                    <a:gs pos="100000">
                      <a:schemeClr val="bg1">
                        <a:lumMod val="95000"/>
                        <a:alpha val="0"/>
                      </a:schemeClr>
                    </a:gs>
                    <a:gs pos="63000">
                      <a:srgbClr val="007693"/>
                    </a:gs>
                  </a:gsLst>
                  <a:lin ang="5400000" scaled="1"/>
                  <a:tileRect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재고 할당 로직</a:t>
            </a:r>
            <a:endParaRPr lang="en-US" sz="2000" b="1" dirty="0">
              <a:gradFill flip="none" rotWithShape="1">
                <a:gsLst>
                  <a:gs pos="16000">
                    <a:srgbClr val="3BA08A">
                      <a:alpha val="74902"/>
                    </a:srgbClr>
                  </a:gs>
                  <a:gs pos="100000">
                    <a:schemeClr val="bg1">
                      <a:lumMod val="95000"/>
                      <a:alpha val="0"/>
                    </a:schemeClr>
                  </a:gs>
                  <a:gs pos="63000">
                    <a:srgbClr val="007693"/>
                  </a:gs>
                </a:gsLst>
                <a:lin ang="5400000" scaled="1"/>
                <a:tileRect/>
              </a:gra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D877E83-C76A-CD6E-0AC3-B4F659495A69}"/>
              </a:ext>
            </a:extLst>
          </p:cNvPr>
          <p:cNvSpPr txBox="1"/>
          <p:nvPr/>
        </p:nvSpPr>
        <p:spPr>
          <a:xfrm>
            <a:off x="539050" y="4844486"/>
            <a:ext cx="1116000" cy="400110"/>
          </a:xfrm>
          <a:prstGeom prst="roundRect">
            <a:avLst/>
          </a:prstGeom>
          <a:gradFill flip="none" rotWithShape="1">
            <a:gsLst>
              <a:gs pos="0">
                <a:srgbClr val="6156A0">
                  <a:alpha val="89804"/>
                </a:srgbClr>
              </a:gs>
              <a:gs pos="100000">
                <a:srgbClr val="4CA4C9">
                  <a:alpha val="69804"/>
                </a:srgbClr>
              </a:gs>
            </a:gsLst>
            <a:lin ang="16200000" scaled="0"/>
            <a:tileRect/>
          </a:gradFill>
          <a:ln w="9525" cap="flat" cmpd="sng" algn="ctr">
            <a:solidFill>
              <a:srgbClr val="5797A5">
                <a:alpha val="8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>
            <a:defPPr>
              <a:defRPr lang="ko-KR"/>
            </a:defPPr>
            <a:lvl1pPr algn="ctr" defTabSz="457200" latinLnBrk="0">
              <a:defRPr sz="800" b="1" kern="0">
                <a:solidFill>
                  <a:prstClr val="white"/>
                </a:solidFill>
              </a:defRPr>
            </a:lvl1pPr>
          </a:lstStyle>
          <a:p>
            <a:r>
              <a:rPr lang="en-US" sz="900" b="0" dirty="0">
                <a:solidFill>
                  <a:schemeClr val="accent6">
                    <a:lumMod val="20000"/>
                    <a:lumOff val="8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Step1</a:t>
            </a:r>
            <a:br>
              <a:rPr 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가용</a:t>
            </a:r>
            <a:r>
              <a:rPr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재고</a:t>
            </a:r>
            <a:r>
              <a:rPr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조회</a:t>
            </a:r>
            <a:endParaRPr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DB9F255-479A-CBB2-EE81-8CB95E086EF8}"/>
              </a:ext>
            </a:extLst>
          </p:cNvPr>
          <p:cNvSpPr txBox="1"/>
          <p:nvPr/>
        </p:nvSpPr>
        <p:spPr>
          <a:xfrm>
            <a:off x="1944146" y="4702541"/>
            <a:ext cx="1584000" cy="684000"/>
          </a:xfrm>
          <a:prstGeom prst="roundRect">
            <a:avLst>
              <a:gd name="adj" fmla="val 9835"/>
            </a:avLst>
          </a:prstGeom>
          <a:gradFill flip="none" rotWithShape="1">
            <a:gsLst>
              <a:gs pos="0">
                <a:srgbClr val="6156A0">
                  <a:alpha val="89804"/>
                </a:srgbClr>
              </a:gs>
              <a:gs pos="100000">
                <a:srgbClr val="4CA4C9">
                  <a:alpha val="69804"/>
                </a:srgbClr>
              </a:gs>
            </a:gsLst>
            <a:lin ang="16200000" scaled="0"/>
            <a:tileRect/>
          </a:gradFill>
          <a:ln w="9525" cap="flat" cmpd="sng" algn="ctr">
            <a:solidFill>
              <a:srgbClr val="5797A5">
                <a:alpha val="8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>
            <a:defPPr>
              <a:defRPr lang="ko-KR"/>
            </a:defPPr>
            <a:lvl1pPr algn="ctr" defTabSz="457200" latinLnBrk="0">
              <a:defRPr sz="800" b="1" kern="0">
                <a:solidFill>
                  <a:prstClr val="white"/>
                </a:solidFill>
              </a:defRPr>
            </a:lvl1pPr>
          </a:lstStyle>
          <a:p>
            <a:r>
              <a:rPr lang="en-US" altLang="ko-KR" sz="900" b="0" dirty="0">
                <a:solidFill>
                  <a:schemeClr val="accent6">
                    <a:lumMod val="20000"/>
                    <a:lumOff val="8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Step2</a:t>
            </a:r>
            <a:br>
              <a:rPr 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할당 로직</a:t>
            </a:r>
            <a:endParaRPr lang="en-US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9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</a:t>
            </a:r>
            <a:r>
              <a:rPr sz="9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FEFO</a:t>
            </a:r>
            <a:r>
              <a:rPr lang="en-US" altLang="ko-KR" sz="9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9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유통기한 임박 순 정렬</a:t>
            </a:r>
            <a:r>
              <a:rPr lang="en-US" altLang="ko-KR" sz="9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900" b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9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</a:t>
            </a:r>
            <a:r>
              <a:rPr lang="en-US" sz="9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FIFO</a:t>
            </a:r>
            <a:r>
              <a:rPr lang="en-US" altLang="ko-KR" sz="9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9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입고 순 정렬</a:t>
            </a:r>
            <a:r>
              <a:rPr lang="en-US" altLang="ko-KR" sz="900" b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sz="900" b="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09EA1D5-4FCA-0B07-9CE5-736003471AE9}"/>
              </a:ext>
            </a:extLst>
          </p:cNvPr>
          <p:cNvSpPr txBox="1"/>
          <p:nvPr/>
        </p:nvSpPr>
        <p:spPr>
          <a:xfrm>
            <a:off x="3817242" y="4846541"/>
            <a:ext cx="1116000" cy="396000"/>
          </a:xfrm>
          <a:prstGeom prst="roundRect">
            <a:avLst/>
          </a:prstGeom>
          <a:gradFill flip="none" rotWithShape="1">
            <a:gsLst>
              <a:gs pos="0">
                <a:srgbClr val="6156A0">
                  <a:alpha val="89804"/>
                </a:srgbClr>
              </a:gs>
              <a:gs pos="100000">
                <a:srgbClr val="4CA4C9">
                  <a:alpha val="69804"/>
                </a:srgbClr>
              </a:gs>
            </a:gsLst>
            <a:lin ang="16200000" scaled="0"/>
            <a:tileRect/>
          </a:gradFill>
          <a:ln w="9525" cap="flat" cmpd="sng" algn="ctr">
            <a:solidFill>
              <a:srgbClr val="5797A5">
                <a:alpha val="8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>
            <a:defPPr>
              <a:defRPr lang="ko-KR"/>
            </a:defPPr>
            <a:lvl1pPr algn="ctr" defTabSz="457200" latinLnBrk="0">
              <a:defRPr sz="800" b="1" kern="0">
                <a:solidFill>
                  <a:prstClr val="white"/>
                </a:solidFill>
              </a:defRPr>
            </a:lvl1pPr>
          </a:lstStyle>
          <a:p>
            <a:r>
              <a:rPr lang="en-US" altLang="ko-KR" sz="900" b="0" dirty="0">
                <a:solidFill>
                  <a:schemeClr val="accent6">
                    <a:lumMod val="20000"/>
                    <a:lumOff val="8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Step3</a:t>
            </a:r>
            <a:br>
              <a:rPr lang="en-US" altLang="ko-KR" sz="1000" b="0" dirty="0">
                <a:solidFill>
                  <a:schemeClr val="accent6">
                    <a:lumMod val="20000"/>
                    <a:lumOff val="8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할당</a:t>
            </a:r>
            <a:r>
              <a:rPr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수량</a:t>
            </a:r>
            <a:r>
              <a:rPr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결정</a:t>
            </a:r>
            <a:endParaRPr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6DF93EE-9563-BA7F-D6E0-24BF3B159682}"/>
              </a:ext>
            </a:extLst>
          </p:cNvPr>
          <p:cNvSpPr txBox="1"/>
          <p:nvPr/>
        </p:nvSpPr>
        <p:spPr>
          <a:xfrm>
            <a:off x="5222338" y="4846541"/>
            <a:ext cx="1116000" cy="396000"/>
          </a:xfrm>
          <a:prstGeom prst="roundRect">
            <a:avLst/>
          </a:prstGeom>
          <a:gradFill flip="none" rotWithShape="1">
            <a:gsLst>
              <a:gs pos="0">
                <a:srgbClr val="6156A0">
                  <a:alpha val="89804"/>
                </a:srgbClr>
              </a:gs>
              <a:gs pos="100000">
                <a:srgbClr val="4CA4C9">
                  <a:alpha val="69804"/>
                </a:srgbClr>
              </a:gs>
            </a:gsLst>
            <a:lin ang="16200000" scaled="0"/>
            <a:tileRect/>
          </a:gradFill>
          <a:ln w="9525" cap="flat" cmpd="sng" algn="ctr">
            <a:solidFill>
              <a:srgbClr val="5797A5">
                <a:alpha val="8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>
            <a:defPPr>
              <a:defRPr lang="ko-KR"/>
            </a:defPPr>
            <a:lvl1pPr algn="ctr" defTabSz="457200" latinLnBrk="0">
              <a:defRPr sz="800" b="1" kern="0">
                <a:solidFill>
                  <a:prstClr val="white"/>
                </a:solidFill>
              </a:defRPr>
            </a:lvl1pPr>
          </a:lstStyle>
          <a:p>
            <a:r>
              <a:rPr lang="en-US" altLang="ko-KR" sz="900" b="0" dirty="0">
                <a:solidFill>
                  <a:schemeClr val="accent6">
                    <a:lumMod val="20000"/>
                    <a:lumOff val="8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Step4</a:t>
            </a:r>
            <a:br>
              <a:rPr lang="en-US" altLang="ko-KR" sz="1000" b="0" dirty="0">
                <a:solidFill>
                  <a:schemeClr val="accent6">
                    <a:lumMod val="20000"/>
                    <a:lumOff val="8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재고 할당 </a:t>
            </a:r>
            <a:r>
              <a:rPr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생성</a:t>
            </a:r>
            <a:endParaRPr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65495FA-44E3-EF04-5997-A618AEE002C2}"/>
              </a:ext>
            </a:extLst>
          </p:cNvPr>
          <p:cNvSpPr txBox="1"/>
          <p:nvPr/>
        </p:nvSpPr>
        <p:spPr>
          <a:xfrm>
            <a:off x="6627434" y="4846541"/>
            <a:ext cx="1116000" cy="396000"/>
          </a:xfrm>
          <a:prstGeom prst="roundRect">
            <a:avLst/>
          </a:prstGeom>
          <a:gradFill flip="none" rotWithShape="1">
            <a:gsLst>
              <a:gs pos="0">
                <a:srgbClr val="6156A0">
                  <a:alpha val="89804"/>
                </a:srgbClr>
              </a:gs>
              <a:gs pos="100000">
                <a:srgbClr val="4CA4C9">
                  <a:alpha val="69804"/>
                </a:srgbClr>
              </a:gs>
            </a:gsLst>
            <a:lin ang="16200000" scaled="0"/>
            <a:tileRect/>
          </a:gradFill>
          <a:ln w="9525" cap="flat" cmpd="sng" algn="ctr">
            <a:solidFill>
              <a:srgbClr val="5797A5">
                <a:alpha val="8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>
            <a:defPPr>
              <a:defRPr lang="ko-KR"/>
            </a:defPPr>
            <a:lvl1pPr algn="ctr" defTabSz="457200" latinLnBrk="0">
              <a:defRPr sz="800" b="1" kern="0">
                <a:solidFill>
                  <a:prstClr val="white"/>
                </a:solidFill>
              </a:defRPr>
            </a:lvl1pPr>
          </a:lstStyle>
          <a:p>
            <a:r>
              <a:rPr lang="en-US" altLang="ko-KR" sz="900" b="0" dirty="0">
                <a:solidFill>
                  <a:schemeClr val="accent6">
                    <a:lumMod val="20000"/>
                    <a:lumOff val="8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Step5</a:t>
            </a:r>
            <a:endParaRPr lang="en-US" altLang="ko-KR" sz="1000" b="0" dirty="0">
              <a:solidFill>
                <a:schemeClr val="accent6">
                  <a:lumMod val="20000"/>
                  <a:lumOff val="8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할당 수량</a:t>
            </a:r>
            <a:r>
              <a:rPr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</a:t>
            </a:r>
            <a:endParaRPr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428628A-5045-65A4-BA45-234913CCF7F6}"/>
              </a:ext>
            </a:extLst>
          </p:cNvPr>
          <p:cNvSpPr txBox="1"/>
          <p:nvPr/>
        </p:nvSpPr>
        <p:spPr>
          <a:xfrm>
            <a:off x="8032531" y="4846541"/>
            <a:ext cx="1332000" cy="396000"/>
          </a:xfrm>
          <a:prstGeom prst="roundRect">
            <a:avLst/>
          </a:prstGeom>
          <a:gradFill flip="none" rotWithShape="1">
            <a:gsLst>
              <a:gs pos="0">
                <a:srgbClr val="6156A0">
                  <a:alpha val="89804"/>
                </a:srgbClr>
              </a:gs>
              <a:gs pos="100000">
                <a:srgbClr val="4CA4C9">
                  <a:alpha val="69804"/>
                </a:srgbClr>
              </a:gs>
            </a:gsLst>
            <a:lin ang="16200000" scaled="0"/>
            <a:tileRect/>
          </a:gradFill>
          <a:ln w="9525" cap="flat" cmpd="sng" algn="ctr">
            <a:solidFill>
              <a:srgbClr val="5797A5">
                <a:alpha val="8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>
            <a:defPPr>
              <a:defRPr lang="ko-KR"/>
            </a:defPPr>
            <a:lvl1pPr algn="ctr" defTabSz="457200" latinLnBrk="0">
              <a:defRPr sz="800" b="1" kern="0">
                <a:solidFill>
                  <a:prstClr val="white"/>
                </a:solidFill>
              </a:defRPr>
            </a:lvl1pPr>
          </a:lstStyle>
          <a:p>
            <a:r>
              <a:rPr lang="en-US" altLang="ko-KR" sz="900" b="0" dirty="0">
                <a:solidFill>
                  <a:schemeClr val="accent6">
                    <a:lumMod val="20000"/>
                    <a:lumOff val="8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Step6</a:t>
            </a:r>
            <a:br>
              <a:rPr lang="en-US" altLang="ko-KR" sz="1000" b="0" dirty="0">
                <a:solidFill>
                  <a:schemeClr val="accent6">
                    <a:lumMod val="20000"/>
                    <a:lumOff val="8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주문 </a:t>
            </a:r>
            <a:r>
              <a:rPr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마감시</a:t>
            </a:r>
            <a:r>
              <a:rPr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재고</a:t>
            </a:r>
            <a:r>
              <a:rPr 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차감</a:t>
            </a:r>
            <a:endParaRPr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155" name="Straight Connector 88">
            <a:extLst>
              <a:ext uri="{FF2B5EF4-FFF2-40B4-BE49-F238E27FC236}">
                <a16:creationId xmlns:a16="http://schemas.microsoft.com/office/drawing/2014/main" id="{24D5E3F7-DDDB-8145-A0BE-3AE4E53DA27A}"/>
              </a:ext>
            </a:extLst>
          </p:cNvPr>
          <p:cNvCxnSpPr>
            <a:cxnSpLocks/>
            <a:stCxn id="53" idx="1"/>
            <a:endCxn id="51" idx="3"/>
          </p:cNvCxnSpPr>
          <p:nvPr/>
        </p:nvCxnSpPr>
        <p:spPr>
          <a:xfrm flipH="1">
            <a:off x="1655050" y="5044541"/>
            <a:ext cx="289096" cy="0"/>
          </a:xfrm>
          <a:prstGeom prst="line">
            <a:avLst/>
          </a:prstGeom>
          <a:noFill/>
          <a:ln w="12700" cap="flat" cmpd="sng" algn="ctr">
            <a:gradFill flip="none" rotWithShape="1">
              <a:gsLst>
                <a:gs pos="0">
                  <a:srgbClr val="4F81BD">
                    <a:lumMod val="5000"/>
                    <a:lumOff val="95000"/>
                    <a:alpha val="0"/>
                  </a:srgbClr>
                </a:gs>
                <a:gs pos="71000">
                  <a:srgbClr val="3C8ECD"/>
                </a:gs>
              </a:gsLst>
              <a:path path="circle">
                <a:fillToRect l="100000" t="100000"/>
              </a:path>
              <a:tileRect r="-100000" b="-100000"/>
            </a:gradFill>
            <a:prstDash val="solid"/>
            <a:headEnd type="stealth"/>
          </a:ln>
          <a:effectLst/>
        </p:spPr>
      </p:cxnSp>
      <p:cxnSp>
        <p:nvCxnSpPr>
          <p:cNvPr id="1158" name="Straight Connector 88">
            <a:extLst>
              <a:ext uri="{FF2B5EF4-FFF2-40B4-BE49-F238E27FC236}">
                <a16:creationId xmlns:a16="http://schemas.microsoft.com/office/drawing/2014/main" id="{5C06D41F-2258-F1EA-0B3F-1C696122FBFC}"/>
              </a:ext>
            </a:extLst>
          </p:cNvPr>
          <p:cNvCxnSpPr>
            <a:cxnSpLocks/>
            <a:stCxn id="55" idx="1"/>
            <a:endCxn id="53" idx="3"/>
          </p:cNvCxnSpPr>
          <p:nvPr/>
        </p:nvCxnSpPr>
        <p:spPr>
          <a:xfrm flipH="1">
            <a:off x="3528146" y="5044541"/>
            <a:ext cx="289096" cy="0"/>
          </a:xfrm>
          <a:prstGeom prst="line">
            <a:avLst/>
          </a:prstGeom>
          <a:noFill/>
          <a:ln w="12700" cap="flat" cmpd="sng" algn="ctr">
            <a:gradFill flip="none" rotWithShape="1">
              <a:gsLst>
                <a:gs pos="0">
                  <a:srgbClr val="4F81BD">
                    <a:lumMod val="5000"/>
                    <a:lumOff val="95000"/>
                    <a:alpha val="0"/>
                  </a:srgbClr>
                </a:gs>
                <a:gs pos="71000">
                  <a:srgbClr val="3C8ECD"/>
                </a:gs>
              </a:gsLst>
              <a:path path="circle">
                <a:fillToRect l="100000" t="100000"/>
              </a:path>
              <a:tileRect r="-100000" b="-100000"/>
            </a:gradFill>
            <a:prstDash val="solid"/>
            <a:headEnd type="stealth"/>
          </a:ln>
          <a:effectLst/>
        </p:spPr>
      </p:cxnSp>
      <p:cxnSp>
        <p:nvCxnSpPr>
          <p:cNvPr id="1161" name="Straight Connector 88">
            <a:extLst>
              <a:ext uri="{FF2B5EF4-FFF2-40B4-BE49-F238E27FC236}">
                <a16:creationId xmlns:a16="http://schemas.microsoft.com/office/drawing/2014/main" id="{89C84824-EDC8-AD52-5DF9-6012E8AFBC0A}"/>
              </a:ext>
            </a:extLst>
          </p:cNvPr>
          <p:cNvCxnSpPr>
            <a:cxnSpLocks/>
            <a:stCxn id="57" idx="1"/>
            <a:endCxn id="55" idx="3"/>
          </p:cNvCxnSpPr>
          <p:nvPr/>
        </p:nvCxnSpPr>
        <p:spPr>
          <a:xfrm flipH="1">
            <a:off x="4933242" y="5044541"/>
            <a:ext cx="289096" cy="0"/>
          </a:xfrm>
          <a:prstGeom prst="line">
            <a:avLst/>
          </a:prstGeom>
          <a:noFill/>
          <a:ln w="12700" cap="flat" cmpd="sng" algn="ctr">
            <a:gradFill flip="none" rotWithShape="1">
              <a:gsLst>
                <a:gs pos="0">
                  <a:srgbClr val="4F81BD">
                    <a:lumMod val="5000"/>
                    <a:lumOff val="95000"/>
                    <a:alpha val="0"/>
                  </a:srgbClr>
                </a:gs>
                <a:gs pos="71000">
                  <a:srgbClr val="3C8ECD"/>
                </a:gs>
              </a:gsLst>
              <a:path path="circle">
                <a:fillToRect l="100000" t="100000"/>
              </a:path>
              <a:tileRect r="-100000" b="-100000"/>
            </a:gradFill>
            <a:prstDash val="solid"/>
            <a:headEnd type="stealth"/>
          </a:ln>
          <a:effectLst/>
        </p:spPr>
      </p:cxnSp>
      <p:cxnSp>
        <p:nvCxnSpPr>
          <p:cNvPr id="1164" name="Straight Connector 88">
            <a:extLst>
              <a:ext uri="{FF2B5EF4-FFF2-40B4-BE49-F238E27FC236}">
                <a16:creationId xmlns:a16="http://schemas.microsoft.com/office/drawing/2014/main" id="{9FBB7DF4-53B7-16A9-1C12-3971EAECC803}"/>
              </a:ext>
            </a:extLst>
          </p:cNvPr>
          <p:cNvCxnSpPr>
            <a:cxnSpLocks/>
            <a:stCxn id="59" idx="1"/>
            <a:endCxn id="57" idx="3"/>
          </p:cNvCxnSpPr>
          <p:nvPr/>
        </p:nvCxnSpPr>
        <p:spPr>
          <a:xfrm flipH="1">
            <a:off x="6338338" y="5044541"/>
            <a:ext cx="289096" cy="0"/>
          </a:xfrm>
          <a:prstGeom prst="line">
            <a:avLst/>
          </a:prstGeom>
          <a:noFill/>
          <a:ln w="12700" cap="flat" cmpd="sng" algn="ctr">
            <a:gradFill flip="none" rotWithShape="1">
              <a:gsLst>
                <a:gs pos="0">
                  <a:srgbClr val="4F81BD">
                    <a:lumMod val="5000"/>
                    <a:lumOff val="95000"/>
                    <a:alpha val="0"/>
                  </a:srgbClr>
                </a:gs>
                <a:gs pos="71000">
                  <a:srgbClr val="3C8ECD"/>
                </a:gs>
              </a:gsLst>
              <a:path path="circle">
                <a:fillToRect l="100000" t="100000"/>
              </a:path>
              <a:tileRect r="-100000" b="-100000"/>
            </a:gradFill>
            <a:prstDash val="solid"/>
            <a:headEnd type="stealth"/>
          </a:ln>
          <a:effectLst/>
        </p:spPr>
      </p:cxnSp>
      <p:cxnSp>
        <p:nvCxnSpPr>
          <p:cNvPr id="1167" name="Straight Connector 88">
            <a:extLst>
              <a:ext uri="{FF2B5EF4-FFF2-40B4-BE49-F238E27FC236}">
                <a16:creationId xmlns:a16="http://schemas.microsoft.com/office/drawing/2014/main" id="{54EBAA00-6F5A-1F44-EF08-9E1837CC97D2}"/>
              </a:ext>
            </a:extLst>
          </p:cNvPr>
          <p:cNvCxnSpPr>
            <a:cxnSpLocks/>
            <a:stCxn id="61" idx="1"/>
            <a:endCxn id="59" idx="3"/>
          </p:cNvCxnSpPr>
          <p:nvPr/>
        </p:nvCxnSpPr>
        <p:spPr>
          <a:xfrm flipH="1">
            <a:off x="7743434" y="5044541"/>
            <a:ext cx="289097" cy="0"/>
          </a:xfrm>
          <a:prstGeom prst="line">
            <a:avLst/>
          </a:prstGeom>
          <a:noFill/>
          <a:ln w="12700" cap="flat" cmpd="sng" algn="ctr">
            <a:gradFill flip="none" rotWithShape="1">
              <a:gsLst>
                <a:gs pos="0">
                  <a:srgbClr val="4F81BD">
                    <a:lumMod val="5000"/>
                    <a:lumOff val="95000"/>
                    <a:alpha val="0"/>
                  </a:srgbClr>
                </a:gs>
                <a:gs pos="71000">
                  <a:srgbClr val="3C8ECD"/>
                </a:gs>
              </a:gsLst>
              <a:path path="circle">
                <a:fillToRect l="100000" t="100000"/>
              </a:path>
              <a:tileRect r="-100000" b="-100000"/>
            </a:gradFill>
            <a:prstDash val="solid"/>
            <a:headEnd type="stealth"/>
          </a:ln>
          <a:effectLst/>
        </p:spPr>
      </p:cxnSp>
    </p:spTree>
    <p:extLst>
      <p:ext uri="{BB962C8B-B14F-4D97-AF65-F5344CB8AC3E}">
        <p14:creationId xmlns:p14="http://schemas.microsoft.com/office/powerpoint/2010/main" val="4102623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BC0E12F3-BCA7-0D41-A130-B2492A838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화면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재고</a:t>
            </a:r>
            <a:r>
              <a:rPr kumimoji="1" lang="en-US" altLang="ko-KR" dirty="0"/>
              <a:t> </a:t>
            </a:r>
            <a:r>
              <a:rPr kumimoji="1" lang="ko-KR" altLang="en-US" dirty="0"/>
              <a:t>관리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516324-89FF-3840-ABF7-75AA0AD2A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/>
              <a:t>12</a:t>
            </a:fld>
            <a:endParaRPr kumimoji="1"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8612F059-E1AA-3CA5-A7BC-A57E29696F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0290" y="655627"/>
            <a:ext cx="4374730" cy="2448000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24" name="그림 23" descr="텍스트, 테이블이(가) 표시된 사진&#10;&#10;자동 생성된 설명">
            <a:extLst>
              <a:ext uri="{FF2B5EF4-FFF2-40B4-BE49-F238E27FC236}">
                <a16:creationId xmlns:a16="http://schemas.microsoft.com/office/drawing/2014/main" id="{4FCE40B1-46B0-0FB7-D4E3-7ED5DB2B9C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93369" y="655628"/>
            <a:ext cx="4119271" cy="2448000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25" name="그림 24" descr="텍스트이(가) 표시된 사진&#10;&#10;자동 생성된 설명">
            <a:extLst>
              <a:ext uri="{FF2B5EF4-FFF2-40B4-BE49-F238E27FC236}">
                <a16:creationId xmlns:a16="http://schemas.microsoft.com/office/drawing/2014/main" id="{1406EB62-87E8-ABF9-FC57-D95365B86B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93369" y="3730255"/>
            <a:ext cx="3976914" cy="2448000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26" name="Rounded Rectangle 57">
            <a:extLst>
              <a:ext uri="{FF2B5EF4-FFF2-40B4-BE49-F238E27FC236}">
                <a16:creationId xmlns:a16="http://schemas.microsoft.com/office/drawing/2014/main" id="{E3AFAD56-E4D3-5E02-2D37-76A099842220}"/>
              </a:ext>
            </a:extLst>
          </p:cNvPr>
          <p:cNvSpPr/>
          <p:nvPr/>
        </p:nvSpPr>
        <p:spPr>
          <a:xfrm>
            <a:off x="577234" y="2945155"/>
            <a:ext cx="1008000" cy="252000"/>
          </a:xfrm>
          <a:prstGeom prst="roundRect">
            <a:avLst>
              <a:gd name="adj" fmla="val 28912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5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재고 현황</a:t>
            </a:r>
            <a:endParaRPr lang="en-US" altLang="ko-KR" sz="105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Rounded Rectangle 57">
            <a:extLst>
              <a:ext uri="{FF2B5EF4-FFF2-40B4-BE49-F238E27FC236}">
                <a16:creationId xmlns:a16="http://schemas.microsoft.com/office/drawing/2014/main" id="{6E176F25-BA39-3E01-214E-FA57DA5CD624}"/>
              </a:ext>
            </a:extLst>
          </p:cNvPr>
          <p:cNvSpPr/>
          <p:nvPr/>
        </p:nvSpPr>
        <p:spPr>
          <a:xfrm>
            <a:off x="6777825" y="6052255"/>
            <a:ext cx="1392139" cy="252000"/>
          </a:xfrm>
          <a:prstGeom prst="roundRect">
            <a:avLst>
              <a:gd name="adj" fmla="val 28912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5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상품별 재고 현황</a:t>
            </a:r>
            <a:endParaRPr lang="en-US" altLang="ko-KR" sz="105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Rounded Rectangle 57">
            <a:extLst>
              <a:ext uri="{FF2B5EF4-FFF2-40B4-BE49-F238E27FC236}">
                <a16:creationId xmlns:a16="http://schemas.microsoft.com/office/drawing/2014/main" id="{6EE9FE2C-CA7C-A308-3A1C-A98CD1572264}"/>
              </a:ext>
            </a:extLst>
          </p:cNvPr>
          <p:cNvSpPr/>
          <p:nvPr/>
        </p:nvSpPr>
        <p:spPr>
          <a:xfrm>
            <a:off x="7603435" y="2961704"/>
            <a:ext cx="1666847" cy="252000"/>
          </a:xfrm>
          <a:prstGeom prst="roundRect">
            <a:avLst>
              <a:gd name="adj" fmla="val 28912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5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로케이션별 재고 현황</a:t>
            </a:r>
            <a:endParaRPr lang="en-US" altLang="ko-KR" sz="105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" name="그림 2" descr="스크린샷이(가) 표시된 사진&#10;&#10;자동 생성된 설명">
            <a:extLst>
              <a:ext uri="{FF2B5EF4-FFF2-40B4-BE49-F238E27FC236}">
                <a16:creationId xmlns:a16="http://schemas.microsoft.com/office/drawing/2014/main" id="{B91F263F-47C6-4BC0-30AA-33E96D80923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0290" y="3730256"/>
            <a:ext cx="4211067" cy="2448000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2" name="Rounded Rectangle 57">
            <a:extLst>
              <a:ext uri="{FF2B5EF4-FFF2-40B4-BE49-F238E27FC236}">
                <a16:creationId xmlns:a16="http://schemas.microsoft.com/office/drawing/2014/main" id="{67AA1F02-6EC0-970F-E6EF-401144741FA4}"/>
              </a:ext>
            </a:extLst>
          </p:cNvPr>
          <p:cNvSpPr/>
          <p:nvPr/>
        </p:nvSpPr>
        <p:spPr>
          <a:xfrm>
            <a:off x="2041823" y="6052255"/>
            <a:ext cx="1008000" cy="252000"/>
          </a:xfrm>
          <a:prstGeom prst="roundRect">
            <a:avLst>
              <a:gd name="adj" fmla="val 28912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5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재고 이력</a:t>
            </a:r>
            <a:endParaRPr lang="en-US" altLang="ko-KR" sz="105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2E41692-B2A7-483C-FCD7-646D5C491C1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89185" y="2138604"/>
            <a:ext cx="4564174" cy="2592000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7" name="Rounded Rectangle 57">
            <a:extLst>
              <a:ext uri="{FF2B5EF4-FFF2-40B4-BE49-F238E27FC236}">
                <a16:creationId xmlns:a16="http://schemas.microsoft.com/office/drawing/2014/main" id="{71217167-727F-2F0E-31B6-07357E412615}"/>
              </a:ext>
            </a:extLst>
          </p:cNvPr>
          <p:cNvSpPr/>
          <p:nvPr/>
        </p:nvSpPr>
        <p:spPr>
          <a:xfrm>
            <a:off x="4651671" y="4618093"/>
            <a:ext cx="839202" cy="252000"/>
          </a:xfrm>
          <a:prstGeom prst="roundRect">
            <a:avLst>
              <a:gd name="adj" fmla="val 28912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50" kern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대시보드</a:t>
            </a:r>
            <a:endParaRPr lang="en-US" altLang="ko-KR" sz="105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6844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E2171-3282-B796-3246-CC3D2EF2B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D0A9D967-6A60-FEFA-7C0F-8272A48AE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출고 프로세스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E8CA3F-CF3B-7348-1B31-9550FFDB44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/>
              <a:t>13</a:t>
            </a:fld>
            <a:endParaRPr kumimoji="1" lang="ko-KR" altLang="en-US"/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A7D6E7B1-2AF6-B12B-9EAE-102C98C95F73}"/>
              </a:ext>
            </a:extLst>
          </p:cNvPr>
          <p:cNvSpPr txBox="1"/>
          <p:nvPr/>
        </p:nvSpPr>
        <p:spPr>
          <a:xfrm>
            <a:off x="4819147" y="498081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 anchor="ctr">
            <a:noAutofit/>
          </a:bodyPr>
          <a:lstStyle/>
          <a:p>
            <a:pPr algn="ctr"/>
            <a:endParaRPr kumimoji="1" lang="ko-KR" altLang="en-US" sz="1600" dirty="0">
              <a:solidFill>
                <a:schemeClr val="bg2">
                  <a:lumMod val="75000"/>
                </a:schemeClr>
              </a:solidFill>
              <a:latin typeface="+mn-ea"/>
              <a:cs typeface="Hankook TTF Medium"/>
              <a:sym typeface="Hankook TTF Medium"/>
            </a:endParaRPr>
          </a:p>
        </p:txBody>
      </p:sp>
      <p:sp>
        <p:nvSpPr>
          <p:cNvPr id="2" name="직사각형 4">
            <a:extLst>
              <a:ext uri="{FF2B5EF4-FFF2-40B4-BE49-F238E27FC236}">
                <a16:creationId xmlns:a16="http://schemas.microsoft.com/office/drawing/2014/main" id="{5AA203F4-C968-0313-938B-A4D1117AAE25}"/>
              </a:ext>
            </a:extLst>
          </p:cNvPr>
          <p:cNvSpPr/>
          <p:nvPr/>
        </p:nvSpPr>
        <p:spPr>
          <a:xfrm>
            <a:off x="349624" y="2404570"/>
            <a:ext cx="9224682" cy="1429877"/>
          </a:xfrm>
          <a:prstGeom prst="roundRect">
            <a:avLst>
              <a:gd name="adj" fmla="val 3416"/>
            </a:avLst>
          </a:prstGeom>
          <a:solidFill>
            <a:schemeClr val="bg1"/>
          </a:solidFill>
          <a:ln w="15875" cap="flat" cmpd="sng" algn="ctr">
            <a:solidFill>
              <a:srgbClr val="1B5587"/>
            </a:solidFill>
            <a:prstDash val="solid"/>
          </a:ln>
          <a:effectLst>
            <a:outerShdw blurRad="30480" dist="23000" dir="5400000" rotWithShape="0">
              <a:srgbClr val="000000">
                <a:alpha val="15000"/>
              </a:srgbClr>
            </a:outerShdw>
          </a:effectLst>
        </p:spPr>
        <p:txBody>
          <a:bodyPr tIns="180000" rtlCol="0" anchor="ctr"/>
          <a:lstStyle/>
          <a:p>
            <a:pPr algn="ctr" defTabSz="457200"/>
            <a:endParaRPr lang="ko-KR" altLang="en-US" sz="2000" kern="0" dirty="0">
              <a:solidFill>
                <a:srgbClr val="C43243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Rounded Rectangle 114">
            <a:extLst>
              <a:ext uri="{FF2B5EF4-FFF2-40B4-BE49-F238E27FC236}">
                <a16:creationId xmlns:a16="http://schemas.microsoft.com/office/drawing/2014/main" id="{521C0B25-2294-CA69-FCC7-838A98DEB26F}"/>
              </a:ext>
            </a:extLst>
          </p:cNvPr>
          <p:cNvSpPr/>
          <p:nvPr/>
        </p:nvSpPr>
        <p:spPr>
          <a:xfrm>
            <a:off x="539050" y="2578626"/>
            <a:ext cx="1980000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출고 예정 등록</a:t>
            </a:r>
          </a:p>
        </p:txBody>
      </p:sp>
      <p:sp>
        <p:nvSpPr>
          <p:cNvPr id="6" name="TextBox 57">
            <a:extLst>
              <a:ext uri="{FF2B5EF4-FFF2-40B4-BE49-F238E27FC236}">
                <a16:creationId xmlns:a16="http://schemas.microsoft.com/office/drawing/2014/main" id="{5B96FA64-556B-9A31-3016-C5664D533533}"/>
              </a:ext>
            </a:extLst>
          </p:cNvPr>
          <p:cNvSpPr txBox="1"/>
          <p:nvPr/>
        </p:nvSpPr>
        <p:spPr>
          <a:xfrm>
            <a:off x="522571" y="2940712"/>
            <a:ext cx="1996480" cy="8725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 err="1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화주사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등록 혹은 수신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API 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 자동 수신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Excel 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 등록</a:t>
            </a:r>
            <a:endParaRPr lang="en-US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Rounded Rectangle 114">
            <a:extLst>
              <a:ext uri="{FF2B5EF4-FFF2-40B4-BE49-F238E27FC236}">
                <a16:creationId xmlns:a16="http://schemas.microsoft.com/office/drawing/2014/main" id="{AB6625B2-A898-9A20-1322-012CC43D6529}"/>
              </a:ext>
            </a:extLst>
          </p:cNvPr>
          <p:cNvSpPr/>
          <p:nvPr/>
        </p:nvSpPr>
        <p:spPr>
          <a:xfrm>
            <a:off x="2820877" y="2578626"/>
            <a:ext cx="1980000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주문 확정</a:t>
            </a:r>
          </a:p>
        </p:txBody>
      </p:sp>
      <p:sp>
        <p:nvSpPr>
          <p:cNvPr id="8" name="Rounded Rectangle 114">
            <a:extLst>
              <a:ext uri="{FF2B5EF4-FFF2-40B4-BE49-F238E27FC236}">
                <a16:creationId xmlns:a16="http://schemas.microsoft.com/office/drawing/2014/main" id="{180365B7-F20E-2CEC-FAF1-9CDB00EEFBEA}"/>
              </a:ext>
            </a:extLst>
          </p:cNvPr>
          <p:cNvSpPr/>
          <p:nvPr/>
        </p:nvSpPr>
        <p:spPr>
          <a:xfrm>
            <a:off x="5102704" y="2578626"/>
            <a:ext cx="1980000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재고 할당</a:t>
            </a:r>
          </a:p>
        </p:txBody>
      </p:sp>
      <p:sp>
        <p:nvSpPr>
          <p:cNvPr id="9" name="Rounded Rectangle 114">
            <a:extLst>
              <a:ext uri="{FF2B5EF4-FFF2-40B4-BE49-F238E27FC236}">
                <a16:creationId xmlns:a16="http://schemas.microsoft.com/office/drawing/2014/main" id="{415C7840-94D4-3BD2-BE4B-ED60D5369A65}"/>
              </a:ext>
            </a:extLst>
          </p:cNvPr>
          <p:cNvSpPr/>
          <p:nvPr/>
        </p:nvSpPr>
        <p:spPr>
          <a:xfrm>
            <a:off x="7384531" y="2578626"/>
            <a:ext cx="1980000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Wave </a:t>
            </a:r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관리</a:t>
            </a:r>
          </a:p>
        </p:txBody>
      </p:sp>
      <p:sp>
        <p:nvSpPr>
          <p:cNvPr id="10" name="TextBox 57">
            <a:extLst>
              <a:ext uri="{FF2B5EF4-FFF2-40B4-BE49-F238E27FC236}">
                <a16:creationId xmlns:a16="http://schemas.microsoft.com/office/drawing/2014/main" id="{7C73F2CF-FA6A-8FDC-A437-5550DCAB8E08}"/>
              </a:ext>
            </a:extLst>
          </p:cNvPr>
          <p:cNvSpPr txBox="1"/>
          <p:nvPr/>
        </p:nvSpPr>
        <p:spPr>
          <a:xfrm>
            <a:off x="2820877" y="2940712"/>
            <a:ext cx="1996480" cy="8725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물류 센터 주문 확정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 err="1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단건</a:t>
            </a: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복수 일괄 확정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대상 분류</a:t>
            </a:r>
            <a:endParaRPr lang="en-US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TextBox 57">
            <a:extLst>
              <a:ext uri="{FF2B5EF4-FFF2-40B4-BE49-F238E27FC236}">
                <a16:creationId xmlns:a16="http://schemas.microsoft.com/office/drawing/2014/main" id="{5D753EE5-EE49-93D5-74EE-9675C229BF1F}"/>
              </a:ext>
            </a:extLst>
          </p:cNvPr>
          <p:cNvSpPr txBox="1"/>
          <p:nvPr/>
        </p:nvSpPr>
        <p:spPr>
          <a:xfrm>
            <a:off x="5102704" y="2940712"/>
            <a:ext cx="1996480" cy="8725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FEFO 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 자동 할당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부분 할당 </a:t>
            </a: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(BACK_ORDER)</a:t>
            </a: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할당 해제 처리</a:t>
            </a:r>
            <a:endParaRPr lang="en-US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TextBox 57">
            <a:extLst>
              <a:ext uri="{FF2B5EF4-FFF2-40B4-BE49-F238E27FC236}">
                <a16:creationId xmlns:a16="http://schemas.microsoft.com/office/drawing/2014/main" id="{2CD7D049-D7C7-929F-4E3C-D6D31C77D68C}"/>
              </a:ext>
            </a:extLst>
          </p:cNvPr>
          <p:cNvSpPr txBox="1"/>
          <p:nvPr/>
        </p:nvSpPr>
        <p:spPr>
          <a:xfrm>
            <a:off x="7384531" y="2940712"/>
            <a:ext cx="1996480" cy="8725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자동</a:t>
            </a: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수동 </a:t>
            </a: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Wave 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생성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 err="1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택배사</a:t>
            </a: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100" dirty="0" err="1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피킹타입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설정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Wave 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릴리스</a:t>
            </a: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취소</a:t>
            </a:r>
            <a:endParaRPr lang="en-US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B4B6DC-0FD0-7EE1-9036-9640766F650E}"/>
              </a:ext>
            </a:extLst>
          </p:cNvPr>
          <p:cNvSpPr txBox="1"/>
          <p:nvPr/>
        </p:nvSpPr>
        <p:spPr>
          <a:xfrm>
            <a:off x="418340" y="2061970"/>
            <a:ext cx="2659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gradFill flip="none" rotWithShape="1">
                  <a:gsLst>
                    <a:gs pos="16000">
                      <a:srgbClr val="3BA08A">
                        <a:alpha val="74902"/>
                      </a:srgbClr>
                    </a:gs>
                    <a:gs pos="100000">
                      <a:schemeClr val="bg1">
                        <a:lumMod val="95000"/>
                        <a:alpha val="0"/>
                      </a:schemeClr>
                    </a:gs>
                    <a:gs pos="63000">
                      <a:srgbClr val="007693"/>
                    </a:gs>
                  </a:gsLst>
                  <a:lin ang="5400000" scaled="1"/>
                  <a:tileRect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출고 계획 흐름</a:t>
            </a:r>
            <a:endParaRPr lang="en-US" sz="2000" b="1" dirty="0">
              <a:gradFill flip="none" rotWithShape="1">
                <a:gsLst>
                  <a:gs pos="16000">
                    <a:srgbClr val="3BA08A">
                      <a:alpha val="74902"/>
                    </a:srgbClr>
                  </a:gs>
                  <a:gs pos="100000">
                    <a:schemeClr val="bg1">
                      <a:lumMod val="95000"/>
                      <a:alpha val="0"/>
                    </a:schemeClr>
                  </a:gs>
                  <a:gs pos="63000">
                    <a:srgbClr val="007693"/>
                  </a:gs>
                </a:gsLst>
                <a:lin ang="5400000" scaled="1"/>
                <a:tileRect/>
              </a:gra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6217F88E-0B15-C8E3-FFFC-215FD2E1A9CE}"/>
              </a:ext>
            </a:extLst>
          </p:cNvPr>
          <p:cNvGrpSpPr/>
          <p:nvPr/>
        </p:nvGrpSpPr>
        <p:grpSpPr>
          <a:xfrm>
            <a:off x="404892" y="1017359"/>
            <a:ext cx="9082768" cy="473170"/>
            <a:chOff x="404892" y="813666"/>
            <a:chExt cx="9082768" cy="473170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244F507A-424F-53E8-1A93-C0BEA7E2F054}"/>
                </a:ext>
              </a:extLst>
            </p:cNvPr>
            <p:cNvGrpSpPr/>
            <p:nvPr/>
          </p:nvGrpSpPr>
          <p:grpSpPr>
            <a:xfrm>
              <a:off x="2372107" y="818836"/>
              <a:ext cx="266112" cy="468000"/>
              <a:chOff x="3230708" y="1002732"/>
              <a:chExt cx="266112" cy="513571"/>
            </a:xfrm>
          </p:grpSpPr>
          <p:sp>
            <p:nvSpPr>
              <p:cNvPr id="1111" name="오각형[P] 1110">
                <a:extLst>
                  <a:ext uri="{FF2B5EF4-FFF2-40B4-BE49-F238E27FC236}">
                    <a16:creationId xmlns:a16="http://schemas.microsoft.com/office/drawing/2014/main" id="{FA6673E1-BC87-FF84-55BB-C5D423B1FF84}"/>
                  </a:ext>
                </a:extLst>
              </p:cNvPr>
              <p:cNvSpPr/>
              <p:nvPr/>
            </p:nvSpPr>
            <p:spPr>
              <a:xfrm>
                <a:off x="3230708" y="1002732"/>
                <a:ext cx="169222" cy="513571"/>
              </a:xfrm>
              <a:prstGeom prst="homePlate">
                <a:avLst>
                  <a:gd name="adj" fmla="val 68197"/>
                </a:avLst>
              </a:prstGeom>
              <a:gradFill flip="none" rotWithShape="1">
                <a:gsLst>
                  <a:gs pos="0">
                    <a:schemeClr val="accent2">
                      <a:lumMod val="0"/>
                      <a:lumOff val="100000"/>
                      <a:alpha val="0"/>
                    </a:schemeClr>
                  </a:gs>
                  <a:gs pos="88000">
                    <a:srgbClr val="5CA6C1">
                      <a:alpha val="5000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1112" name="오각형[P] 1111">
                <a:extLst>
                  <a:ext uri="{FF2B5EF4-FFF2-40B4-BE49-F238E27FC236}">
                    <a16:creationId xmlns:a16="http://schemas.microsoft.com/office/drawing/2014/main" id="{FFA92ED2-52FF-87B2-DB57-66F57218C974}"/>
                  </a:ext>
                </a:extLst>
              </p:cNvPr>
              <p:cNvSpPr/>
              <p:nvPr/>
            </p:nvSpPr>
            <p:spPr>
              <a:xfrm>
                <a:off x="3327598" y="1002732"/>
                <a:ext cx="169222" cy="513571"/>
              </a:xfrm>
              <a:prstGeom prst="homePlate">
                <a:avLst>
                  <a:gd name="adj" fmla="val 68197"/>
                </a:avLst>
              </a:prstGeom>
              <a:gradFill flip="none" rotWithShape="1">
                <a:gsLst>
                  <a:gs pos="0">
                    <a:schemeClr val="accent2">
                      <a:lumMod val="0"/>
                      <a:lumOff val="100000"/>
                      <a:alpha val="0"/>
                    </a:schemeClr>
                  </a:gs>
                  <a:gs pos="88000">
                    <a:srgbClr val="5CA6C1">
                      <a:alpha val="5000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DF4B6628-9A84-E95D-1E6B-D8A29F848C90}"/>
                </a:ext>
              </a:extLst>
            </p:cNvPr>
            <p:cNvGrpSpPr/>
            <p:nvPr/>
          </p:nvGrpSpPr>
          <p:grpSpPr>
            <a:xfrm>
              <a:off x="1189123" y="813666"/>
              <a:ext cx="266112" cy="464799"/>
              <a:chOff x="1680467" y="1002732"/>
              <a:chExt cx="266112" cy="513571"/>
            </a:xfrm>
          </p:grpSpPr>
          <p:sp>
            <p:nvSpPr>
              <p:cNvPr id="1109" name="오각형[P] 1108">
                <a:extLst>
                  <a:ext uri="{FF2B5EF4-FFF2-40B4-BE49-F238E27FC236}">
                    <a16:creationId xmlns:a16="http://schemas.microsoft.com/office/drawing/2014/main" id="{393CC381-62C4-548D-2313-27AA85C06E7E}"/>
                  </a:ext>
                </a:extLst>
              </p:cNvPr>
              <p:cNvSpPr/>
              <p:nvPr/>
            </p:nvSpPr>
            <p:spPr>
              <a:xfrm>
                <a:off x="1680467" y="1002732"/>
                <a:ext cx="169222" cy="513571"/>
              </a:xfrm>
              <a:prstGeom prst="homePlate">
                <a:avLst>
                  <a:gd name="adj" fmla="val 68197"/>
                </a:avLst>
              </a:prstGeom>
              <a:gradFill flip="none" rotWithShape="1">
                <a:gsLst>
                  <a:gs pos="0">
                    <a:schemeClr val="accent2">
                      <a:lumMod val="0"/>
                      <a:lumOff val="100000"/>
                      <a:alpha val="0"/>
                    </a:schemeClr>
                  </a:gs>
                  <a:gs pos="88000">
                    <a:srgbClr val="75707C">
                      <a:alpha val="49858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1110" name="오각형[P] 1109">
                <a:extLst>
                  <a:ext uri="{FF2B5EF4-FFF2-40B4-BE49-F238E27FC236}">
                    <a16:creationId xmlns:a16="http://schemas.microsoft.com/office/drawing/2014/main" id="{D13A7407-6234-CFAD-A52D-13AC234F8BE9}"/>
                  </a:ext>
                </a:extLst>
              </p:cNvPr>
              <p:cNvSpPr/>
              <p:nvPr/>
            </p:nvSpPr>
            <p:spPr>
              <a:xfrm>
                <a:off x="1777357" y="1002732"/>
                <a:ext cx="169222" cy="513571"/>
              </a:xfrm>
              <a:prstGeom prst="homePlate">
                <a:avLst>
                  <a:gd name="adj" fmla="val 68197"/>
                </a:avLst>
              </a:prstGeom>
              <a:gradFill flip="none" rotWithShape="1">
                <a:gsLst>
                  <a:gs pos="0">
                    <a:schemeClr val="accent2">
                      <a:lumMod val="0"/>
                      <a:lumOff val="100000"/>
                      <a:alpha val="0"/>
                    </a:schemeClr>
                  </a:gs>
                  <a:gs pos="88000">
                    <a:srgbClr val="75707C">
                      <a:alpha val="49858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F9C73B0-BDE8-742A-00E3-E787F8F50390}"/>
                </a:ext>
              </a:extLst>
            </p:cNvPr>
            <p:cNvSpPr txBox="1"/>
            <p:nvPr/>
          </p:nvSpPr>
          <p:spPr>
            <a:xfrm>
              <a:off x="404892" y="818836"/>
              <a:ext cx="828000" cy="430887"/>
            </a:xfrm>
            <a:prstGeom prst="homePlate">
              <a:avLst>
                <a:gd name="adj" fmla="val 26594"/>
              </a:avLst>
            </a:prstGeom>
            <a:gradFill flip="none" rotWithShape="1">
              <a:gsLst>
                <a:gs pos="0">
                  <a:srgbClr val="322F36">
                    <a:alpha val="76000"/>
                  </a:srgbClr>
                </a:gs>
                <a:gs pos="100000">
                  <a:srgbClr val="625C6B">
                    <a:alpha val="76000"/>
                  </a:srgbClr>
                </a:gs>
              </a:gsLst>
              <a:lin ang="16200000" scaled="0"/>
              <a:tileRect/>
            </a:gradFill>
            <a:ln w="9525" cap="flat" cmpd="sng" algn="ctr">
              <a:solidFill>
                <a:srgbClr val="3B374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0" tIns="0" rIns="0" bIns="0" rtlCol="0" anchor="ctr"/>
            <a:lstStyle>
              <a:defPPr>
                <a:defRPr lang="ko-KR"/>
              </a:defPPr>
              <a:lvl1pPr defTabSz="457200" latinLnBrk="0">
                <a:defRPr sz="1100" kern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b="1" dirty="0" err="1"/>
                <a:t>웨이브</a:t>
              </a:r>
              <a:r>
                <a:rPr b="1" dirty="0"/>
                <a:t>
</a:t>
              </a:r>
              <a:r>
                <a:rPr b="1" dirty="0" err="1"/>
                <a:t>릴리스</a:t>
              </a:r>
              <a:endParaRPr b="1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AFF5168-F6DA-170F-6568-DE1E967523A8}"/>
                </a:ext>
              </a:extLst>
            </p:cNvPr>
            <p:cNvSpPr txBox="1"/>
            <p:nvPr/>
          </p:nvSpPr>
          <p:spPr>
            <a:xfrm>
              <a:off x="1476145" y="818836"/>
              <a:ext cx="936000" cy="430887"/>
            </a:xfrm>
            <a:prstGeom prst="homePlate">
              <a:avLst>
                <a:gd name="adj" fmla="val 26594"/>
              </a:avLst>
            </a:prstGeom>
            <a:gradFill flip="none" rotWithShape="1">
              <a:gsLst>
                <a:gs pos="0">
                  <a:srgbClr val="4484BB">
                    <a:alpha val="90000"/>
                  </a:srgbClr>
                </a:gs>
                <a:gs pos="100000">
                  <a:srgbClr val="3EB2C9">
                    <a:alpha val="70000"/>
                  </a:srgbClr>
                </a:gs>
              </a:gsLst>
              <a:lin ang="16200000" scaled="0"/>
              <a:tileRect/>
            </a:gradFill>
            <a:ln w="9525" cap="flat" cmpd="sng" algn="ctr">
              <a:solidFill>
                <a:srgbClr val="2D90C4">
                  <a:alpha val="80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0" tIns="0" rIns="0" bIns="0" rtlCol="0" anchor="ctr"/>
            <a:lstStyle>
              <a:defPPr>
                <a:defRPr lang="ko-KR"/>
              </a:defPPr>
              <a:lvl1pPr defTabSz="457200" latinLnBrk="0">
                <a:defRPr sz="1100" b="1" kern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dirty="0" err="1"/>
                <a:t>피킹</a:t>
              </a:r>
              <a:r>
                <a:rPr dirty="0"/>
                <a:t> </a:t>
              </a:r>
              <a:r>
                <a:rPr dirty="0" err="1"/>
                <a:t>지시</a:t>
              </a:r>
              <a:r>
                <a:rPr dirty="0"/>
                <a:t>
</a:t>
              </a:r>
              <a:r>
                <a:rPr dirty="0" err="1"/>
                <a:t>생성</a:t>
              </a:r>
              <a:endParaRPr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3919DE1-87AC-D925-EEC1-A2A3ADE5EDFF}"/>
                </a:ext>
              </a:extLst>
            </p:cNvPr>
            <p:cNvSpPr txBox="1"/>
            <p:nvPr/>
          </p:nvSpPr>
          <p:spPr>
            <a:xfrm>
              <a:off x="2655398" y="818836"/>
              <a:ext cx="936000" cy="430887"/>
            </a:xfrm>
            <a:prstGeom prst="homePlate">
              <a:avLst>
                <a:gd name="adj" fmla="val 29715"/>
              </a:avLst>
            </a:prstGeom>
            <a:gradFill flip="none" rotWithShape="1">
              <a:gsLst>
                <a:gs pos="0">
                  <a:srgbClr val="4484BB">
                    <a:alpha val="90000"/>
                  </a:srgbClr>
                </a:gs>
                <a:gs pos="100000">
                  <a:srgbClr val="3EB2C9">
                    <a:alpha val="70000"/>
                  </a:srgbClr>
                </a:gs>
              </a:gsLst>
              <a:lin ang="16200000" scaled="0"/>
              <a:tileRect/>
            </a:gradFill>
            <a:ln w="9525" cap="flat" cmpd="sng" algn="ctr">
              <a:solidFill>
                <a:srgbClr val="2D90C4">
                  <a:alpha val="80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0" tIns="0" rIns="0" bIns="0" rtlCol="0" anchor="ctr"/>
            <a:lstStyle>
              <a:defPPr>
                <a:defRPr lang="ko-KR"/>
              </a:defPPr>
              <a:lvl1pPr defTabSz="457200" latinLnBrk="0">
                <a:defRPr sz="1100" b="1" kern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dirty="0" err="1"/>
                <a:t>피킹</a:t>
              </a:r>
              <a:r>
                <a:rPr dirty="0"/>
                <a:t> </a:t>
              </a:r>
              <a:r>
                <a:rPr dirty="0" err="1"/>
                <a:t>작업</a:t>
              </a:r>
              <a:r>
                <a:rPr dirty="0"/>
                <a:t>
</a:t>
              </a:r>
              <a:r>
                <a:rPr b="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(PDA)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652770E-F69E-780B-6A68-541BB8CE7344}"/>
                </a:ext>
              </a:extLst>
            </p:cNvPr>
            <p:cNvSpPr txBox="1"/>
            <p:nvPr/>
          </p:nvSpPr>
          <p:spPr>
            <a:xfrm>
              <a:off x="5013904" y="818836"/>
              <a:ext cx="936000" cy="430887"/>
            </a:xfrm>
            <a:prstGeom prst="homePlate">
              <a:avLst>
                <a:gd name="adj" fmla="val 32836"/>
              </a:avLst>
            </a:prstGeom>
            <a:gradFill flip="none" rotWithShape="1">
              <a:gsLst>
                <a:gs pos="0">
                  <a:srgbClr val="4484BB">
                    <a:alpha val="90000"/>
                  </a:srgbClr>
                </a:gs>
                <a:gs pos="100000">
                  <a:srgbClr val="3EB2C9">
                    <a:alpha val="70000"/>
                  </a:srgbClr>
                </a:gs>
              </a:gsLst>
              <a:lin ang="16200000" scaled="0"/>
              <a:tileRect/>
            </a:gradFill>
            <a:ln w="9525" cap="flat" cmpd="sng" algn="ctr">
              <a:solidFill>
                <a:srgbClr val="2D90C4">
                  <a:alpha val="80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0" tIns="0" rIns="0" bIns="0" rtlCol="0" anchor="ctr"/>
            <a:lstStyle>
              <a:defPPr>
                <a:defRPr lang="ko-KR"/>
              </a:defPPr>
              <a:lvl1pPr defTabSz="457200" latinLnBrk="0">
                <a:defRPr sz="1100" b="1" kern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dirty="0" err="1"/>
                <a:t>포장</a:t>
              </a:r>
              <a:r>
                <a:rPr dirty="0"/>
                <a:t> </a:t>
              </a:r>
              <a:r>
                <a:rPr dirty="0" err="1"/>
                <a:t>지시</a:t>
              </a:r>
              <a:r>
                <a:rPr dirty="0"/>
                <a:t>
</a:t>
              </a:r>
              <a:r>
                <a:rPr dirty="0" err="1"/>
                <a:t>생성</a:t>
              </a:r>
              <a:endParaRPr dirty="0"/>
            </a:p>
          </p:txBody>
        </p:sp>
        <p:sp>
          <p:nvSpPr>
            <p:cNvPr id="1088" name="TextBox 1087">
              <a:extLst>
                <a:ext uri="{FF2B5EF4-FFF2-40B4-BE49-F238E27FC236}">
                  <a16:creationId xmlns:a16="http://schemas.microsoft.com/office/drawing/2014/main" id="{1FB63D59-294A-5CD1-40C8-9011BB86445D}"/>
                </a:ext>
              </a:extLst>
            </p:cNvPr>
            <p:cNvSpPr txBox="1"/>
            <p:nvPr/>
          </p:nvSpPr>
          <p:spPr>
            <a:xfrm>
              <a:off x="6193157" y="818836"/>
              <a:ext cx="936000" cy="430887"/>
            </a:xfrm>
            <a:prstGeom prst="homePlate">
              <a:avLst>
                <a:gd name="adj" fmla="val 34396"/>
              </a:avLst>
            </a:prstGeom>
            <a:gradFill flip="none" rotWithShape="1">
              <a:gsLst>
                <a:gs pos="0">
                  <a:srgbClr val="4484BB">
                    <a:alpha val="90000"/>
                  </a:srgbClr>
                </a:gs>
                <a:gs pos="100000">
                  <a:srgbClr val="3EB2C9">
                    <a:alpha val="70000"/>
                  </a:srgbClr>
                </a:gs>
              </a:gsLst>
              <a:lin ang="16200000" scaled="0"/>
              <a:tileRect/>
            </a:gradFill>
            <a:ln w="9525" cap="flat" cmpd="sng" algn="ctr">
              <a:solidFill>
                <a:srgbClr val="2D90C4">
                  <a:alpha val="80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0" tIns="0" rIns="0" bIns="0" rtlCol="0" anchor="ctr"/>
            <a:lstStyle>
              <a:defPPr>
                <a:defRPr lang="ko-KR"/>
              </a:defPPr>
              <a:lvl1pPr defTabSz="457200" latinLnBrk="0">
                <a:defRPr sz="1100" b="1" kern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dirty="0" err="1"/>
                <a:t>포장·검수</a:t>
              </a:r>
              <a:r>
                <a:rPr dirty="0"/>
                <a:t>
</a:t>
              </a:r>
              <a:r>
                <a:rPr dirty="0" err="1"/>
                <a:t>처리</a:t>
              </a:r>
              <a:endParaRPr dirty="0"/>
            </a:p>
          </p:txBody>
        </p:sp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1BC56416-D246-080A-57B8-C584EC5D5BB9}"/>
                </a:ext>
              </a:extLst>
            </p:cNvPr>
            <p:cNvSpPr txBox="1"/>
            <p:nvPr/>
          </p:nvSpPr>
          <p:spPr>
            <a:xfrm>
              <a:off x="3834651" y="818836"/>
              <a:ext cx="936000" cy="430887"/>
            </a:xfrm>
            <a:prstGeom prst="homePlate">
              <a:avLst>
                <a:gd name="adj" fmla="val 29715"/>
              </a:avLst>
            </a:prstGeom>
            <a:gradFill flip="none" rotWithShape="1">
              <a:gsLst>
                <a:gs pos="0">
                  <a:srgbClr val="265AB1">
                    <a:alpha val="89804"/>
                  </a:srgbClr>
                </a:gs>
                <a:gs pos="99000">
                  <a:srgbClr val="559CCE">
                    <a:alpha val="69804"/>
                  </a:srgbClr>
                </a:gs>
              </a:gsLst>
              <a:lin ang="16200000" scaled="0"/>
              <a:tileRect/>
            </a:gradFill>
            <a:ln w="9525" cap="flat" cmpd="sng" algn="ctr">
              <a:solidFill>
                <a:srgbClr val="265AB1">
                  <a:alpha val="80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0" tIns="0" rIns="0" bIns="0" rtlCol="0" anchor="ctr"/>
            <a:lstStyle>
              <a:defPPr>
                <a:defRPr lang="ko-KR"/>
              </a:defPPr>
              <a:lvl1pPr defTabSz="457200" latinLnBrk="0">
                <a:defRPr sz="1100" b="1" kern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dirty="0" err="1"/>
                <a:t>피킹</a:t>
              </a:r>
              <a:r>
                <a:rPr dirty="0"/>
                <a:t> </a:t>
              </a:r>
              <a:r>
                <a:rPr dirty="0" err="1"/>
                <a:t>완료</a:t>
              </a:r>
              <a:r>
                <a:rPr dirty="0"/>
                <a:t>
</a:t>
              </a:r>
              <a:r>
                <a:rPr dirty="0" err="1"/>
                <a:t>확정</a:t>
              </a:r>
              <a:endParaRPr dirty="0"/>
            </a:p>
          </p:txBody>
        </p:sp>
        <p:sp>
          <p:nvSpPr>
            <p:cNvPr id="1090" name="TextBox 1089">
              <a:extLst>
                <a:ext uri="{FF2B5EF4-FFF2-40B4-BE49-F238E27FC236}">
                  <a16:creationId xmlns:a16="http://schemas.microsoft.com/office/drawing/2014/main" id="{B5DE2144-C522-9DF8-E297-A37ADD1D3148}"/>
                </a:ext>
              </a:extLst>
            </p:cNvPr>
            <p:cNvSpPr txBox="1"/>
            <p:nvPr/>
          </p:nvSpPr>
          <p:spPr>
            <a:xfrm>
              <a:off x="7372410" y="818836"/>
              <a:ext cx="936000" cy="430887"/>
            </a:xfrm>
            <a:prstGeom prst="homePlate">
              <a:avLst>
                <a:gd name="adj" fmla="val 34396"/>
              </a:avLst>
            </a:prstGeom>
            <a:gradFill flip="none" rotWithShape="1">
              <a:gsLst>
                <a:gs pos="0">
                  <a:srgbClr val="265AB1">
                    <a:alpha val="89804"/>
                  </a:srgbClr>
                </a:gs>
                <a:gs pos="99000">
                  <a:srgbClr val="559CCE">
                    <a:alpha val="69804"/>
                  </a:srgbClr>
                </a:gs>
              </a:gsLst>
              <a:lin ang="16200000" scaled="0"/>
              <a:tileRect/>
            </a:gradFill>
            <a:ln w="9525" cap="flat" cmpd="sng" algn="ctr">
              <a:solidFill>
                <a:srgbClr val="265AB1">
                  <a:alpha val="80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180000" tIns="0" rIns="0" bIns="0" rtlCol="0" anchor="ctr"/>
            <a:lstStyle>
              <a:defPPr>
                <a:defRPr lang="ko-KR"/>
              </a:defPPr>
              <a:lvl1pPr defTabSz="457200" latinLnBrk="0">
                <a:defRPr sz="1100" b="1" kern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dirty="0" err="1"/>
                <a:t>라벨</a:t>
              </a:r>
              <a:r>
                <a:rPr lang="ko-KR" altLang="en-US" dirty="0"/>
                <a:t> </a:t>
              </a:r>
              <a:r>
                <a:rPr dirty="0" err="1"/>
                <a:t>출력</a:t>
              </a:r>
              <a:endParaRPr dirty="0"/>
            </a:p>
          </p:txBody>
        </p:sp>
        <p:sp>
          <p:nvSpPr>
            <p:cNvPr id="1091" name="TextBox 1090">
              <a:extLst>
                <a:ext uri="{FF2B5EF4-FFF2-40B4-BE49-F238E27FC236}">
                  <a16:creationId xmlns:a16="http://schemas.microsoft.com/office/drawing/2014/main" id="{90BFA2C3-9488-DEBD-21C2-1FC646053051}"/>
                </a:ext>
              </a:extLst>
            </p:cNvPr>
            <p:cNvSpPr txBox="1"/>
            <p:nvPr/>
          </p:nvSpPr>
          <p:spPr>
            <a:xfrm>
              <a:off x="8551660" y="818836"/>
              <a:ext cx="936000" cy="430887"/>
            </a:xfrm>
            <a:prstGeom prst="rect">
              <a:avLst/>
            </a:prstGeom>
            <a:gradFill flip="none" rotWithShape="1">
              <a:gsLst>
                <a:gs pos="0">
                  <a:srgbClr val="369179">
                    <a:alpha val="89804"/>
                  </a:srgbClr>
                </a:gs>
                <a:gs pos="100000">
                  <a:srgbClr val="7EC546">
                    <a:alpha val="69804"/>
                  </a:srgbClr>
                </a:gs>
              </a:gsLst>
              <a:lin ang="16200000" scaled="0"/>
              <a:tileRect/>
            </a:gradFill>
            <a:ln w="9525" cap="flat" cmpd="sng" algn="ctr">
              <a:solidFill>
                <a:srgbClr val="4CA38B">
                  <a:alpha val="80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0" tIns="0" rIns="0" bIns="0" rtlCol="0" anchor="ctr"/>
            <a:lstStyle>
              <a:defPPr>
                <a:defRPr lang="ko-KR"/>
              </a:defPPr>
              <a:lvl1pPr defTabSz="457200" latinLnBrk="0">
                <a:defRPr sz="1100" b="1" kern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pPr algn="ctr"/>
              <a:r>
                <a:rPr dirty="0" err="1"/>
                <a:t>출하</a:t>
              </a:r>
              <a:r>
                <a:rPr lang="ko-KR" altLang="en-US" dirty="0"/>
                <a:t> </a:t>
              </a:r>
              <a:r>
                <a:rPr dirty="0" err="1"/>
                <a:t>확정</a:t>
              </a:r>
              <a:endParaRPr dirty="0"/>
            </a:p>
          </p:txBody>
        </p:sp>
        <p:grpSp>
          <p:nvGrpSpPr>
            <p:cNvPr id="1092" name="그룹 1091">
              <a:extLst>
                <a:ext uri="{FF2B5EF4-FFF2-40B4-BE49-F238E27FC236}">
                  <a16:creationId xmlns:a16="http://schemas.microsoft.com/office/drawing/2014/main" id="{91082998-1960-7CA1-598F-D2DB1C881E97}"/>
                </a:ext>
              </a:extLst>
            </p:cNvPr>
            <p:cNvGrpSpPr/>
            <p:nvPr/>
          </p:nvGrpSpPr>
          <p:grpSpPr>
            <a:xfrm>
              <a:off x="4724620" y="818836"/>
              <a:ext cx="266112" cy="468000"/>
              <a:chOff x="3230708" y="1002732"/>
              <a:chExt cx="266112" cy="513571"/>
            </a:xfrm>
          </p:grpSpPr>
          <p:sp>
            <p:nvSpPr>
              <p:cNvPr id="1107" name="오각형[P] 1106">
                <a:extLst>
                  <a:ext uri="{FF2B5EF4-FFF2-40B4-BE49-F238E27FC236}">
                    <a16:creationId xmlns:a16="http://schemas.microsoft.com/office/drawing/2014/main" id="{8CB0B482-CEB2-4F4B-847B-D1AB752D78B5}"/>
                  </a:ext>
                </a:extLst>
              </p:cNvPr>
              <p:cNvSpPr/>
              <p:nvPr/>
            </p:nvSpPr>
            <p:spPr>
              <a:xfrm>
                <a:off x="3230708" y="1002732"/>
                <a:ext cx="169222" cy="513571"/>
              </a:xfrm>
              <a:prstGeom prst="homePlate">
                <a:avLst>
                  <a:gd name="adj" fmla="val 68197"/>
                </a:avLst>
              </a:prstGeom>
              <a:gradFill flip="none" rotWithShape="1">
                <a:gsLst>
                  <a:gs pos="0">
                    <a:schemeClr val="accent2">
                      <a:lumMod val="0"/>
                      <a:lumOff val="100000"/>
                      <a:alpha val="0"/>
                    </a:schemeClr>
                  </a:gs>
                  <a:gs pos="88000">
                    <a:srgbClr val="265AB1">
                      <a:alpha val="49804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1108" name="오각형[P] 1107">
                <a:extLst>
                  <a:ext uri="{FF2B5EF4-FFF2-40B4-BE49-F238E27FC236}">
                    <a16:creationId xmlns:a16="http://schemas.microsoft.com/office/drawing/2014/main" id="{13A58BD5-E66D-E0DA-D1CB-994A08F78488}"/>
                  </a:ext>
                </a:extLst>
              </p:cNvPr>
              <p:cNvSpPr/>
              <p:nvPr/>
            </p:nvSpPr>
            <p:spPr>
              <a:xfrm>
                <a:off x="3327598" y="1002732"/>
                <a:ext cx="169222" cy="513571"/>
              </a:xfrm>
              <a:prstGeom prst="homePlate">
                <a:avLst>
                  <a:gd name="adj" fmla="val 68197"/>
                </a:avLst>
              </a:prstGeom>
              <a:gradFill flip="none" rotWithShape="1">
                <a:gsLst>
                  <a:gs pos="0">
                    <a:schemeClr val="accent2">
                      <a:lumMod val="0"/>
                      <a:lumOff val="100000"/>
                      <a:alpha val="0"/>
                    </a:schemeClr>
                  </a:gs>
                  <a:gs pos="88000">
                    <a:srgbClr val="265AB1">
                      <a:alpha val="49804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  <p:grpSp>
          <p:nvGrpSpPr>
            <p:cNvPr id="1093" name="그룹 1092">
              <a:extLst>
                <a:ext uri="{FF2B5EF4-FFF2-40B4-BE49-F238E27FC236}">
                  <a16:creationId xmlns:a16="http://schemas.microsoft.com/office/drawing/2014/main" id="{B786938B-E659-B3D5-4088-528350FCFA9A}"/>
                </a:ext>
              </a:extLst>
            </p:cNvPr>
            <p:cNvGrpSpPr/>
            <p:nvPr/>
          </p:nvGrpSpPr>
          <p:grpSpPr>
            <a:xfrm>
              <a:off x="3542002" y="818836"/>
              <a:ext cx="266112" cy="468000"/>
              <a:chOff x="3230708" y="1002732"/>
              <a:chExt cx="266112" cy="513571"/>
            </a:xfrm>
          </p:grpSpPr>
          <p:sp>
            <p:nvSpPr>
              <p:cNvPr id="1105" name="오각형[P] 1104">
                <a:extLst>
                  <a:ext uri="{FF2B5EF4-FFF2-40B4-BE49-F238E27FC236}">
                    <a16:creationId xmlns:a16="http://schemas.microsoft.com/office/drawing/2014/main" id="{05907BAA-06DD-BFC8-CF8E-1E5B106EF901}"/>
                  </a:ext>
                </a:extLst>
              </p:cNvPr>
              <p:cNvSpPr/>
              <p:nvPr/>
            </p:nvSpPr>
            <p:spPr>
              <a:xfrm>
                <a:off x="3230708" y="1002732"/>
                <a:ext cx="169222" cy="513571"/>
              </a:xfrm>
              <a:prstGeom prst="homePlate">
                <a:avLst>
                  <a:gd name="adj" fmla="val 68197"/>
                </a:avLst>
              </a:prstGeom>
              <a:gradFill flip="none" rotWithShape="1">
                <a:gsLst>
                  <a:gs pos="0">
                    <a:schemeClr val="accent2">
                      <a:lumMod val="0"/>
                      <a:lumOff val="100000"/>
                      <a:alpha val="0"/>
                    </a:schemeClr>
                  </a:gs>
                  <a:gs pos="88000">
                    <a:srgbClr val="5CA6C1">
                      <a:alpha val="5000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1106" name="오각형[P] 1105">
                <a:extLst>
                  <a:ext uri="{FF2B5EF4-FFF2-40B4-BE49-F238E27FC236}">
                    <a16:creationId xmlns:a16="http://schemas.microsoft.com/office/drawing/2014/main" id="{A3EFF271-E15B-771E-EEB1-7FEC75925131}"/>
                  </a:ext>
                </a:extLst>
              </p:cNvPr>
              <p:cNvSpPr/>
              <p:nvPr/>
            </p:nvSpPr>
            <p:spPr>
              <a:xfrm>
                <a:off x="3327598" y="1002732"/>
                <a:ext cx="169222" cy="513571"/>
              </a:xfrm>
              <a:prstGeom prst="homePlate">
                <a:avLst>
                  <a:gd name="adj" fmla="val 68197"/>
                </a:avLst>
              </a:prstGeom>
              <a:gradFill flip="none" rotWithShape="1">
                <a:gsLst>
                  <a:gs pos="0">
                    <a:schemeClr val="accent2">
                      <a:lumMod val="0"/>
                      <a:lumOff val="100000"/>
                      <a:alpha val="0"/>
                    </a:schemeClr>
                  </a:gs>
                  <a:gs pos="88000">
                    <a:srgbClr val="5CA6C1">
                      <a:alpha val="5000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  <p:grpSp>
          <p:nvGrpSpPr>
            <p:cNvPr id="1094" name="그룹 1093">
              <a:extLst>
                <a:ext uri="{FF2B5EF4-FFF2-40B4-BE49-F238E27FC236}">
                  <a16:creationId xmlns:a16="http://schemas.microsoft.com/office/drawing/2014/main" id="{6598BBF3-C7E4-FC5A-27C4-6AF89755A72D}"/>
                </a:ext>
              </a:extLst>
            </p:cNvPr>
            <p:cNvGrpSpPr/>
            <p:nvPr/>
          </p:nvGrpSpPr>
          <p:grpSpPr>
            <a:xfrm>
              <a:off x="5915407" y="818836"/>
              <a:ext cx="266112" cy="468000"/>
              <a:chOff x="3230708" y="1002732"/>
              <a:chExt cx="266112" cy="513571"/>
            </a:xfrm>
          </p:grpSpPr>
          <p:sp>
            <p:nvSpPr>
              <p:cNvPr id="1101" name="오각형[P] 1100">
                <a:extLst>
                  <a:ext uri="{FF2B5EF4-FFF2-40B4-BE49-F238E27FC236}">
                    <a16:creationId xmlns:a16="http://schemas.microsoft.com/office/drawing/2014/main" id="{C69C74B4-9F56-DC4D-73B1-3EFE987BFB3B}"/>
                  </a:ext>
                </a:extLst>
              </p:cNvPr>
              <p:cNvSpPr/>
              <p:nvPr/>
            </p:nvSpPr>
            <p:spPr>
              <a:xfrm>
                <a:off x="3230708" y="1002732"/>
                <a:ext cx="169222" cy="513571"/>
              </a:xfrm>
              <a:prstGeom prst="homePlate">
                <a:avLst>
                  <a:gd name="adj" fmla="val 68197"/>
                </a:avLst>
              </a:prstGeom>
              <a:gradFill flip="none" rotWithShape="1">
                <a:gsLst>
                  <a:gs pos="0">
                    <a:schemeClr val="accent2">
                      <a:lumMod val="0"/>
                      <a:lumOff val="100000"/>
                      <a:alpha val="0"/>
                    </a:schemeClr>
                  </a:gs>
                  <a:gs pos="88000">
                    <a:srgbClr val="5CA6C1">
                      <a:alpha val="5000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1102" name="오각형[P] 1101">
                <a:extLst>
                  <a:ext uri="{FF2B5EF4-FFF2-40B4-BE49-F238E27FC236}">
                    <a16:creationId xmlns:a16="http://schemas.microsoft.com/office/drawing/2014/main" id="{0E05CEF7-530F-4F50-9AF8-9B2CF5D55C17}"/>
                  </a:ext>
                </a:extLst>
              </p:cNvPr>
              <p:cNvSpPr/>
              <p:nvPr/>
            </p:nvSpPr>
            <p:spPr>
              <a:xfrm>
                <a:off x="3327598" y="1002732"/>
                <a:ext cx="169222" cy="513571"/>
              </a:xfrm>
              <a:prstGeom prst="homePlate">
                <a:avLst>
                  <a:gd name="adj" fmla="val 68197"/>
                </a:avLst>
              </a:prstGeom>
              <a:gradFill flip="none" rotWithShape="1">
                <a:gsLst>
                  <a:gs pos="0">
                    <a:schemeClr val="accent2">
                      <a:lumMod val="0"/>
                      <a:lumOff val="100000"/>
                      <a:alpha val="0"/>
                    </a:schemeClr>
                  </a:gs>
                  <a:gs pos="88000">
                    <a:srgbClr val="5CA6C1">
                      <a:alpha val="5000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  <p:grpSp>
          <p:nvGrpSpPr>
            <p:cNvPr id="1095" name="그룹 1094">
              <a:extLst>
                <a:ext uri="{FF2B5EF4-FFF2-40B4-BE49-F238E27FC236}">
                  <a16:creationId xmlns:a16="http://schemas.microsoft.com/office/drawing/2014/main" id="{6ADD3525-06B3-A81D-ADC8-EA3687FAC8D4}"/>
                </a:ext>
              </a:extLst>
            </p:cNvPr>
            <p:cNvGrpSpPr/>
            <p:nvPr/>
          </p:nvGrpSpPr>
          <p:grpSpPr>
            <a:xfrm>
              <a:off x="7085302" y="818836"/>
              <a:ext cx="266112" cy="468000"/>
              <a:chOff x="3230708" y="1002732"/>
              <a:chExt cx="266112" cy="513571"/>
            </a:xfrm>
          </p:grpSpPr>
          <p:sp>
            <p:nvSpPr>
              <p:cNvPr id="1099" name="오각형[P] 1098">
                <a:extLst>
                  <a:ext uri="{FF2B5EF4-FFF2-40B4-BE49-F238E27FC236}">
                    <a16:creationId xmlns:a16="http://schemas.microsoft.com/office/drawing/2014/main" id="{DB8AACDB-7D4C-F82A-0A7C-0554F36A6149}"/>
                  </a:ext>
                </a:extLst>
              </p:cNvPr>
              <p:cNvSpPr/>
              <p:nvPr/>
            </p:nvSpPr>
            <p:spPr>
              <a:xfrm>
                <a:off x="3230708" y="1002732"/>
                <a:ext cx="169222" cy="513571"/>
              </a:xfrm>
              <a:prstGeom prst="homePlate">
                <a:avLst>
                  <a:gd name="adj" fmla="val 68197"/>
                </a:avLst>
              </a:prstGeom>
              <a:gradFill flip="none" rotWithShape="1">
                <a:gsLst>
                  <a:gs pos="0">
                    <a:schemeClr val="accent2">
                      <a:lumMod val="0"/>
                      <a:lumOff val="100000"/>
                      <a:alpha val="0"/>
                    </a:schemeClr>
                  </a:gs>
                  <a:gs pos="88000">
                    <a:srgbClr val="5CA6C1">
                      <a:alpha val="5000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1100" name="오각형[P] 1099">
                <a:extLst>
                  <a:ext uri="{FF2B5EF4-FFF2-40B4-BE49-F238E27FC236}">
                    <a16:creationId xmlns:a16="http://schemas.microsoft.com/office/drawing/2014/main" id="{70D8A3BE-CBC3-6688-1C8B-C98ABE11206D}"/>
                  </a:ext>
                </a:extLst>
              </p:cNvPr>
              <p:cNvSpPr/>
              <p:nvPr/>
            </p:nvSpPr>
            <p:spPr>
              <a:xfrm>
                <a:off x="3327598" y="1002732"/>
                <a:ext cx="169222" cy="513571"/>
              </a:xfrm>
              <a:prstGeom prst="homePlate">
                <a:avLst>
                  <a:gd name="adj" fmla="val 68197"/>
                </a:avLst>
              </a:prstGeom>
              <a:gradFill flip="none" rotWithShape="1">
                <a:gsLst>
                  <a:gs pos="0">
                    <a:schemeClr val="accent2">
                      <a:lumMod val="0"/>
                      <a:lumOff val="100000"/>
                      <a:alpha val="0"/>
                    </a:schemeClr>
                  </a:gs>
                  <a:gs pos="88000">
                    <a:srgbClr val="5CA6C1">
                      <a:alpha val="5000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  <p:grpSp>
          <p:nvGrpSpPr>
            <p:cNvPr id="1096" name="그룹 1095">
              <a:extLst>
                <a:ext uri="{FF2B5EF4-FFF2-40B4-BE49-F238E27FC236}">
                  <a16:creationId xmlns:a16="http://schemas.microsoft.com/office/drawing/2014/main" id="{9F8CB91E-0974-54A9-9BF0-1E980363547C}"/>
                </a:ext>
              </a:extLst>
            </p:cNvPr>
            <p:cNvGrpSpPr/>
            <p:nvPr/>
          </p:nvGrpSpPr>
          <p:grpSpPr>
            <a:xfrm>
              <a:off x="8267920" y="818836"/>
              <a:ext cx="266112" cy="468000"/>
              <a:chOff x="3230708" y="1002732"/>
              <a:chExt cx="266112" cy="513571"/>
            </a:xfrm>
          </p:grpSpPr>
          <p:sp>
            <p:nvSpPr>
              <p:cNvPr id="1097" name="오각형[P] 1096">
                <a:extLst>
                  <a:ext uri="{FF2B5EF4-FFF2-40B4-BE49-F238E27FC236}">
                    <a16:creationId xmlns:a16="http://schemas.microsoft.com/office/drawing/2014/main" id="{0268E9FA-4E8F-EF56-5982-1FE9CC2FA25A}"/>
                  </a:ext>
                </a:extLst>
              </p:cNvPr>
              <p:cNvSpPr/>
              <p:nvPr/>
            </p:nvSpPr>
            <p:spPr>
              <a:xfrm>
                <a:off x="3230708" y="1002732"/>
                <a:ext cx="169222" cy="513571"/>
              </a:xfrm>
              <a:prstGeom prst="homePlate">
                <a:avLst>
                  <a:gd name="adj" fmla="val 68197"/>
                </a:avLst>
              </a:prstGeom>
              <a:gradFill flip="none" rotWithShape="1">
                <a:gsLst>
                  <a:gs pos="0">
                    <a:schemeClr val="accent2">
                      <a:lumMod val="0"/>
                      <a:lumOff val="100000"/>
                      <a:alpha val="0"/>
                    </a:schemeClr>
                  </a:gs>
                  <a:gs pos="88000">
                    <a:srgbClr val="265AB1">
                      <a:alpha val="49804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1098" name="오각형[P] 1097">
                <a:extLst>
                  <a:ext uri="{FF2B5EF4-FFF2-40B4-BE49-F238E27FC236}">
                    <a16:creationId xmlns:a16="http://schemas.microsoft.com/office/drawing/2014/main" id="{3BBFE34A-E409-E204-C7CB-D651BA2DC891}"/>
                  </a:ext>
                </a:extLst>
              </p:cNvPr>
              <p:cNvSpPr/>
              <p:nvPr/>
            </p:nvSpPr>
            <p:spPr>
              <a:xfrm>
                <a:off x="3327598" y="1002732"/>
                <a:ext cx="169222" cy="513571"/>
              </a:xfrm>
              <a:prstGeom prst="homePlate">
                <a:avLst>
                  <a:gd name="adj" fmla="val 68197"/>
                </a:avLst>
              </a:prstGeom>
              <a:gradFill flip="none" rotWithShape="1">
                <a:gsLst>
                  <a:gs pos="0">
                    <a:schemeClr val="accent2">
                      <a:lumMod val="0"/>
                      <a:lumOff val="100000"/>
                      <a:alpha val="0"/>
                    </a:schemeClr>
                  </a:gs>
                  <a:gs pos="88000">
                    <a:srgbClr val="265AB1">
                      <a:alpha val="49804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</p:grpSp>
      <p:sp>
        <p:nvSpPr>
          <p:cNvPr id="1113" name="직사각형 4">
            <a:extLst>
              <a:ext uri="{FF2B5EF4-FFF2-40B4-BE49-F238E27FC236}">
                <a16:creationId xmlns:a16="http://schemas.microsoft.com/office/drawing/2014/main" id="{7F3775BC-A4E0-0731-E385-F344F09C37EE}"/>
              </a:ext>
            </a:extLst>
          </p:cNvPr>
          <p:cNvSpPr/>
          <p:nvPr/>
        </p:nvSpPr>
        <p:spPr>
          <a:xfrm>
            <a:off x="349624" y="4692852"/>
            <a:ext cx="9224682" cy="1429877"/>
          </a:xfrm>
          <a:prstGeom prst="roundRect">
            <a:avLst>
              <a:gd name="adj" fmla="val 3416"/>
            </a:avLst>
          </a:prstGeom>
          <a:solidFill>
            <a:schemeClr val="bg1"/>
          </a:solidFill>
          <a:ln w="15875" cap="flat" cmpd="sng" algn="ctr">
            <a:solidFill>
              <a:srgbClr val="1B5587"/>
            </a:solidFill>
            <a:prstDash val="solid"/>
          </a:ln>
          <a:effectLst>
            <a:outerShdw blurRad="30480" dist="23000" dir="5400000" rotWithShape="0">
              <a:srgbClr val="000000">
                <a:alpha val="15000"/>
              </a:srgbClr>
            </a:outerShdw>
          </a:effectLst>
        </p:spPr>
        <p:txBody>
          <a:bodyPr tIns="180000" rtlCol="0" anchor="ctr"/>
          <a:lstStyle/>
          <a:p>
            <a:pPr algn="ctr" defTabSz="457200"/>
            <a:endParaRPr lang="ko-KR" altLang="en-US" sz="2000" kern="0" dirty="0">
              <a:solidFill>
                <a:srgbClr val="C43243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14" name="Rounded Rectangle 114">
            <a:extLst>
              <a:ext uri="{FF2B5EF4-FFF2-40B4-BE49-F238E27FC236}">
                <a16:creationId xmlns:a16="http://schemas.microsoft.com/office/drawing/2014/main" id="{9398BDF2-1F48-249D-C684-FBC1CECA7375}"/>
              </a:ext>
            </a:extLst>
          </p:cNvPr>
          <p:cNvSpPr/>
          <p:nvPr/>
        </p:nvSpPr>
        <p:spPr>
          <a:xfrm>
            <a:off x="539050" y="4866908"/>
            <a:ext cx="1980000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피킹 지시</a:t>
            </a:r>
          </a:p>
        </p:txBody>
      </p:sp>
      <p:sp>
        <p:nvSpPr>
          <p:cNvPr id="1115" name="TextBox 57">
            <a:extLst>
              <a:ext uri="{FF2B5EF4-FFF2-40B4-BE49-F238E27FC236}">
                <a16:creationId xmlns:a16="http://schemas.microsoft.com/office/drawing/2014/main" id="{8FE8DA2D-DF7D-C7FB-6D7C-33823DAE29F9}"/>
              </a:ext>
            </a:extLst>
          </p:cNvPr>
          <p:cNvSpPr txBox="1"/>
          <p:nvPr/>
        </p:nvSpPr>
        <p:spPr>
          <a:xfrm>
            <a:off x="522571" y="5228994"/>
            <a:ext cx="1996480" cy="8725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Wave 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 피킹 지시 자동 생성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단품</a:t>
            </a: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총량 피킹 지원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WCS (DAS/DPS) 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설비 연계</a:t>
            </a:r>
            <a:endParaRPr lang="en-US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16" name="Rounded Rectangle 114">
            <a:extLst>
              <a:ext uri="{FF2B5EF4-FFF2-40B4-BE49-F238E27FC236}">
                <a16:creationId xmlns:a16="http://schemas.microsoft.com/office/drawing/2014/main" id="{89E430A4-3C41-D101-196D-9B5A16FB095C}"/>
              </a:ext>
            </a:extLst>
          </p:cNvPr>
          <p:cNvSpPr/>
          <p:nvPr/>
        </p:nvSpPr>
        <p:spPr>
          <a:xfrm>
            <a:off x="2820877" y="4866908"/>
            <a:ext cx="1980000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피킹 처리</a:t>
            </a:r>
          </a:p>
        </p:txBody>
      </p:sp>
      <p:sp>
        <p:nvSpPr>
          <p:cNvPr id="1117" name="Rounded Rectangle 114">
            <a:extLst>
              <a:ext uri="{FF2B5EF4-FFF2-40B4-BE49-F238E27FC236}">
                <a16:creationId xmlns:a16="http://schemas.microsoft.com/office/drawing/2014/main" id="{13C24BE0-1CF0-7305-49DD-02F41E22F3CE}"/>
              </a:ext>
            </a:extLst>
          </p:cNvPr>
          <p:cNvSpPr/>
          <p:nvPr/>
        </p:nvSpPr>
        <p:spPr>
          <a:xfrm>
            <a:off x="5102704" y="4866908"/>
            <a:ext cx="1980000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포장</a:t>
            </a:r>
            <a:r>
              <a:rPr lang="en-US" altLang="ko-KR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출하</a:t>
            </a:r>
          </a:p>
        </p:txBody>
      </p:sp>
      <p:sp>
        <p:nvSpPr>
          <p:cNvPr id="1118" name="Rounded Rectangle 114">
            <a:extLst>
              <a:ext uri="{FF2B5EF4-FFF2-40B4-BE49-F238E27FC236}">
                <a16:creationId xmlns:a16="http://schemas.microsoft.com/office/drawing/2014/main" id="{985F3E77-A880-2AF9-714F-B643F7994D6E}"/>
              </a:ext>
            </a:extLst>
          </p:cNvPr>
          <p:cNvSpPr/>
          <p:nvPr/>
        </p:nvSpPr>
        <p:spPr>
          <a:xfrm>
            <a:off x="7384531" y="4866908"/>
            <a:ext cx="1980000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재고 변경</a:t>
            </a:r>
          </a:p>
        </p:txBody>
      </p:sp>
      <p:sp>
        <p:nvSpPr>
          <p:cNvPr id="1119" name="TextBox 57">
            <a:extLst>
              <a:ext uri="{FF2B5EF4-FFF2-40B4-BE49-F238E27FC236}">
                <a16:creationId xmlns:a16="http://schemas.microsoft.com/office/drawing/2014/main" id="{0AA0C31E-8B87-CAA6-8F56-EEF98F65C37F}"/>
              </a:ext>
            </a:extLst>
          </p:cNvPr>
          <p:cNvSpPr txBox="1"/>
          <p:nvPr/>
        </p:nvSpPr>
        <p:spPr>
          <a:xfrm>
            <a:off x="2820877" y="5228994"/>
            <a:ext cx="1996480" cy="8725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PDA 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바코드 스캔 피킹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(Short) 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처리 지원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피킹 작업자 자동 기록</a:t>
            </a:r>
            <a:endParaRPr lang="en-US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20" name="TextBox 57">
            <a:extLst>
              <a:ext uri="{FF2B5EF4-FFF2-40B4-BE49-F238E27FC236}">
                <a16:creationId xmlns:a16="http://schemas.microsoft.com/office/drawing/2014/main" id="{60DDC48F-FEFD-1B1F-D1B1-E935D8693CB5}"/>
              </a:ext>
            </a:extLst>
          </p:cNvPr>
          <p:cNvSpPr txBox="1"/>
          <p:nvPr/>
        </p:nvSpPr>
        <p:spPr>
          <a:xfrm>
            <a:off x="5102704" y="5228994"/>
            <a:ext cx="1996480" cy="8725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피킹 완료 시 포장 지시 생성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박스 단위 포장</a:t>
            </a:r>
            <a:r>
              <a:rPr lang="en-US" altLang="ko-KR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라벨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 err="1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도크별</a:t>
            </a: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출하 대기 관리</a:t>
            </a:r>
            <a:endParaRPr lang="en-US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21" name="TextBox 57">
            <a:extLst>
              <a:ext uri="{FF2B5EF4-FFF2-40B4-BE49-F238E27FC236}">
                <a16:creationId xmlns:a16="http://schemas.microsoft.com/office/drawing/2014/main" id="{F989CAFF-50F9-E615-DA32-CBE3B108C214}"/>
              </a:ext>
            </a:extLst>
          </p:cNvPr>
          <p:cNvSpPr txBox="1"/>
          <p:nvPr/>
        </p:nvSpPr>
        <p:spPr>
          <a:xfrm>
            <a:off x="7384531" y="5228994"/>
            <a:ext cx="1996480" cy="8725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재고 할당 → 할당 수량 반영</a:t>
            </a:r>
            <a:endParaRPr lang="en-US" altLang="ko-KR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주문 마감 → 재고 수량 반영</a:t>
            </a:r>
            <a:endParaRPr lang="en-US" sz="110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656E7EBF-9243-DF9B-BB07-B3F16CE500CB}"/>
              </a:ext>
            </a:extLst>
          </p:cNvPr>
          <p:cNvSpPr txBox="1"/>
          <p:nvPr/>
        </p:nvSpPr>
        <p:spPr>
          <a:xfrm>
            <a:off x="418340" y="4350252"/>
            <a:ext cx="2659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gradFill flip="none" rotWithShape="1">
                  <a:gsLst>
                    <a:gs pos="16000">
                      <a:srgbClr val="3BA08A">
                        <a:alpha val="74902"/>
                      </a:srgbClr>
                    </a:gs>
                    <a:gs pos="100000">
                      <a:schemeClr val="bg1">
                        <a:lumMod val="95000"/>
                        <a:alpha val="0"/>
                      </a:schemeClr>
                    </a:gs>
                    <a:gs pos="63000">
                      <a:srgbClr val="007693"/>
                    </a:gs>
                  </a:gsLst>
                  <a:lin ang="5400000" scaled="1"/>
                  <a:tileRect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주요기능</a:t>
            </a:r>
            <a:endParaRPr lang="en-US" sz="2000" b="1" dirty="0">
              <a:gradFill flip="none" rotWithShape="1">
                <a:gsLst>
                  <a:gs pos="16000">
                    <a:srgbClr val="3BA08A">
                      <a:alpha val="74902"/>
                    </a:srgbClr>
                  </a:gs>
                  <a:gs pos="100000">
                    <a:schemeClr val="bg1">
                      <a:lumMod val="95000"/>
                      <a:alpha val="0"/>
                    </a:schemeClr>
                  </a:gs>
                  <a:gs pos="63000">
                    <a:srgbClr val="007693"/>
                  </a:gs>
                </a:gsLst>
                <a:lin ang="5400000" scaled="1"/>
                <a:tileRect/>
              </a:gra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1911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24764-0C31-CB18-66B4-608A73E67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EC485F48-F3F9-4F10-D57D-9711B016B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화면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출고 관리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F91F2C-C7D7-9BA1-ED1C-014A5E3E81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/>
              <a:t>14</a:t>
            </a:fld>
            <a:endParaRPr kumimoji="1" lang="ko-KR" altLang="en-US"/>
          </a:p>
        </p:txBody>
      </p:sp>
      <p:pic>
        <p:nvPicPr>
          <p:cNvPr id="23" name="그림 22" descr="텍스트, 스크린샷, 모니터이(가) 표시된 사진&#10;&#10;자동 생성된 설명">
            <a:extLst>
              <a:ext uri="{FF2B5EF4-FFF2-40B4-BE49-F238E27FC236}">
                <a16:creationId xmlns:a16="http://schemas.microsoft.com/office/drawing/2014/main" id="{DDD1330F-012B-0AAD-9BA3-CAC88128A7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1232" y="654879"/>
            <a:ext cx="3600000" cy="2290908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24" name="그림 23" descr="텍스트이(가) 표시된 사진&#10;&#10;자동 생성된 설명">
            <a:extLst>
              <a:ext uri="{FF2B5EF4-FFF2-40B4-BE49-F238E27FC236}">
                <a16:creationId xmlns:a16="http://schemas.microsoft.com/office/drawing/2014/main" id="{72428446-1010-9143-2E65-A6F4B83603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565" y="1836022"/>
            <a:ext cx="3513051" cy="2507378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9CE7C5FB-53EB-2C4B-DABD-46D49F60C5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7899" y="654879"/>
            <a:ext cx="3600000" cy="2404950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26" name="그림 25" descr="텍스트, 테이블이(가) 표시된 사진&#10;&#10;자동 생성된 설명">
            <a:extLst>
              <a:ext uri="{FF2B5EF4-FFF2-40B4-BE49-F238E27FC236}">
                <a16:creationId xmlns:a16="http://schemas.microsoft.com/office/drawing/2014/main" id="{F6973CC3-12AA-65C6-F8FF-9D82D20C593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1628" y="1836022"/>
            <a:ext cx="3600000" cy="2316951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27" name="Rounded Rectangle 57">
            <a:extLst>
              <a:ext uri="{FF2B5EF4-FFF2-40B4-BE49-F238E27FC236}">
                <a16:creationId xmlns:a16="http://schemas.microsoft.com/office/drawing/2014/main" id="{15B40F53-CCF1-23EC-6224-DDFE4A89A5CC}"/>
              </a:ext>
            </a:extLst>
          </p:cNvPr>
          <p:cNvSpPr/>
          <p:nvPr/>
        </p:nvSpPr>
        <p:spPr>
          <a:xfrm>
            <a:off x="3496566" y="2837704"/>
            <a:ext cx="1010889" cy="252000"/>
          </a:xfrm>
          <a:prstGeom prst="roundRect">
            <a:avLst>
              <a:gd name="adj" fmla="val 28912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5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출고 주문 등록</a:t>
            </a:r>
            <a:endParaRPr lang="en-US" altLang="ko-KR" sz="105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Rounded Rectangle 57">
            <a:extLst>
              <a:ext uri="{FF2B5EF4-FFF2-40B4-BE49-F238E27FC236}">
                <a16:creationId xmlns:a16="http://schemas.microsoft.com/office/drawing/2014/main" id="{6FC1EE02-A5A3-A964-50C9-9FC3AB3931B7}"/>
              </a:ext>
            </a:extLst>
          </p:cNvPr>
          <p:cNvSpPr/>
          <p:nvPr/>
        </p:nvSpPr>
        <p:spPr>
          <a:xfrm>
            <a:off x="5281976" y="829364"/>
            <a:ext cx="1155753" cy="252000"/>
          </a:xfrm>
          <a:prstGeom prst="roundRect">
            <a:avLst>
              <a:gd name="adj" fmla="val 28912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5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피킹 지시 </a:t>
            </a:r>
            <a:r>
              <a:rPr lang="en-US" altLang="ko-KR" sz="105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&amp;</a:t>
            </a:r>
            <a:r>
              <a:rPr lang="ko-KR" altLang="en-US" sz="105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작업</a:t>
            </a:r>
            <a:endParaRPr lang="en-US" altLang="ko-KR" sz="105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Rounded Rectangle 57">
            <a:extLst>
              <a:ext uri="{FF2B5EF4-FFF2-40B4-BE49-F238E27FC236}">
                <a16:creationId xmlns:a16="http://schemas.microsoft.com/office/drawing/2014/main" id="{08BAFD6E-A67C-B68D-3981-5BFC5CFF8BA0}"/>
              </a:ext>
            </a:extLst>
          </p:cNvPr>
          <p:cNvSpPr/>
          <p:nvPr/>
        </p:nvSpPr>
        <p:spPr>
          <a:xfrm>
            <a:off x="7742583" y="3440765"/>
            <a:ext cx="1655417" cy="252000"/>
          </a:xfrm>
          <a:prstGeom prst="roundRect">
            <a:avLst>
              <a:gd name="adj" fmla="val 28912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5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출고 확정 </a:t>
            </a:r>
            <a:r>
              <a:rPr lang="en-US" altLang="ko-KR" sz="105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&amp;</a:t>
            </a:r>
            <a:r>
              <a:rPr lang="ko-KR" altLang="en-US" sz="105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거래명세서</a:t>
            </a:r>
            <a:endParaRPr lang="en-US" altLang="ko-KR" sz="105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FCC411CE-4401-C976-1318-A3FF0641B41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61789" y="4066487"/>
            <a:ext cx="1440000" cy="2315256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94C5AC23-7F15-4E7C-064B-A0DB210C6F5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3849" y="4066487"/>
            <a:ext cx="1440000" cy="2315256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32" name="Rounded Rectangle 57">
            <a:extLst>
              <a:ext uri="{FF2B5EF4-FFF2-40B4-BE49-F238E27FC236}">
                <a16:creationId xmlns:a16="http://schemas.microsoft.com/office/drawing/2014/main" id="{2CBDDD82-712E-E3E9-A72B-75692B85FA13}"/>
              </a:ext>
            </a:extLst>
          </p:cNvPr>
          <p:cNvSpPr/>
          <p:nvPr/>
        </p:nvSpPr>
        <p:spPr>
          <a:xfrm>
            <a:off x="6246132" y="6255743"/>
            <a:ext cx="1010889" cy="252000"/>
          </a:xfrm>
          <a:prstGeom prst="roundRect">
            <a:avLst>
              <a:gd name="adj" fmla="val 28912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5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출고 처리 </a:t>
            </a:r>
            <a:r>
              <a:rPr lang="en-US" altLang="ko-KR" sz="105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PDA</a:t>
            </a:r>
          </a:p>
        </p:txBody>
      </p:sp>
      <p:pic>
        <p:nvPicPr>
          <p:cNvPr id="33" name="그림 32" descr="테이블이(가) 표시된 사진&#10;&#10;자동 생성된 설명">
            <a:extLst>
              <a:ext uri="{FF2B5EF4-FFF2-40B4-BE49-F238E27FC236}">
                <a16:creationId xmlns:a16="http://schemas.microsoft.com/office/drawing/2014/main" id="{895117D3-0F88-6FC3-4EE7-3A28B7AEFF9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0530" y="4066487"/>
            <a:ext cx="3221825" cy="2264473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34" name="Rounded Rectangle 57">
            <a:extLst>
              <a:ext uri="{FF2B5EF4-FFF2-40B4-BE49-F238E27FC236}">
                <a16:creationId xmlns:a16="http://schemas.microsoft.com/office/drawing/2014/main" id="{FD61816E-C3FC-772E-B4AD-6798E70DCEB5}"/>
              </a:ext>
            </a:extLst>
          </p:cNvPr>
          <p:cNvSpPr/>
          <p:nvPr/>
        </p:nvSpPr>
        <p:spPr>
          <a:xfrm>
            <a:off x="1133001" y="6003743"/>
            <a:ext cx="1198142" cy="252000"/>
          </a:xfrm>
          <a:prstGeom prst="roundRect">
            <a:avLst>
              <a:gd name="adj" fmla="val 28912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50" kern="0" err="1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피킹지시서</a:t>
            </a:r>
            <a:r>
              <a:rPr lang="ko-KR" altLang="en-US" sz="1050" kern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츌력</a:t>
            </a:r>
            <a:endParaRPr lang="en-US" altLang="ko-KR" sz="105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9267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E7E1077C-F9D3-4413-98EE-B999BD8532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4627" y="704651"/>
            <a:ext cx="4437391" cy="2520000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BC0E12F3-BCA7-0D41-A130-B2492A838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spc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 </a:t>
            </a:r>
            <a:r>
              <a:rPr kumimoji="1" lang="en-US" altLang="ko-KR" spc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</a:t>
            </a:r>
            <a:r>
              <a:rPr kumimoji="1" lang="ko-KR" altLang="en-US" spc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출고 관리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516324-89FF-3840-ABF7-75AA0AD2A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</a:t>
            </a:fld>
            <a:endParaRPr kumimoji="1"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72181F0-5C1A-C16B-FDEE-B08A1A0000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97778" y="717422"/>
            <a:ext cx="4437391" cy="2520000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8" name="Rounded Rectangle 57">
            <a:extLst>
              <a:ext uri="{FF2B5EF4-FFF2-40B4-BE49-F238E27FC236}">
                <a16:creationId xmlns:a16="http://schemas.microsoft.com/office/drawing/2014/main" id="{ADF0CB8C-5B6D-DEB1-A82C-BDF8ED59F7BE}"/>
              </a:ext>
            </a:extLst>
          </p:cNvPr>
          <p:cNvSpPr/>
          <p:nvPr/>
        </p:nvSpPr>
        <p:spPr>
          <a:xfrm>
            <a:off x="2167878" y="3095696"/>
            <a:ext cx="1010889" cy="252000"/>
          </a:xfrm>
          <a:prstGeom prst="roundRect">
            <a:avLst>
              <a:gd name="adj" fmla="val 28912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5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대시보드</a:t>
            </a:r>
            <a:endParaRPr lang="en-US" altLang="ko-KR" sz="105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Rounded Rectangle 57">
            <a:extLst>
              <a:ext uri="{FF2B5EF4-FFF2-40B4-BE49-F238E27FC236}">
                <a16:creationId xmlns:a16="http://schemas.microsoft.com/office/drawing/2014/main" id="{E21CB8BE-523D-2644-139E-10AED039BA0D}"/>
              </a:ext>
            </a:extLst>
          </p:cNvPr>
          <p:cNvSpPr/>
          <p:nvPr/>
        </p:nvSpPr>
        <p:spPr>
          <a:xfrm>
            <a:off x="6811029" y="3095696"/>
            <a:ext cx="1010889" cy="252000"/>
          </a:xfrm>
          <a:prstGeom prst="roundRect">
            <a:avLst>
              <a:gd name="adj" fmla="val 28912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5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웨이브 관리</a:t>
            </a:r>
            <a:endParaRPr lang="en-US" altLang="ko-KR" sz="105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7C672B1-56BD-5523-DAA8-731B32F343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603" y="3577544"/>
            <a:ext cx="4437393" cy="2520000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9" name="Rounded Rectangle 57">
            <a:extLst>
              <a:ext uri="{FF2B5EF4-FFF2-40B4-BE49-F238E27FC236}">
                <a16:creationId xmlns:a16="http://schemas.microsoft.com/office/drawing/2014/main" id="{D4FE7F11-E51B-609A-FED9-275E187FBCF9}"/>
              </a:ext>
            </a:extLst>
          </p:cNvPr>
          <p:cNvSpPr/>
          <p:nvPr/>
        </p:nvSpPr>
        <p:spPr>
          <a:xfrm>
            <a:off x="2123855" y="5968589"/>
            <a:ext cx="1010889" cy="252000"/>
          </a:xfrm>
          <a:prstGeom prst="roundRect">
            <a:avLst>
              <a:gd name="adj" fmla="val 28912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5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출고 주문 추적</a:t>
            </a:r>
            <a:endParaRPr lang="en-US" altLang="ko-KR" sz="105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CF277E2-79AE-B129-A989-66BA4CBF5B1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97777" y="3577544"/>
            <a:ext cx="4437391" cy="2520000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15" name="Rounded Rectangle 57">
            <a:extLst>
              <a:ext uri="{FF2B5EF4-FFF2-40B4-BE49-F238E27FC236}">
                <a16:creationId xmlns:a16="http://schemas.microsoft.com/office/drawing/2014/main" id="{6A6E79C9-A5E9-A778-EF05-A8C41E84F4AD}"/>
              </a:ext>
            </a:extLst>
          </p:cNvPr>
          <p:cNvSpPr/>
          <p:nvPr/>
        </p:nvSpPr>
        <p:spPr>
          <a:xfrm>
            <a:off x="6811028" y="5968589"/>
            <a:ext cx="1010889" cy="252000"/>
          </a:xfrm>
          <a:prstGeom prst="roundRect">
            <a:avLst>
              <a:gd name="adj" fmla="val 28912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ko-KR" altLang="en-US" sz="105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작업 진행 현황</a:t>
            </a:r>
            <a:endParaRPr lang="en-US" altLang="ko-KR" sz="1050" kern="0" dirty="0">
              <a:solidFill>
                <a:prstClr val="whit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020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21FD5-666B-E93B-2B7F-58384D9EC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ABDF8D4-B0BA-D2E5-5769-D88F0E31C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spc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PDA </a:t>
            </a:r>
            <a:r>
              <a:rPr kumimoji="1" lang="ko-KR" altLang="en-US" spc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모바일 작업 지원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5C59CF-89D2-4D8B-7902-2472DE7EBF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</a:t>
            </a:fld>
            <a:endParaRPr kumimoji="1"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B0EAA163-E9BD-C505-D944-F91BFFF19926}"/>
              </a:ext>
            </a:extLst>
          </p:cNvPr>
          <p:cNvSpPr txBox="1"/>
          <p:nvPr/>
        </p:nvSpPr>
        <p:spPr>
          <a:xfrm>
            <a:off x="4819147" y="424605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 anchor="ctr">
            <a:noAutofit/>
          </a:bodyPr>
          <a:lstStyle/>
          <a:p>
            <a:pPr algn="ctr"/>
            <a:endParaRPr kumimoji="1" lang="ko-KR" altLang="en-US" sz="1600" dirty="0">
              <a:solidFill>
                <a:schemeClr val="bg2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Hankook TTF Medium"/>
            </a:endParaRPr>
          </a:p>
        </p:txBody>
      </p:sp>
      <p:sp>
        <p:nvSpPr>
          <p:cNvPr id="2" name="직사각형 4">
            <a:extLst>
              <a:ext uri="{FF2B5EF4-FFF2-40B4-BE49-F238E27FC236}">
                <a16:creationId xmlns:a16="http://schemas.microsoft.com/office/drawing/2014/main" id="{2FC86E13-269E-3FEA-B5C2-E363DE255299}"/>
              </a:ext>
            </a:extLst>
          </p:cNvPr>
          <p:cNvSpPr/>
          <p:nvPr/>
        </p:nvSpPr>
        <p:spPr>
          <a:xfrm>
            <a:off x="320414" y="864784"/>
            <a:ext cx="9265172" cy="4673025"/>
          </a:xfrm>
          <a:prstGeom prst="roundRect">
            <a:avLst>
              <a:gd name="adj" fmla="val 1378"/>
            </a:avLst>
          </a:prstGeom>
          <a:solidFill>
            <a:schemeClr val="bg1"/>
          </a:solidFill>
          <a:ln w="15875" cap="flat" cmpd="sng" algn="ctr">
            <a:solidFill>
              <a:srgbClr val="4E7FB3"/>
            </a:solidFill>
            <a:prstDash val="solid"/>
          </a:ln>
          <a:effectLst>
            <a:outerShdw blurRad="30480" dist="23000" dir="5400000" rotWithShape="0">
              <a:srgbClr val="000000">
                <a:alpha val="15000"/>
              </a:srgbClr>
            </a:outerShdw>
          </a:effectLst>
        </p:spPr>
        <p:txBody>
          <a:bodyPr tIns="180000" rtlCol="0" anchor="ctr"/>
          <a:lstStyle/>
          <a:p>
            <a:pPr algn="ctr" defTabSz="457200"/>
            <a:endParaRPr lang="ko-KR" altLang="en-US" sz="2000" kern="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Rounded Rectangle 114">
            <a:extLst>
              <a:ext uri="{FF2B5EF4-FFF2-40B4-BE49-F238E27FC236}">
                <a16:creationId xmlns:a16="http://schemas.microsoft.com/office/drawing/2014/main" id="{ACB59343-C7BD-9308-37C8-5E31EAF14820}"/>
              </a:ext>
            </a:extLst>
          </p:cNvPr>
          <p:cNvSpPr/>
          <p:nvPr/>
        </p:nvSpPr>
        <p:spPr>
          <a:xfrm>
            <a:off x="580804" y="1713534"/>
            <a:ext cx="2693247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 defTabSz="457200" latinLnBrk="0"/>
            <a:r>
              <a:rPr lang="ko-KR" altLang="en-US" sz="12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입고 </a:t>
            </a:r>
            <a:r>
              <a:rPr lang="en-US" altLang="ko-KR" sz="12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00" b="1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적치</a:t>
            </a:r>
          </a:p>
        </p:txBody>
      </p:sp>
      <p:sp>
        <p:nvSpPr>
          <p:cNvPr id="6" name="TextBox 57">
            <a:extLst>
              <a:ext uri="{FF2B5EF4-FFF2-40B4-BE49-F238E27FC236}">
                <a16:creationId xmlns:a16="http://schemas.microsoft.com/office/drawing/2014/main" id="{4BAA81A8-69DE-D86E-4342-829B5F8F149F}"/>
              </a:ext>
            </a:extLst>
          </p:cNvPr>
          <p:cNvSpPr txBox="1"/>
          <p:nvPr/>
        </p:nvSpPr>
        <p:spPr>
          <a:xfrm>
            <a:off x="580804" y="2101961"/>
            <a:ext cx="2691040" cy="872548"/>
          </a:xfrm>
          <a:prstGeom prst="rect">
            <a:avLst/>
          </a:prstGeom>
          <a:noFill/>
          <a:ln>
            <a:noFill/>
          </a:ln>
        </p:spPr>
        <p:txBody>
          <a:bodyPr wrap="square" lIns="10800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입고 검수 바코드 스캔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추천 로케이션 자동 표시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적치 완료 확인 처리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7" name="Rounded Rectangle 114">
            <a:extLst>
              <a:ext uri="{FF2B5EF4-FFF2-40B4-BE49-F238E27FC236}">
                <a16:creationId xmlns:a16="http://schemas.microsoft.com/office/drawing/2014/main" id="{D084A98F-0445-F84E-8234-CC4F4441A38B}"/>
              </a:ext>
            </a:extLst>
          </p:cNvPr>
          <p:cNvSpPr/>
          <p:nvPr/>
        </p:nvSpPr>
        <p:spPr>
          <a:xfrm>
            <a:off x="3607031" y="1713534"/>
            <a:ext cx="2693247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피킹 작업</a:t>
            </a:r>
          </a:p>
        </p:txBody>
      </p:sp>
      <p:sp>
        <p:nvSpPr>
          <p:cNvPr id="8" name="Rounded Rectangle 114">
            <a:extLst>
              <a:ext uri="{FF2B5EF4-FFF2-40B4-BE49-F238E27FC236}">
                <a16:creationId xmlns:a16="http://schemas.microsoft.com/office/drawing/2014/main" id="{A2764633-C515-DB23-2062-5A86C870E25C}"/>
              </a:ext>
            </a:extLst>
          </p:cNvPr>
          <p:cNvSpPr/>
          <p:nvPr/>
        </p:nvSpPr>
        <p:spPr>
          <a:xfrm>
            <a:off x="6633259" y="1713534"/>
            <a:ext cx="2693247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포장 </a:t>
            </a:r>
            <a:r>
              <a:rPr lang="en-US" altLang="ko-KR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출하</a:t>
            </a:r>
          </a:p>
        </p:txBody>
      </p:sp>
      <p:sp>
        <p:nvSpPr>
          <p:cNvPr id="9" name="TextBox 57">
            <a:extLst>
              <a:ext uri="{FF2B5EF4-FFF2-40B4-BE49-F238E27FC236}">
                <a16:creationId xmlns:a16="http://schemas.microsoft.com/office/drawing/2014/main" id="{081A42DE-A2D0-D849-E970-24A8A12F06E6}"/>
              </a:ext>
            </a:extLst>
          </p:cNvPr>
          <p:cNvSpPr txBox="1"/>
          <p:nvPr/>
        </p:nvSpPr>
        <p:spPr>
          <a:xfrm>
            <a:off x="3607031" y="2101961"/>
            <a:ext cx="2692357" cy="872548"/>
          </a:xfrm>
          <a:prstGeom prst="rect">
            <a:avLst/>
          </a:prstGeom>
          <a:noFill/>
          <a:ln>
            <a:noFill/>
          </a:ln>
        </p:spPr>
        <p:txBody>
          <a:bodyPr wrap="square" lIns="10800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피킹 지시 목록 조회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상품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수량 스캔 피킹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(Short)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처리 지원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Box 57">
            <a:extLst>
              <a:ext uri="{FF2B5EF4-FFF2-40B4-BE49-F238E27FC236}">
                <a16:creationId xmlns:a16="http://schemas.microsoft.com/office/drawing/2014/main" id="{DAB91C45-F1F1-C81E-52C6-32393C982247}"/>
              </a:ext>
            </a:extLst>
          </p:cNvPr>
          <p:cNvSpPr txBox="1"/>
          <p:nvPr/>
        </p:nvSpPr>
        <p:spPr>
          <a:xfrm>
            <a:off x="6633259" y="2101961"/>
            <a:ext cx="2692357" cy="872548"/>
          </a:xfrm>
          <a:prstGeom prst="rect">
            <a:avLst/>
          </a:prstGeom>
          <a:noFill/>
          <a:ln>
            <a:noFill/>
          </a:ln>
        </p:spPr>
        <p:txBody>
          <a:bodyPr wrap="square" lIns="10800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포장 지시 목록 조회</a:t>
            </a:r>
            <a:endParaRPr lang="en-US" altLang="ko-KR" sz="1100" dirty="0">
              <a:solidFill>
                <a:srgbClr val="59595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라벨 </a:t>
            </a:r>
            <a:r>
              <a:rPr lang="en-US" altLang="ko-KR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송장</a:t>
            </a:r>
            <a:r>
              <a:rPr lang="en-US" altLang="ko-KR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출력 부착</a:t>
            </a:r>
            <a:endParaRPr lang="en-US" altLang="ko-KR" sz="1100" dirty="0">
              <a:solidFill>
                <a:srgbClr val="59595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송장 스캔 출하 확정</a:t>
            </a:r>
            <a:endParaRPr lang="en-US" sz="1100" dirty="0">
              <a:solidFill>
                <a:srgbClr val="3D5874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1" name="Rounded Rectangle 114">
            <a:extLst>
              <a:ext uri="{FF2B5EF4-FFF2-40B4-BE49-F238E27FC236}">
                <a16:creationId xmlns:a16="http://schemas.microsoft.com/office/drawing/2014/main" id="{ACC5B1BE-AB75-FDF6-BD40-419EC0946373}"/>
              </a:ext>
            </a:extLst>
          </p:cNvPr>
          <p:cNvSpPr/>
          <p:nvPr/>
        </p:nvSpPr>
        <p:spPr>
          <a:xfrm>
            <a:off x="580804" y="4005640"/>
            <a:ext cx="2693247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재고 이동</a:t>
            </a:r>
          </a:p>
        </p:txBody>
      </p:sp>
      <p:sp>
        <p:nvSpPr>
          <p:cNvPr id="12" name="Rounded Rectangle 114">
            <a:extLst>
              <a:ext uri="{FF2B5EF4-FFF2-40B4-BE49-F238E27FC236}">
                <a16:creationId xmlns:a16="http://schemas.microsoft.com/office/drawing/2014/main" id="{E104A5BC-E65F-A7F5-5114-22C52F0F5670}"/>
              </a:ext>
            </a:extLst>
          </p:cNvPr>
          <p:cNvSpPr/>
          <p:nvPr/>
        </p:nvSpPr>
        <p:spPr>
          <a:xfrm>
            <a:off x="3607031" y="4005640"/>
            <a:ext cx="2693247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재고 조사</a:t>
            </a:r>
          </a:p>
        </p:txBody>
      </p:sp>
      <p:sp>
        <p:nvSpPr>
          <p:cNvPr id="13" name="Rounded Rectangle 114">
            <a:extLst>
              <a:ext uri="{FF2B5EF4-FFF2-40B4-BE49-F238E27FC236}">
                <a16:creationId xmlns:a16="http://schemas.microsoft.com/office/drawing/2014/main" id="{D1098444-2D33-9EFF-D7DE-8E8F0F1C034D}"/>
              </a:ext>
            </a:extLst>
          </p:cNvPr>
          <p:cNvSpPr/>
          <p:nvPr/>
        </p:nvSpPr>
        <p:spPr>
          <a:xfrm>
            <a:off x="6633259" y="4005640"/>
            <a:ext cx="2693247" cy="288000"/>
          </a:xfrm>
          <a:prstGeom prst="roundRect">
            <a:avLst>
              <a:gd name="adj" fmla="val 13587"/>
            </a:avLst>
          </a:prstGeom>
          <a:solidFill>
            <a:srgbClr val="46719F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현황 조회</a:t>
            </a:r>
          </a:p>
        </p:txBody>
      </p:sp>
      <p:sp>
        <p:nvSpPr>
          <p:cNvPr id="14" name="TextBox 57">
            <a:extLst>
              <a:ext uri="{FF2B5EF4-FFF2-40B4-BE49-F238E27FC236}">
                <a16:creationId xmlns:a16="http://schemas.microsoft.com/office/drawing/2014/main" id="{1B132EB5-B20D-00DF-48AB-DE9D2D42840C}"/>
              </a:ext>
            </a:extLst>
          </p:cNvPr>
          <p:cNvSpPr txBox="1"/>
          <p:nvPr/>
        </p:nvSpPr>
        <p:spPr>
          <a:xfrm>
            <a:off x="580804" y="4420193"/>
            <a:ext cx="2691040" cy="872548"/>
          </a:xfrm>
          <a:prstGeom prst="rect">
            <a:avLst/>
          </a:prstGeom>
          <a:noFill/>
          <a:ln>
            <a:noFill/>
          </a:ln>
        </p:spPr>
        <p:txBody>
          <a:bodyPr wrap="square" lIns="10800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이동 지시 목록 조회</a:t>
            </a:r>
            <a:endParaRPr lang="en-US" altLang="ko-KR" sz="1100" dirty="0">
              <a:solidFill>
                <a:srgbClr val="59595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출발</a:t>
            </a:r>
            <a:r>
              <a:rPr lang="en-US" altLang="ko-KR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도착 로케이션 스캔</a:t>
            </a:r>
            <a:endParaRPr lang="en-US" altLang="ko-KR" sz="1100" dirty="0">
              <a:solidFill>
                <a:srgbClr val="59595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이동 완료 처리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5" name="TextBox 57">
            <a:extLst>
              <a:ext uri="{FF2B5EF4-FFF2-40B4-BE49-F238E27FC236}">
                <a16:creationId xmlns:a16="http://schemas.microsoft.com/office/drawing/2014/main" id="{439502A5-4130-64B2-CAA3-DCE279E5C206}"/>
              </a:ext>
            </a:extLst>
          </p:cNvPr>
          <p:cNvSpPr txBox="1"/>
          <p:nvPr/>
        </p:nvSpPr>
        <p:spPr>
          <a:xfrm>
            <a:off x="3607031" y="4420193"/>
            <a:ext cx="2692357" cy="872548"/>
          </a:xfrm>
          <a:prstGeom prst="rect">
            <a:avLst/>
          </a:prstGeom>
          <a:noFill/>
          <a:ln>
            <a:noFill/>
          </a:ln>
        </p:spPr>
        <p:txBody>
          <a:bodyPr wrap="square" lIns="10800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조사 지시 목록 조회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실물 수량 입력 처리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차이 현황 즉시 확인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6" name="TextBox 57">
            <a:extLst>
              <a:ext uri="{FF2B5EF4-FFF2-40B4-BE49-F238E27FC236}">
                <a16:creationId xmlns:a16="http://schemas.microsoft.com/office/drawing/2014/main" id="{88454F18-F15A-8BCE-697F-6F373081CFD9}"/>
              </a:ext>
            </a:extLst>
          </p:cNvPr>
          <p:cNvSpPr txBox="1"/>
          <p:nvPr/>
        </p:nvSpPr>
        <p:spPr>
          <a:xfrm>
            <a:off x="6633259" y="4420193"/>
            <a:ext cx="2692357" cy="872548"/>
          </a:xfrm>
          <a:prstGeom prst="rect">
            <a:avLst/>
          </a:prstGeom>
          <a:noFill/>
          <a:ln>
            <a:noFill/>
          </a:ln>
        </p:spPr>
        <p:txBody>
          <a:bodyPr wrap="square" lIns="108000" tIns="0" rIns="0" bIns="0" rtlCol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피킹</a:t>
            </a:r>
            <a:r>
              <a:rPr lang="en-US" altLang="ko-KR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포장 진행률 확인</a:t>
            </a:r>
            <a:endParaRPr lang="en-US" altLang="ko-KR" sz="1100" dirty="0">
              <a:solidFill>
                <a:srgbClr val="59595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금일 작업 실적 조회</a:t>
            </a:r>
            <a:endParaRPr lang="en-US" altLang="ko-KR" sz="1100" dirty="0">
              <a:solidFill>
                <a:srgbClr val="59595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Clr>
                <a:srgbClr val="00B0F0"/>
              </a:buClr>
              <a:buFont typeface="Wingdings" pitchFamily="2" charset="2"/>
              <a:buChar char="ü"/>
            </a:pPr>
            <a:r>
              <a:rPr lang="ko-KR" altLang="en-US" sz="1100" dirty="0">
                <a:solidFill>
                  <a:srgbClr val="5959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로케이션 재고 즉시 조회</a:t>
            </a:r>
            <a:endParaRPr lang="en-US" sz="1100" dirty="0">
              <a:solidFill>
                <a:srgbClr val="3D5874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103A00-EF05-C11D-961A-CBFC92AA7383}"/>
              </a:ext>
            </a:extLst>
          </p:cNvPr>
          <p:cNvSpPr txBox="1"/>
          <p:nvPr/>
        </p:nvSpPr>
        <p:spPr>
          <a:xfrm>
            <a:off x="343823" y="5606320"/>
            <a:ext cx="90541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dirty="0">
                <a:solidFill>
                  <a:srgbClr val="CC33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PWA</a:t>
            </a:r>
            <a:r>
              <a:rPr sz="1050" dirty="0">
                <a:solidFill>
                  <a:srgbClr val="CC33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(Progressive Web App) — </a:t>
            </a:r>
            <a:r>
              <a:rPr sz="1050" dirty="0" err="1">
                <a:solidFill>
                  <a:srgbClr val="CC33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별도</a:t>
            </a:r>
            <a:r>
              <a:rPr sz="1050" dirty="0">
                <a:solidFill>
                  <a:srgbClr val="CC33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sz="1050" dirty="0" err="1">
                <a:solidFill>
                  <a:srgbClr val="CC33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앱</a:t>
            </a:r>
            <a:r>
              <a:rPr sz="1050" dirty="0">
                <a:solidFill>
                  <a:srgbClr val="CC33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sz="1050" dirty="0" err="1">
                <a:solidFill>
                  <a:srgbClr val="CC33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설치</a:t>
            </a:r>
            <a:r>
              <a:rPr sz="1050" dirty="0">
                <a:solidFill>
                  <a:srgbClr val="CC33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sz="1050" dirty="0" err="1">
                <a:solidFill>
                  <a:srgbClr val="CC33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없이</a:t>
            </a:r>
            <a:r>
              <a:rPr sz="1050" dirty="0">
                <a:solidFill>
                  <a:srgbClr val="CC33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sz="1050" dirty="0" err="1">
                <a:solidFill>
                  <a:srgbClr val="CC33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PDA·태블릿·스마트폰</a:t>
            </a:r>
            <a:r>
              <a:rPr sz="1050" dirty="0">
                <a:solidFill>
                  <a:srgbClr val="CC33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sz="1050" dirty="0" err="1">
                <a:solidFill>
                  <a:srgbClr val="CC33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브라우저에서</a:t>
            </a:r>
            <a:r>
              <a:rPr sz="1050" dirty="0">
                <a:solidFill>
                  <a:srgbClr val="CC33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WMS </a:t>
            </a:r>
            <a:r>
              <a:rPr sz="1050" dirty="0" err="1">
                <a:solidFill>
                  <a:srgbClr val="CC33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작업</a:t>
            </a:r>
            <a:r>
              <a:rPr sz="1050" dirty="0">
                <a:solidFill>
                  <a:srgbClr val="CC33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sz="1050" dirty="0" err="1">
                <a:solidFill>
                  <a:srgbClr val="CC33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지원</a:t>
            </a:r>
            <a:endParaRPr sz="1050" dirty="0">
              <a:solidFill>
                <a:srgbClr val="CC330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E9300B2-27C3-87D6-031F-9248B933E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64171" y="1293298"/>
            <a:ext cx="326512" cy="360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679FAFA-2B4F-A382-8CE6-A061B4DC97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99882" y="3608875"/>
            <a:ext cx="360000" cy="360000"/>
          </a:xfrm>
          <a:prstGeom prst="rect">
            <a:avLst/>
          </a:prstGeom>
        </p:spPr>
      </p:pic>
      <p:pic>
        <p:nvPicPr>
          <p:cNvPr id="23" name="그래픽 22">
            <a:extLst>
              <a:ext uri="{FF2B5EF4-FFF2-40B4-BE49-F238E27FC236}">
                <a16:creationId xmlns:a16="http://schemas.microsoft.com/office/drawing/2014/main" id="{C5CFA553-20E8-7BBC-060F-5B6CAECC07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6485" y="1270638"/>
            <a:ext cx="432000" cy="4320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32B5DC1B-DC3C-3C8B-DF75-682A94CA50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6818" y="3621501"/>
            <a:ext cx="373673" cy="34819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5DF80355-8204-95AA-97BA-10409611F0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99882" y="1320191"/>
            <a:ext cx="360000" cy="360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ACFC06E8-5E86-B976-FA61-C6E541A941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7427" y="3601974"/>
            <a:ext cx="36000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73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A4D33-081E-6CAC-C62D-BDC717411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3E3056AE-C64A-046B-0617-117D44452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대시보드 </a:t>
            </a:r>
            <a:r>
              <a:rPr kumimoji="1" lang="en-US" altLang="ko-KR" dirty="0"/>
              <a:t>&amp;</a:t>
            </a:r>
            <a:r>
              <a:rPr kumimoji="1" lang="ko-KR" altLang="en-US" dirty="0"/>
              <a:t> 모니터링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D53F9E-0AEC-9171-5C4C-84E35EB063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/>
              <a:t>17</a:t>
            </a:fld>
            <a:endParaRPr kumimoji="1" lang="ko-KR" altLang="en-US"/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9C7F4417-2BAF-1CFE-2AEA-F8823CB6A4DC}"/>
              </a:ext>
            </a:extLst>
          </p:cNvPr>
          <p:cNvSpPr txBox="1"/>
          <p:nvPr/>
        </p:nvSpPr>
        <p:spPr>
          <a:xfrm>
            <a:off x="4819147" y="424605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 anchor="ctr">
            <a:noAutofit/>
          </a:bodyPr>
          <a:lstStyle/>
          <a:p>
            <a:pPr algn="ctr"/>
            <a:endParaRPr kumimoji="1" lang="ko-KR" altLang="en-US" sz="1600" dirty="0">
              <a:solidFill>
                <a:schemeClr val="bg2">
                  <a:lumMod val="75000"/>
                </a:schemeClr>
              </a:solidFill>
              <a:latin typeface="+mn-ea"/>
              <a:cs typeface="Hankook TTF Medium"/>
              <a:sym typeface="Hankook TTF Medium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162F29C-E6F7-41BE-F923-441F04D21B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678" y="4586692"/>
            <a:ext cx="3096788" cy="1620000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5081313-29EC-B1AF-E6E5-8AE7E47F5A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67259" y="4586511"/>
            <a:ext cx="3096787" cy="1620000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2613A75-ECED-9B3C-947A-23CD7D5897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28571" y="2675319"/>
            <a:ext cx="2228751" cy="1375951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699A301-5137-9D08-4FC9-B62B222EE4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0738" y="2264097"/>
            <a:ext cx="4790044" cy="219839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5AE2FA2-19F7-A965-57AE-37E551A17DA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6363" y="4586511"/>
            <a:ext cx="2880000" cy="1620000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AB7A4355-82A3-3D7D-1F79-EAEC8C80085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4004" y="752531"/>
            <a:ext cx="2461802" cy="1387365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6C6E015-10AA-CBD9-8F4F-23D59C8BEE8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678" y="2675318"/>
            <a:ext cx="2092541" cy="1375952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4383092D-776C-06C5-1307-B80903F6EAB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4020" y="753896"/>
            <a:ext cx="2464686" cy="1386000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2057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BC0E12F3-BCA7-0D41-A130-B2492A838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spc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별첨</a:t>
            </a:r>
            <a:r>
              <a:rPr kumimoji="1" lang="en-US" altLang="ko-KR" spc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1" lang="ko-KR" altLang="en-US" spc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pc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Visualizer</a:t>
            </a:r>
            <a:r>
              <a:rPr kumimoji="1" lang="ko-KR" altLang="en-US" spc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적용 사례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516324-89FF-3840-ABF7-75AA0AD2A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/>
              <a:t>18</a:t>
            </a:fld>
            <a:endParaRPr kumimoji="1" lang="ko-KR" altLang="en-US"/>
          </a:p>
        </p:txBody>
      </p:sp>
      <p:sp>
        <p:nvSpPr>
          <p:cNvPr id="3" name="직사각형 4">
            <a:extLst>
              <a:ext uri="{FF2B5EF4-FFF2-40B4-BE49-F238E27FC236}">
                <a16:creationId xmlns:a16="http://schemas.microsoft.com/office/drawing/2014/main" id="{19DB19F1-DA6D-F866-EF3C-D66870C8E324}"/>
              </a:ext>
            </a:extLst>
          </p:cNvPr>
          <p:cNvSpPr/>
          <p:nvPr/>
        </p:nvSpPr>
        <p:spPr>
          <a:xfrm>
            <a:off x="349624" y="1020976"/>
            <a:ext cx="9224682" cy="5299142"/>
          </a:xfrm>
          <a:prstGeom prst="roundRect">
            <a:avLst>
              <a:gd name="adj" fmla="val 1893"/>
            </a:avLst>
          </a:prstGeom>
          <a:solidFill>
            <a:schemeClr val="bg1"/>
          </a:solidFill>
          <a:ln w="15875" cap="flat" cmpd="sng" algn="ctr">
            <a:solidFill>
              <a:srgbClr val="1B5587"/>
            </a:solidFill>
            <a:prstDash val="solid"/>
          </a:ln>
          <a:effectLst>
            <a:outerShdw blurRad="30480" dist="23000" dir="5400000" rotWithShape="0">
              <a:srgbClr val="000000">
                <a:alpha val="15000"/>
              </a:srgbClr>
            </a:outerShdw>
          </a:effectLst>
        </p:spPr>
        <p:txBody>
          <a:bodyPr lIns="108000" tIns="72000" rtlCol="0" anchor="t"/>
          <a:lstStyle/>
          <a:p>
            <a:pPr lvl="0">
              <a:lnSpc>
                <a:spcPct val="150000"/>
              </a:lnSpc>
              <a:defRPr/>
            </a:pPr>
            <a:r>
              <a:rPr lang="ko-KR" altLang="en-US" sz="1200" kern="0" dirty="0">
                <a:solidFill>
                  <a:srgbClr val="3D556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개별 자동화 설비 모니터링 뿐만 아니라 물류센터 전체 작업 현황에 대한 모니터링 시스템을 구축 하였습니다</a:t>
            </a:r>
            <a:r>
              <a:rPr lang="en-US" altLang="ko-KR" sz="1200" kern="0" dirty="0">
                <a:solidFill>
                  <a:srgbClr val="3D556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5002B1-F6B0-C7C7-904A-5E2A031368BC}"/>
              </a:ext>
            </a:extLst>
          </p:cNvPr>
          <p:cNvSpPr txBox="1"/>
          <p:nvPr/>
        </p:nvSpPr>
        <p:spPr>
          <a:xfrm>
            <a:off x="418340" y="678376"/>
            <a:ext cx="2659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gradFill flip="none" rotWithShape="1">
                  <a:gsLst>
                    <a:gs pos="16000">
                      <a:srgbClr val="3BA08A">
                        <a:alpha val="74902"/>
                      </a:srgbClr>
                    </a:gs>
                    <a:gs pos="100000">
                      <a:schemeClr val="bg1">
                        <a:lumMod val="95000"/>
                        <a:alpha val="0"/>
                      </a:schemeClr>
                    </a:gs>
                    <a:gs pos="63000">
                      <a:srgbClr val="007693"/>
                    </a:gs>
                  </a:gsLst>
                  <a:lin ang="5400000" scaled="1"/>
                  <a:tileRect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물류 모니터링 시스템</a:t>
            </a:r>
            <a:endParaRPr lang="en-US" sz="2000" b="1" dirty="0">
              <a:gradFill flip="none" rotWithShape="1">
                <a:gsLst>
                  <a:gs pos="16000">
                    <a:srgbClr val="3BA08A">
                      <a:alpha val="74902"/>
                    </a:srgbClr>
                  </a:gs>
                  <a:gs pos="100000">
                    <a:schemeClr val="bg1">
                      <a:lumMod val="95000"/>
                      <a:alpha val="0"/>
                    </a:schemeClr>
                  </a:gs>
                  <a:gs pos="63000">
                    <a:srgbClr val="007693"/>
                  </a:gs>
                </a:gsLst>
                <a:lin ang="5400000" scaled="1"/>
                <a:tileRect/>
              </a:gra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B5AC2C1-9119-E287-DAA1-A68F4FCE3047}"/>
              </a:ext>
            </a:extLst>
          </p:cNvPr>
          <p:cNvGrpSpPr/>
          <p:nvPr/>
        </p:nvGrpSpPr>
        <p:grpSpPr>
          <a:xfrm>
            <a:off x="786599" y="1537442"/>
            <a:ext cx="8332802" cy="2160001"/>
            <a:chOff x="758840" y="1587297"/>
            <a:chExt cx="8332802" cy="2160001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762C1CC7-4AD8-6821-08B1-7E56723886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8840" y="1587298"/>
              <a:ext cx="3840001" cy="2160000"/>
            </a:xfrm>
            <a:prstGeom prst="roundRect">
              <a:avLst>
                <a:gd name="adj" fmla="val 3782"/>
              </a:avLst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D6263232-D8BE-4B22-BCC4-74DF5A9F4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251642" y="1587297"/>
              <a:ext cx="3840000" cy="2160000"/>
            </a:xfrm>
            <a:prstGeom prst="roundRect">
              <a:avLst>
                <a:gd name="adj" fmla="val 3782"/>
              </a:avLst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31A4428F-B2E1-7162-C565-6DFF0B666AAF}"/>
              </a:ext>
            </a:extLst>
          </p:cNvPr>
          <p:cNvGrpSpPr/>
          <p:nvPr/>
        </p:nvGrpSpPr>
        <p:grpSpPr>
          <a:xfrm>
            <a:off x="869424" y="3838410"/>
            <a:ext cx="8167153" cy="2160000"/>
            <a:chOff x="875551" y="3677024"/>
            <a:chExt cx="8167153" cy="2160000"/>
          </a:xfrm>
        </p:grpSpPr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6206F410-841C-2246-214E-4719F16E8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75551" y="3677024"/>
              <a:ext cx="3940191" cy="2160000"/>
            </a:xfrm>
            <a:prstGeom prst="roundRect">
              <a:avLst>
                <a:gd name="adj" fmla="val 3782"/>
              </a:avLst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pic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077EC648-5A39-AAED-9054-CAF229940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32643" y="3677024"/>
              <a:ext cx="4010061" cy="2160000"/>
            </a:xfrm>
            <a:prstGeom prst="roundRect">
              <a:avLst>
                <a:gd name="adj" fmla="val 3782"/>
              </a:avLst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372693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4">
            <a:extLst>
              <a:ext uri="{FF2B5EF4-FFF2-40B4-BE49-F238E27FC236}">
                <a16:creationId xmlns:a16="http://schemas.microsoft.com/office/drawing/2014/main" id="{492B66ED-67BB-534F-A052-3B2CE98BE3B5}"/>
              </a:ext>
            </a:extLst>
          </p:cNvPr>
          <p:cNvSpPr/>
          <p:nvPr/>
        </p:nvSpPr>
        <p:spPr>
          <a:xfrm>
            <a:off x="349624" y="1014252"/>
            <a:ext cx="9224682" cy="5299142"/>
          </a:xfrm>
          <a:prstGeom prst="roundRect">
            <a:avLst>
              <a:gd name="adj" fmla="val 1893"/>
            </a:avLst>
          </a:prstGeom>
          <a:solidFill>
            <a:schemeClr val="bg1"/>
          </a:solidFill>
          <a:ln w="15875" cap="flat" cmpd="sng" algn="ctr">
            <a:solidFill>
              <a:srgbClr val="1B5587"/>
            </a:solidFill>
            <a:prstDash val="solid"/>
          </a:ln>
          <a:effectLst>
            <a:outerShdw blurRad="30480" dist="23000" dir="5400000" rotWithShape="0">
              <a:srgbClr val="000000">
                <a:alpha val="15000"/>
              </a:srgbClr>
            </a:outerShdw>
          </a:effectLst>
        </p:spPr>
        <p:txBody>
          <a:bodyPr lIns="108000" tIns="72000" rtlCol="0" anchor="t"/>
          <a:lstStyle/>
          <a:p>
            <a:pPr lvl="0">
              <a:lnSpc>
                <a:spcPct val="150000"/>
              </a:lnSpc>
              <a:defRPr/>
            </a:pPr>
            <a:r>
              <a:rPr lang="en-US" altLang="ko-KR" sz="1200" kern="0" dirty="0">
                <a:solidFill>
                  <a:srgbClr val="3D556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WMS</a:t>
            </a:r>
            <a:r>
              <a:rPr lang="ko-KR" altLang="en-US" sz="1200" kern="0" dirty="0">
                <a:solidFill>
                  <a:srgbClr val="3D556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재고 정보를 가시화 하여 효율적인 관리를 할 수 있으며 피킹 및 재고 조사와 같은 현장 작업 모니터링을 지원 합니다</a:t>
            </a:r>
            <a:r>
              <a:rPr lang="en-US" altLang="ko-KR" sz="1200" kern="0" dirty="0">
                <a:solidFill>
                  <a:srgbClr val="3D556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BC0E12F3-BCA7-0D41-A130-B2492A838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spc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별첨</a:t>
            </a:r>
            <a:r>
              <a:rPr kumimoji="1" lang="en-US" altLang="ko-KR" spc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1" lang="ko-KR" altLang="en-US" spc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pc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Visualizer</a:t>
            </a:r>
            <a:r>
              <a:rPr kumimoji="1" lang="ko-KR" altLang="en-US" spc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적용 사례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516324-89FF-3840-ABF7-75AA0AD2A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D37B-B09C-0043-B39B-22EE4FC680F8}" type="slidenum">
              <a:rPr kumimoji="1" lang="ko-KR" altLang="en-US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</a:t>
            </a:fld>
            <a:endParaRPr kumimoji="1"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37837B-8DBA-2149-B4C2-0C536C6DA54F}"/>
              </a:ext>
            </a:extLst>
          </p:cNvPr>
          <p:cNvSpPr txBox="1"/>
          <p:nvPr/>
        </p:nvSpPr>
        <p:spPr>
          <a:xfrm>
            <a:off x="298782" y="639009"/>
            <a:ext cx="3811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gradFill flip="none" rotWithShape="1">
                  <a:gsLst>
                    <a:gs pos="16000">
                      <a:srgbClr val="3BA08A">
                        <a:alpha val="74902"/>
                      </a:srgbClr>
                    </a:gs>
                    <a:gs pos="100000">
                      <a:schemeClr val="bg1">
                        <a:lumMod val="95000"/>
                        <a:alpha val="0"/>
                      </a:schemeClr>
                    </a:gs>
                    <a:gs pos="63000">
                      <a:srgbClr val="007693"/>
                    </a:gs>
                  </a:gsLst>
                  <a:lin ang="5400000" scaled="1"/>
                  <a:tileRect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3D </a:t>
            </a:r>
            <a:r>
              <a:rPr lang="ko-KR" altLang="en-US" sz="2000" b="1" dirty="0">
                <a:gradFill flip="none" rotWithShape="1">
                  <a:gsLst>
                    <a:gs pos="16000">
                      <a:srgbClr val="3BA08A">
                        <a:alpha val="74902"/>
                      </a:srgbClr>
                    </a:gs>
                    <a:gs pos="100000">
                      <a:schemeClr val="bg1">
                        <a:lumMod val="95000"/>
                        <a:alpha val="0"/>
                      </a:schemeClr>
                    </a:gs>
                    <a:gs pos="63000">
                      <a:srgbClr val="007693"/>
                    </a:gs>
                  </a:gsLst>
                  <a:lin ang="5400000" scaled="1"/>
                  <a:tileRect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재고 모니터링 시스템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B570DF5-F034-1DEF-911A-0B04FE1BE8F7}"/>
              </a:ext>
            </a:extLst>
          </p:cNvPr>
          <p:cNvGrpSpPr/>
          <p:nvPr/>
        </p:nvGrpSpPr>
        <p:grpSpPr>
          <a:xfrm>
            <a:off x="5868542" y="1716709"/>
            <a:ext cx="3149415" cy="4205116"/>
            <a:chOff x="5341240" y="1811165"/>
            <a:chExt cx="3149415" cy="4110442"/>
          </a:xfrm>
        </p:grpSpPr>
        <p:sp>
          <p:nvSpPr>
            <p:cNvPr id="7" name="오각형[P] 191">
              <a:extLst>
                <a:ext uri="{FF2B5EF4-FFF2-40B4-BE49-F238E27FC236}">
                  <a16:creationId xmlns:a16="http://schemas.microsoft.com/office/drawing/2014/main" id="{F18D9503-F30F-23A5-135A-594F7F8C5E84}"/>
                </a:ext>
              </a:extLst>
            </p:cNvPr>
            <p:cNvSpPr/>
            <p:nvPr/>
          </p:nvSpPr>
          <p:spPr>
            <a:xfrm>
              <a:off x="5439408" y="1811165"/>
              <a:ext cx="2173438" cy="2653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mpd="sng">
              <a:noFill/>
            </a:ln>
            <a:effectLst>
              <a:outerShdw blurRad="381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kumimoji="1" lang="ko-KR" altLang="en-US" sz="1200" b="1" dirty="0">
                  <a:solidFill>
                    <a:schemeClr val="tx2">
                      <a:lumMod val="7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로케이션 별 보관 </a:t>
              </a:r>
              <a:r>
                <a:rPr kumimoji="1" lang="en-US" altLang="ko-KR" sz="1200" b="1" dirty="0">
                  <a:solidFill>
                    <a:schemeClr val="tx2">
                      <a:lumMod val="7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Capa. </a:t>
              </a:r>
              <a:r>
                <a:rPr kumimoji="1" lang="ko-KR" altLang="en-US" sz="1200" b="1" dirty="0">
                  <a:solidFill>
                    <a:schemeClr val="tx2">
                      <a:lumMod val="7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조회</a:t>
              </a:r>
            </a:p>
          </p:txBody>
        </p:sp>
        <p:sp>
          <p:nvSpPr>
            <p:cNvPr id="9" name="오각형[P] 191">
              <a:extLst>
                <a:ext uri="{FF2B5EF4-FFF2-40B4-BE49-F238E27FC236}">
                  <a16:creationId xmlns:a16="http://schemas.microsoft.com/office/drawing/2014/main" id="{1B75A3BB-0455-AB3E-37C3-2A9531593CC4}"/>
                </a:ext>
              </a:extLst>
            </p:cNvPr>
            <p:cNvSpPr/>
            <p:nvPr/>
          </p:nvSpPr>
          <p:spPr>
            <a:xfrm>
              <a:off x="5439408" y="2844297"/>
              <a:ext cx="2047737" cy="2653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mpd="sng">
              <a:noFill/>
            </a:ln>
            <a:effectLst>
              <a:outerShdw blurRad="381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kumimoji="1" lang="ko-KR" altLang="en-US" sz="1200" b="1" dirty="0">
                  <a:solidFill>
                    <a:schemeClr val="tx2">
                      <a:lumMod val="7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다중 로케이션 상품 분포</a:t>
              </a:r>
            </a:p>
          </p:txBody>
        </p:sp>
        <p:sp>
          <p:nvSpPr>
            <p:cNvPr id="11" name="오각형[P] 191">
              <a:extLst>
                <a:ext uri="{FF2B5EF4-FFF2-40B4-BE49-F238E27FC236}">
                  <a16:creationId xmlns:a16="http://schemas.microsoft.com/office/drawing/2014/main" id="{E7B1A8B6-FDD8-CFDB-25B2-98D2C040EBFD}"/>
                </a:ext>
              </a:extLst>
            </p:cNvPr>
            <p:cNvSpPr/>
            <p:nvPr/>
          </p:nvSpPr>
          <p:spPr>
            <a:xfrm>
              <a:off x="5439408" y="3954788"/>
              <a:ext cx="2491490" cy="2653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mpd="sng">
              <a:noFill/>
            </a:ln>
            <a:effectLst>
              <a:outerShdw blurRad="381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kumimoji="1" lang="ko-KR" altLang="en-US" sz="1200" b="1" dirty="0">
                  <a:solidFill>
                    <a:schemeClr val="tx2">
                      <a:lumMod val="7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주력 상품 분포 </a:t>
              </a:r>
              <a:r>
                <a:rPr kumimoji="1" lang="en-US" altLang="ko-KR" sz="1200" b="1" dirty="0">
                  <a:solidFill>
                    <a:schemeClr val="tx2">
                      <a:lumMod val="7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(A/B/C </a:t>
              </a:r>
              <a:r>
                <a:rPr kumimoji="1" lang="ko-KR" altLang="en-US" sz="1200" b="1" dirty="0">
                  <a:solidFill>
                    <a:schemeClr val="tx2">
                      <a:lumMod val="7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분석</a:t>
              </a:r>
              <a:r>
                <a:rPr kumimoji="1" lang="en-US" altLang="ko-KR" sz="1200" b="1" dirty="0">
                  <a:solidFill>
                    <a:schemeClr val="tx2">
                      <a:lumMod val="7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kumimoji="1" lang="ko-KR" altLang="en-US" sz="1200" b="1" dirty="0">
                <a:solidFill>
                  <a:schemeClr val="tx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3" name="모서리가 둥근 직사각형 92">
              <a:extLst>
                <a:ext uri="{FF2B5EF4-FFF2-40B4-BE49-F238E27FC236}">
                  <a16:creationId xmlns:a16="http://schemas.microsoft.com/office/drawing/2014/main" id="{D59D7573-4854-F5DC-37EE-862D8A98FDFF}"/>
                </a:ext>
              </a:extLst>
            </p:cNvPr>
            <p:cNvSpPr/>
            <p:nvPr/>
          </p:nvSpPr>
          <p:spPr>
            <a:xfrm>
              <a:off x="5355519" y="2063321"/>
              <a:ext cx="3135136" cy="587856"/>
            </a:xfrm>
            <a:prstGeom prst="roundRect">
              <a:avLst>
                <a:gd name="adj" fmla="val 4491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05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로케이션 별 보관 효율 상태 확인</a:t>
              </a:r>
              <a:endParaRPr lang="en-US" altLang="ko-KR" sz="105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05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재고 이동 및 병합을 통한 로케이션 추가 확보에 활용</a:t>
              </a:r>
              <a:endParaRPr lang="en-US" altLang="ko-KR" sz="105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4" name="모서리가 둥근 직사각형 92">
              <a:extLst>
                <a:ext uri="{FF2B5EF4-FFF2-40B4-BE49-F238E27FC236}">
                  <a16:creationId xmlns:a16="http://schemas.microsoft.com/office/drawing/2014/main" id="{32B9EAC3-5C6E-C6FE-29DD-3F9B0050BB6F}"/>
                </a:ext>
              </a:extLst>
            </p:cNvPr>
            <p:cNvSpPr/>
            <p:nvPr/>
          </p:nvSpPr>
          <p:spPr>
            <a:xfrm>
              <a:off x="5355519" y="3100514"/>
              <a:ext cx="3135136" cy="587856"/>
            </a:xfrm>
            <a:prstGeom prst="roundRect">
              <a:avLst>
                <a:gd name="adj" fmla="val 4491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05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상품 별로 여러 로케이션을 사용하는 위치 조회</a:t>
              </a:r>
              <a:endParaRPr lang="en-US" altLang="ko-KR" sz="105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05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동종 상품 재고 합치는 의사 결정 지원</a:t>
              </a:r>
              <a:endParaRPr lang="en-US" altLang="ko-KR" sz="105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5" name="모서리가 둥근 직사각형 92">
              <a:extLst>
                <a:ext uri="{FF2B5EF4-FFF2-40B4-BE49-F238E27FC236}">
                  <a16:creationId xmlns:a16="http://schemas.microsoft.com/office/drawing/2014/main" id="{72D261B6-F37E-3647-E24E-EF4652B3F098}"/>
                </a:ext>
              </a:extLst>
            </p:cNvPr>
            <p:cNvSpPr/>
            <p:nvPr/>
          </p:nvSpPr>
          <p:spPr>
            <a:xfrm>
              <a:off x="5355519" y="4214610"/>
              <a:ext cx="3135136" cy="587856"/>
            </a:xfrm>
            <a:prstGeom prst="roundRect">
              <a:avLst>
                <a:gd name="adj" fmla="val 4491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05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최근 </a:t>
              </a:r>
              <a:r>
                <a:rPr lang="en-US" altLang="ko-KR" sz="105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05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개월 間 출고일 수 기준 상품 </a:t>
              </a:r>
              <a:r>
                <a:rPr lang="en-US" altLang="ko-KR" sz="105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RANK </a:t>
              </a:r>
              <a:r>
                <a:rPr lang="ko-KR" altLang="en-US" sz="105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분석</a:t>
              </a:r>
              <a:endParaRPr lang="en-US" altLang="ko-KR" sz="105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05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주력 상품의 재고 이동을 통한 피킹 효율 증대</a:t>
              </a:r>
              <a:endParaRPr lang="en-US" altLang="ko-KR" sz="105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6" name="오각형[P] 191">
              <a:extLst>
                <a:ext uri="{FF2B5EF4-FFF2-40B4-BE49-F238E27FC236}">
                  <a16:creationId xmlns:a16="http://schemas.microsoft.com/office/drawing/2014/main" id="{D8DA677A-0C15-E94A-DBAD-5C74B0B5EFEE}"/>
                </a:ext>
              </a:extLst>
            </p:cNvPr>
            <p:cNvSpPr/>
            <p:nvPr/>
          </p:nvSpPr>
          <p:spPr>
            <a:xfrm>
              <a:off x="5439408" y="5065278"/>
              <a:ext cx="2047737" cy="2653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mpd="sng">
              <a:noFill/>
            </a:ln>
            <a:effectLst>
              <a:outerShdw blurRad="38100" dist="254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kumimoji="1" lang="ko-KR" altLang="en-US" sz="1200" b="1" dirty="0">
                  <a:solidFill>
                    <a:schemeClr val="tx2">
                      <a:lumMod val="7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토탈 피킹 실시간 모니터링</a:t>
              </a:r>
            </a:p>
          </p:txBody>
        </p:sp>
        <p:sp>
          <p:nvSpPr>
            <p:cNvPr id="18" name="모서리가 둥근 직사각형 92">
              <a:extLst>
                <a:ext uri="{FF2B5EF4-FFF2-40B4-BE49-F238E27FC236}">
                  <a16:creationId xmlns:a16="http://schemas.microsoft.com/office/drawing/2014/main" id="{9D520555-8C66-97F6-CDA4-47502D76A1CD}"/>
                </a:ext>
              </a:extLst>
            </p:cNvPr>
            <p:cNvSpPr/>
            <p:nvPr/>
          </p:nvSpPr>
          <p:spPr>
            <a:xfrm>
              <a:off x="5341240" y="5333751"/>
              <a:ext cx="3135136" cy="587856"/>
            </a:xfrm>
            <a:prstGeom prst="roundRect">
              <a:avLst>
                <a:gd name="adj" fmla="val 4491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05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토탈 피킹 진행 상태 위치 별 실시간 모니터링</a:t>
              </a:r>
              <a:endParaRPr lang="en-US" altLang="ko-KR" sz="105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171450" indent="-171450">
                <a:lnSpc>
                  <a:spcPct val="150000"/>
                </a:lnSpc>
                <a:buClr>
                  <a:srgbClr val="00B0F0"/>
                </a:buClr>
                <a:buFont typeface="Wingdings" pitchFamily="2" charset="2"/>
                <a:buChar char="ü"/>
              </a:pPr>
              <a:r>
                <a:rPr lang="ko-KR" altLang="en-US" sz="1050" dirty="0">
                  <a:solidFill>
                    <a:srgbClr val="3D5874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구역 별 피킹 인력 배치를 위한 의사 결정 지원</a:t>
              </a:r>
              <a:endParaRPr lang="en-US" altLang="ko-KR" sz="1050" dirty="0">
                <a:solidFill>
                  <a:srgbClr val="3D58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C444339A-F2BD-D8DD-D0BF-9B868FAFAC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500" y="1750974"/>
            <a:ext cx="4350064" cy="2465925"/>
          </a:xfrm>
          <a:prstGeom prst="roundRect">
            <a:avLst>
              <a:gd name="adj" fmla="val 2683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7CBF9B7-9975-E324-0240-D33936F04E99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500" y="4453978"/>
            <a:ext cx="2088000" cy="1291083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B05EE3E0-01F2-7AFB-4B08-A2546C37C0C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2901" y="4453979"/>
            <a:ext cx="2177987" cy="1291082"/>
          </a:xfrm>
          <a:prstGeom prst="roundRect">
            <a:avLst>
              <a:gd name="adj" fmla="val 3782"/>
            </a:avLst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25" name="Rounded Rectangle 57">
            <a:extLst>
              <a:ext uri="{FF2B5EF4-FFF2-40B4-BE49-F238E27FC236}">
                <a16:creationId xmlns:a16="http://schemas.microsoft.com/office/drawing/2014/main" id="{C3187339-03D0-160F-A035-49D45E25F215}"/>
              </a:ext>
            </a:extLst>
          </p:cNvPr>
          <p:cNvSpPr/>
          <p:nvPr/>
        </p:nvSpPr>
        <p:spPr>
          <a:xfrm>
            <a:off x="2814088" y="1583482"/>
            <a:ext cx="1010889" cy="266454"/>
          </a:xfrm>
          <a:prstGeom prst="roundRect">
            <a:avLst>
              <a:gd name="adj" fmla="val 28912"/>
            </a:avLst>
          </a:prstGeom>
          <a:gradFill rotWithShape="1">
            <a:gsLst>
              <a:gs pos="0">
                <a:srgbClr val="322F36"/>
              </a:gs>
              <a:gs pos="100000">
                <a:srgbClr val="625C6B"/>
              </a:gs>
            </a:gsLst>
            <a:lin ang="16200000" scaled="0"/>
          </a:gradFill>
          <a:ln w="9525" cap="flat" cmpd="sng" algn="ctr">
            <a:solidFill>
              <a:srgbClr val="3B374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r>
              <a:rPr lang="en-US" altLang="ko-KR" sz="1050" kern="0" dirty="0">
                <a:solidFill>
                  <a:prstClr val="whit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3D Visibility</a:t>
            </a:r>
          </a:p>
        </p:txBody>
      </p:sp>
    </p:spTree>
    <p:extLst>
      <p:ext uri="{BB962C8B-B14F-4D97-AF65-F5344CB8AC3E}">
        <p14:creationId xmlns:p14="http://schemas.microsoft.com/office/powerpoint/2010/main" val="160737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2C658-4940-C41B-CD63-98A4217D3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8A04F472-D52B-8C72-0036-2FB161567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451" y="1539830"/>
            <a:ext cx="6095146" cy="238706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sz="5200" spc="0" dirty="0">
                <a:solidFill>
                  <a:srgbClr val="3BA0B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OPERATO WMS</a:t>
            </a:r>
            <a:br>
              <a:rPr lang="en-US" altLang="ko-KR" sz="4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5400" spc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kumimoji="1" lang="ko-KR" altLang="en-US" sz="4400" spc="0" dirty="0">
              <a:solidFill>
                <a:srgbClr val="3D5874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DA71BB4-C00D-AB4E-21A2-E5C3A7BF43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569" y="6535239"/>
            <a:ext cx="1192997" cy="14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438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36276</TotalTime>
  <Words>1409</Words>
  <Application>Microsoft Macintosh PowerPoint</Application>
  <PresentationFormat>A4 용지(210x297mm)</PresentationFormat>
  <Paragraphs>350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2" baseType="lpstr">
      <vt:lpstr>NanumGothic</vt:lpstr>
      <vt:lpstr>Malgun Gothic</vt:lpstr>
      <vt:lpstr>Malgun Gothic</vt:lpstr>
      <vt:lpstr>Noto Sans KR Bold</vt:lpstr>
      <vt:lpstr>Noto Sans KR Medium</vt:lpstr>
      <vt:lpstr>Pretendard</vt:lpstr>
      <vt:lpstr>Pretendard Light</vt:lpstr>
      <vt:lpstr>Pretendard SemiBold</vt:lpstr>
      <vt:lpstr>Arial</vt:lpstr>
      <vt:lpstr>Calibri</vt:lpstr>
      <vt:lpstr>Wingdings</vt:lpstr>
      <vt:lpstr>Office 테마</vt:lpstr>
      <vt:lpstr>OPERATO WMS 제품소개</vt:lpstr>
      <vt:lpstr>목차</vt:lpstr>
      <vt:lpstr>Operato WMS 특징</vt:lpstr>
      <vt:lpstr>아키텍쳐</vt:lpstr>
      <vt:lpstr>전체 프로세스</vt:lpstr>
      <vt:lpstr>기능 리스트</vt:lpstr>
      <vt:lpstr>주요 기능</vt:lpstr>
      <vt:lpstr>기준 정보 - 화면</vt:lpstr>
      <vt:lpstr>입고 프로세스</vt:lpstr>
      <vt:lpstr>화면 – 입고 관리 </vt:lpstr>
      <vt:lpstr>재고 프로세스</vt:lpstr>
      <vt:lpstr>화면 – 재고 관리 </vt:lpstr>
      <vt:lpstr>출고 프로세스</vt:lpstr>
      <vt:lpstr>화면 – 출고 관리 </vt:lpstr>
      <vt:lpstr>화면 – 출고 관리 </vt:lpstr>
      <vt:lpstr>PDA 모바일 작업 지원</vt:lpstr>
      <vt:lpstr>대시보드 &amp; 모니터링</vt:lpstr>
      <vt:lpstr>별첨) Visualizer 적용 사례</vt:lpstr>
      <vt:lpstr>별첨) Visualizer 적용 사례</vt:lpstr>
      <vt:lpstr>OPERATO WMS 감사합니다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정 연희</dc:creator>
  <cp:keywords/>
  <dc:description/>
  <cp:lastModifiedBy>남 종호</cp:lastModifiedBy>
  <cp:revision>588</cp:revision>
  <dcterms:created xsi:type="dcterms:W3CDTF">2019-11-24T23:39:55Z</dcterms:created>
  <dcterms:modified xsi:type="dcterms:W3CDTF">2026-05-06T12:56:44Z</dcterms:modified>
  <cp:category/>
</cp:coreProperties>
</file>